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2"/>
  </p:handoutMasterIdLst>
  <p:sldIdLst>
    <p:sldId id="258" r:id="rId2"/>
    <p:sldId id="262" r:id="rId3"/>
    <p:sldId id="257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9144000" cy="6858000" type="screen4x3"/>
  <p:notesSz cx="6808788" cy="99409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>
          <p15:clr>
            <a:srgbClr val="A4A3A4"/>
          </p15:clr>
        </p15:guide>
        <p15:guide id="2" pos="2145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lément OURY" initials="CO" lastIdx="6" clrIdx="0"/>
  <p:cmAuthor id="1" name="Thomas Francart" initials="TF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3F3"/>
    <a:srgbClr val="F5E4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797" autoAdjust="0"/>
  </p:normalViewPr>
  <p:slideViewPr>
    <p:cSldViewPr>
      <p:cViewPr varScale="1">
        <p:scale>
          <a:sx n="97" d="100"/>
          <a:sy n="97" d="100"/>
        </p:scale>
        <p:origin x="200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9" d="100"/>
          <a:sy n="89" d="100"/>
        </p:scale>
        <p:origin x="-3948" y="-96"/>
      </p:cViewPr>
      <p:guideLst>
        <p:guide orient="horz" pos="3131"/>
        <p:guide pos="214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475" cy="49704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56737" y="0"/>
            <a:ext cx="2950475" cy="49704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C892C3-0837-4ECE-B988-A832ECA0D1A0}" type="datetimeFigureOut">
              <a:rPr lang="en-US" smtClean="0"/>
              <a:pPr/>
              <a:t>7/24/2020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42154"/>
            <a:ext cx="2950475" cy="49704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56737" y="9442154"/>
            <a:ext cx="2950475" cy="49704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07E244-4582-4A0C-956C-A2936EF8178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755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3AF41-5C0E-491A-8781-6BCB049997C4}" type="datetimeFigureOut">
              <a:rPr lang="en-US" smtClean="0"/>
              <a:pPr/>
              <a:t>7/24/2020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540F-3811-41F2-B20A-B31F7865B183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3AF41-5C0E-491A-8781-6BCB049997C4}" type="datetimeFigureOut">
              <a:rPr lang="en-US" smtClean="0"/>
              <a:pPr/>
              <a:t>7/24/2020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540F-3811-41F2-B20A-B31F7865B183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3AF41-5C0E-491A-8781-6BCB049997C4}" type="datetimeFigureOut">
              <a:rPr lang="en-US" smtClean="0"/>
              <a:pPr/>
              <a:t>7/24/2020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540F-3811-41F2-B20A-B31F7865B183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3AF41-5C0E-491A-8781-6BCB049997C4}" type="datetimeFigureOut">
              <a:rPr lang="en-US" smtClean="0"/>
              <a:pPr/>
              <a:t>7/24/2020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540F-3811-41F2-B20A-B31F7865B183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3AF41-5C0E-491A-8781-6BCB049997C4}" type="datetimeFigureOut">
              <a:rPr lang="en-US" smtClean="0"/>
              <a:pPr/>
              <a:t>7/24/2020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540F-3811-41F2-B20A-B31F7865B183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3AF41-5C0E-491A-8781-6BCB049997C4}" type="datetimeFigureOut">
              <a:rPr lang="en-US" smtClean="0"/>
              <a:pPr/>
              <a:t>7/24/2020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540F-3811-41F2-B20A-B31F7865B183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3AF41-5C0E-491A-8781-6BCB049997C4}" type="datetimeFigureOut">
              <a:rPr lang="en-US" smtClean="0"/>
              <a:pPr/>
              <a:t>7/24/2020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540F-3811-41F2-B20A-B31F7865B183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3AF41-5C0E-491A-8781-6BCB049997C4}" type="datetimeFigureOut">
              <a:rPr lang="en-US" smtClean="0"/>
              <a:pPr/>
              <a:t>7/24/2020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540F-3811-41F2-B20A-B31F7865B183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3AF41-5C0E-491A-8781-6BCB049997C4}" type="datetimeFigureOut">
              <a:rPr lang="en-US" smtClean="0"/>
              <a:pPr/>
              <a:t>7/24/2020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540F-3811-41F2-B20A-B31F7865B183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3AF41-5C0E-491A-8781-6BCB049997C4}" type="datetimeFigureOut">
              <a:rPr lang="en-US" smtClean="0"/>
              <a:pPr/>
              <a:t>7/24/2020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540F-3811-41F2-B20A-B31F7865B183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3AF41-5C0E-491A-8781-6BCB049997C4}" type="datetimeFigureOut">
              <a:rPr lang="en-US" smtClean="0"/>
              <a:pPr/>
              <a:t>7/24/2020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2540F-3811-41F2-B20A-B31F7865B183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A3AF41-5C0E-491A-8781-6BCB049997C4}" type="datetimeFigureOut">
              <a:rPr lang="en-US" smtClean="0"/>
              <a:pPr/>
              <a:t>7/24/2020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62540F-3811-41F2-B20A-B31F7865B183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ISSN Model </a:t>
            </a:r>
            <a:r>
              <a:rPr lang="en-US"/>
              <a:t>diagrams V1_2</a:t>
            </a:r>
            <a:endParaRPr lang="en-US" dirty="0"/>
          </a:p>
        </p:txBody>
      </p:sp>
      <p:sp>
        <p:nvSpPr>
          <p:cNvPr id="6" name="ZoneTexte 5"/>
          <p:cNvSpPr txBox="1"/>
          <p:nvPr/>
        </p:nvSpPr>
        <p:spPr>
          <a:xfrm>
            <a:off x="3571868" y="1357298"/>
            <a:ext cx="4572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Century Gothic" pitchFamily="34" charset="0"/>
              </a:rPr>
              <a:t>A </a:t>
            </a:r>
            <a:r>
              <a:rPr lang="fr-FR" sz="1400" dirty="0" err="1">
                <a:latin typeface="Century Gothic" pitchFamily="34" charset="0"/>
              </a:rPr>
              <a:t>node</a:t>
            </a:r>
            <a:r>
              <a:rPr lang="fr-FR" sz="1400" dirty="0">
                <a:latin typeface="Century Gothic" pitchFamily="34" charset="0"/>
              </a:rPr>
              <a:t> in the data graph, </a:t>
            </a:r>
            <a:r>
              <a:rPr lang="fr-FR" sz="1400" dirty="0" err="1">
                <a:latin typeface="Century Gothic" pitchFamily="34" charset="0"/>
              </a:rPr>
              <a:t>with</a:t>
            </a:r>
            <a:r>
              <a:rPr lang="fr-FR" sz="1400" dirty="0">
                <a:latin typeface="Century Gothic" pitchFamily="34" charset="0"/>
              </a:rPr>
              <a:t> </a:t>
            </a:r>
            <a:r>
              <a:rPr lang="fr-FR" sz="1400" dirty="0" err="1">
                <a:latin typeface="Century Gothic" pitchFamily="34" charset="0"/>
              </a:rPr>
              <a:t>its</a:t>
            </a:r>
            <a:r>
              <a:rPr lang="fr-FR" sz="1400" dirty="0">
                <a:latin typeface="Century Gothic" pitchFamily="34" charset="0"/>
              </a:rPr>
              <a:t> class (</a:t>
            </a:r>
            <a:r>
              <a:rPr lang="fr-FR" sz="1400" dirty="0" err="1">
                <a:latin typeface="Century Gothic" pitchFamily="34" charset="0"/>
              </a:rPr>
              <a:t>possibly</a:t>
            </a:r>
            <a:r>
              <a:rPr lang="fr-FR" sz="1400" dirty="0">
                <a:latin typeface="Century Gothic" pitchFamily="34" charset="0"/>
              </a:rPr>
              <a:t> multiple classes, </a:t>
            </a:r>
            <a:r>
              <a:rPr lang="fr-FR" sz="1400" dirty="0" err="1">
                <a:latin typeface="Century Gothic" pitchFamily="34" charset="0"/>
              </a:rPr>
              <a:t>separated</a:t>
            </a:r>
            <a:r>
              <a:rPr lang="fr-FR" sz="1400" dirty="0">
                <a:latin typeface="Century Gothic" pitchFamily="34" charset="0"/>
              </a:rPr>
              <a:t> by commas)</a:t>
            </a:r>
            <a:endParaRPr lang="en-US" sz="1400" dirty="0">
              <a:latin typeface="Century Gothic" pitchFamily="34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3571868" y="4967034"/>
            <a:ext cx="4500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Century Gothic" pitchFamily="34" charset="0"/>
              </a:rPr>
              <a:t>Object </a:t>
            </a:r>
            <a:r>
              <a:rPr lang="fr-FR" sz="1400" dirty="0" err="1">
                <a:latin typeface="Century Gothic" pitchFamily="34" charset="0"/>
              </a:rPr>
              <a:t>property</a:t>
            </a:r>
            <a:r>
              <a:rPr lang="fr-FR" sz="1400" dirty="0">
                <a:latin typeface="Century Gothic" pitchFamily="34" charset="0"/>
              </a:rPr>
              <a:t> (</a:t>
            </a:r>
            <a:r>
              <a:rPr lang="fr-FR" sz="1400" dirty="0" err="1">
                <a:latin typeface="Century Gothic" pitchFamily="34" charset="0"/>
              </a:rPr>
              <a:t>linking</a:t>
            </a:r>
            <a:r>
              <a:rPr lang="fr-FR" sz="1400" dirty="0">
                <a:latin typeface="Century Gothic" pitchFamily="34" charset="0"/>
              </a:rPr>
              <a:t> 2 </a:t>
            </a:r>
            <a:r>
              <a:rPr lang="fr-FR" sz="1400" dirty="0" err="1">
                <a:latin typeface="Century Gothic" pitchFamily="34" charset="0"/>
              </a:rPr>
              <a:t>resources</a:t>
            </a:r>
            <a:r>
              <a:rPr lang="fr-FR" sz="1400" dirty="0">
                <a:latin typeface="Century Gothic" pitchFamily="34" charset="0"/>
              </a:rPr>
              <a:t> in the graph)</a:t>
            </a:r>
            <a:endParaRPr lang="en-US" sz="1400" dirty="0">
              <a:latin typeface="Century Gothic" pitchFamily="34" charset="0"/>
            </a:endParaRPr>
          </a:p>
        </p:txBody>
      </p:sp>
      <p:sp>
        <p:nvSpPr>
          <p:cNvPr id="14" name="Rectangle à coins arrondis 13"/>
          <p:cNvSpPr/>
          <p:nvPr/>
        </p:nvSpPr>
        <p:spPr>
          <a:xfrm>
            <a:off x="1071538" y="1428736"/>
            <a:ext cx="2071702" cy="428628"/>
          </a:xfrm>
          <a:prstGeom prst="roundRect">
            <a:avLst>
              <a:gd name="adj" fmla="val 15282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URI pattern : </a:t>
            </a:r>
            <a:r>
              <a:rPr lang="fr-FR" sz="1050" dirty="0">
                <a:solidFill>
                  <a:prstClr val="black"/>
                </a:solidFill>
                <a:latin typeface="Century Gothic" pitchFamily="34" charset="0"/>
              </a:rPr>
              <a:t>class URI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0100" y="3283300"/>
            <a:ext cx="263245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050" dirty="0">
                <a:latin typeface="Century Gothic" pitchFamily="34" charset="0"/>
              </a:rPr>
              <a:t>http://issn.org/resource/ISSN/</a:t>
            </a:r>
            <a:r>
              <a:rPr lang="fr-FR" sz="1200" b="1" dirty="0">
                <a:latin typeface="Century Gothic" pitchFamily="34" charset="0"/>
              </a:rPr>
              <a:t>{ISSN}</a:t>
            </a:r>
            <a:r>
              <a:rPr lang="fr-FR" sz="1200" dirty="0">
                <a:latin typeface="Century Gothic" pitchFamily="34" charset="0"/>
              </a:rPr>
              <a:t> </a:t>
            </a:r>
            <a:endParaRPr lang="en-US" sz="1200" dirty="0"/>
          </a:p>
        </p:txBody>
      </p:sp>
      <p:sp>
        <p:nvSpPr>
          <p:cNvPr id="19" name="ZoneTexte 18"/>
          <p:cNvSpPr txBox="1"/>
          <p:nvPr/>
        </p:nvSpPr>
        <p:spPr>
          <a:xfrm>
            <a:off x="3571868" y="3037079"/>
            <a:ext cx="43577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Century Gothic" pitchFamily="34" charset="0"/>
              </a:rPr>
              <a:t>Variable sections in URI patterns are </a:t>
            </a:r>
            <a:r>
              <a:rPr lang="fr-FR" sz="1400" dirty="0" err="1">
                <a:latin typeface="Century Gothic" pitchFamily="34" charset="0"/>
              </a:rPr>
              <a:t>indicated</a:t>
            </a:r>
            <a:r>
              <a:rPr lang="fr-FR" sz="1400" dirty="0">
                <a:latin typeface="Century Gothic" pitchFamily="34" charset="0"/>
              </a:rPr>
              <a:t> </a:t>
            </a:r>
            <a:r>
              <a:rPr lang="fr-FR" sz="1400" dirty="0" err="1">
                <a:latin typeface="Century Gothic" pitchFamily="34" charset="0"/>
              </a:rPr>
              <a:t>between</a:t>
            </a:r>
            <a:r>
              <a:rPr lang="fr-FR" sz="1400" dirty="0">
                <a:latin typeface="Century Gothic" pitchFamily="34" charset="0"/>
              </a:rPr>
              <a:t> </a:t>
            </a:r>
            <a:r>
              <a:rPr lang="fr-FR" sz="1400" dirty="0" err="1">
                <a:latin typeface="Century Gothic" pitchFamily="34" charset="0"/>
              </a:rPr>
              <a:t>curly</a:t>
            </a:r>
            <a:r>
              <a:rPr lang="fr-FR" sz="1400" dirty="0">
                <a:latin typeface="Century Gothic" pitchFamily="34" charset="0"/>
              </a:rPr>
              <a:t> </a:t>
            </a:r>
            <a:r>
              <a:rPr lang="fr-FR" sz="1400" dirty="0" err="1">
                <a:latin typeface="Century Gothic" pitchFamily="34" charset="0"/>
              </a:rPr>
              <a:t>braces</a:t>
            </a:r>
            <a:r>
              <a:rPr lang="fr-FR" sz="1400" dirty="0">
                <a:latin typeface="Century Gothic" pitchFamily="34" charset="0"/>
              </a:rPr>
              <a:t> {…} and </a:t>
            </a:r>
            <a:r>
              <a:rPr lang="fr-FR" sz="1400" dirty="0" err="1">
                <a:latin typeface="Century Gothic" pitchFamily="34" charset="0"/>
              </a:rPr>
              <a:t>replaced</a:t>
            </a:r>
            <a:r>
              <a:rPr lang="fr-FR" sz="1400" dirty="0">
                <a:latin typeface="Century Gothic" pitchFamily="34" charset="0"/>
              </a:rPr>
              <a:t> </a:t>
            </a:r>
            <a:r>
              <a:rPr lang="fr-FR" sz="1400" dirty="0" err="1">
                <a:latin typeface="Century Gothic" pitchFamily="34" charset="0"/>
              </a:rPr>
              <a:t>with</a:t>
            </a:r>
            <a:r>
              <a:rPr lang="fr-FR" sz="1400" dirty="0">
                <a:latin typeface="Century Gothic" pitchFamily="34" charset="0"/>
              </a:rPr>
              <a:t> the </a:t>
            </a:r>
            <a:r>
              <a:rPr lang="fr-FR" sz="1400" dirty="0" err="1">
                <a:latin typeface="Century Gothic" pitchFamily="34" charset="0"/>
              </a:rPr>
              <a:t>corresponding</a:t>
            </a:r>
            <a:r>
              <a:rPr lang="fr-FR" sz="1400" dirty="0">
                <a:latin typeface="Century Gothic" pitchFamily="34" charset="0"/>
              </a:rPr>
              <a:t> value</a:t>
            </a:r>
            <a:endParaRPr lang="en-US" sz="1400" dirty="0">
              <a:latin typeface="Century Gothic" pitchFamily="34" charset="0"/>
            </a:endParaRPr>
          </a:p>
        </p:txBody>
      </p:sp>
      <p:cxnSp>
        <p:nvCxnSpPr>
          <p:cNvPr id="21" name="Forme 69"/>
          <p:cNvCxnSpPr/>
          <p:nvPr/>
        </p:nvCxnSpPr>
        <p:spPr>
          <a:xfrm flipV="1">
            <a:off x="1285852" y="5203373"/>
            <a:ext cx="1857388" cy="28575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/>
          <p:cNvSpPr txBox="1"/>
          <p:nvPr/>
        </p:nvSpPr>
        <p:spPr>
          <a:xfrm>
            <a:off x="1428728" y="4846183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bf:identifiedBy</a:t>
            </a:r>
            <a:endParaRPr lang="en-US" sz="1100" dirty="0">
              <a:latin typeface="Century Gothic" pitchFamily="34" charset="0"/>
            </a:endParaRPr>
          </a:p>
        </p:txBody>
      </p:sp>
      <p:cxnSp>
        <p:nvCxnSpPr>
          <p:cNvPr id="25" name="Forme 69"/>
          <p:cNvCxnSpPr>
            <a:endCxn id="27" idx="1"/>
          </p:cNvCxnSpPr>
          <p:nvPr/>
        </p:nvCxnSpPr>
        <p:spPr>
          <a:xfrm flipV="1">
            <a:off x="1500166" y="6179363"/>
            <a:ext cx="1000100" cy="250033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Texte 25"/>
          <p:cNvSpPr txBox="1"/>
          <p:nvPr/>
        </p:nvSpPr>
        <p:spPr>
          <a:xfrm>
            <a:off x="1428728" y="5846315"/>
            <a:ext cx="150016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 err="1">
                <a:latin typeface="Century Gothic" pitchFamily="34" charset="0"/>
              </a:rPr>
              <a:t>schema:startDate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27" name="Rectangle à coins arrondis 26"/>
          <p:cNvSpPr/>
          <p:nvPr/>
        </p:nvSpPr>
        <p:spPr>
          <a:xfrm>
            <a:off x="2500266" y="6107925"/>
            <a:ext cx="500066" cy="142876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200" b="1" dirty="0">
                <a:solidFill>
                  <a:prstClr val="black"/>
                </a:solidFill>
                <a:latin typeface="Century Gothic" pitchFamily="34" charset="0"/>
              </a:rPr>
              <a:t>"…"</a:t>
            </a:r>
          </a:p>
        </p:txBody>
      </p:sp>
      <p:sp>
        <p:nvSpPr>
          <p:cNvPr id="28" name="ZoneTexte 27"/>
          <p:cNvSpPr txBox="1"/>
          <p:nvPr/>
        </p:nvSpPr>
        <p:spPr>
          <a:xfrm>
            <a:off x="3571868" y="6000768"/>
            <a:ext cx="32861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Century Gothic" pitchFamily="34" charset="0"/>
              </a:rPr>
              <a:t>Data </a:t>
            </a:r>
            <a:r>
              <a:rPr lang="fr-FR" sz="1400" dirty="0" err="1">
                <a:latin typeface="Century Gothic" pitchFamily="34" charset="0"/>
              </a:rPr>
              <a:t>property</a:t>
            </a:r>
            <a:r>
              <a:rPr lang="fr-FR" sz="1400" dirty="0">
                <a:latin typeface="Century Gothic" pitchFamily="34" charset="0"/>
              </a:rPr>
              <a:t> (</a:t>
            </a:r>
            <a:r>
              <a:rPr lang="fr-FR" sz="1400" dirty="0" err="1">
                <a:latin typeface="Century Gothic" pitchFamily="34" charset="0"/>
              </a:rPr>
              <a:t>with</a:t>
            </a:r>
            <a:r>
              <a:rPr lang="fr-FR" sz="1400" dirty="0">
                <a:latin typeface="Century Gothic" pitchFamily="34" charset="0"/>
              </a:rPr>
              <a:t> a </a:t>
            </a:r>
            <a:r>
              <a:rPr lang="fr-FR" sz="1400" dirty="0" err="1">
                <a:latin typeface="Century Gothic" pitchFamily="34" charset="0"/>
              </a:rPr>
              <a:t>literal</a:t>
            </a:r>
            <a:r>
              <a:rPr lang="fr-FR" sz="1400" dirty="0">
                <a:latin typeface="Century Gothic" pitchFamily="34" charset="0"/>
              </a:rPr>
              <a:t> value)</a:t>
            </a:r>
            <a:endParaRPr lang="en-US" sz="1400" dirty="0">
              <a:latin typeface="Century Gothic" pitchFamily="34" charset="0"/>
            </a:endParaRPr>
          </a:p>
        </p:txBody>
      </p:sp>
      <p:sp>
        <p:nvSpPr>
          <p:cNvPr id="15" name="Rectangle à coins arrondis 14"/>
          <p:cNvSpPr/>
          <p:nvPr/>
        </p:nvSpPr>
        <p:spPr>
          <a:xfrm>
            <a:off x="1000100" y="3988927"/>
            <a:ext cx="2143140" cy="571504"/>
          </a:xfrm>
          <a:prstGeom prst="roundRect">
            <a:avLst>
              <a:gd name="adj" fmla="val 25258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#</a:t>
            </a:r>
            <a:r>
              <a:rPr lang="fr-FR" sz="1200" b="1" dirty="0" err="1">
                <a:solidFill>
                  <a:schemeClr val="tx1"/>
                </a:solidFill>
                <a:latin typeface="Century Gothic" pitchFamily="34" charset="0"/>
              </a:rPr>
              <a:t>RecordCreation</a:t>
            </a:r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prov:Activity</a:t>
            </a:r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3571868" y="4037211"/>
            <a:ext cx="4357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Century Gothic" pitchFamily="34" charset="0"/>
              </a:rPr>
              <a:t>Relative </a:t>
            </a:r>
            <a:r>
              <a:rPr lang="fr-FR" sz="1400" dirty="0" err="1">
                <a:latin typeface="Century Gothic" pitchFamily="34" charset="0"/>
              </a:rPr>
              <a:t>URIs</a:t>
            </a:r>
            <a:r>
              <a:rPr lang="fr-FR" sz="1400" dirty="0">
                <a:latin typeface="Century Gothic" pitchFamily="34" charset="0"/>
              </a:rPr>
              <a:t> are </a:t>
            </a:r>
            <a:r>
              <a:rPr lang="fr-FR" sz="1400" dirty="0" err="1">
                <a:latin typeface="Century Gothic" pitchFamily="34" charset="0"/>
              </a:rPr>
              <a:t>always</a:t>
            </a:r>
            <a:r>
              <a:rPr lang="fr-FR" sz="1400" dirty="0">
                <a:latin typeface="Century Gothic" pitchFamily="34" charset="0"/>
              </a:rPr>
              <a:t> relative to the ISSN </a:t>
            </a:r>
            <a:r>
              <a:rPr lang="fr-FR" sz="1400" dirty="0" err="1">
                <a:latin typeface="Century Gothic" pitchFamily="34" charset="0"/>
              </a:rPr>
              <a:t>resource</a:t>
            </a:r>
            <a:r>
              <a:rPr lang="fr-FR" sz="1400" dirty="0">
                <a:latin typeface="Century Gothic" pitchFamily="34" charset="0"/>
              </a:rPr>
              <a:t> URI </a:t>
            </a:r>
            <a:r>
              <a:rPr lang="fr-FR" sz="1400" i="1" dirty="0"/>
              <a:t>http://issn.org/resource/ISSN/{ISSN}</a:t>
            </a:r>
            <a:endParaRPr lang="en-US" sz="1400" dirty="0">
              <a:latin typeface="Century Gothic" pitchFamily="34" charset="0"/>
            </a:endParaRPr>
          </a:p>
        </p:txBody>
      </p:sp>
      <p:sp>
        <p:nvSpPr>
          <p:cNvPr id="23" name="Rectangle à coins arrondis 22"/>
          <p:cNvSpPr/>
          <p:nvPr/>
        </p:nvSpPr>
        <p:spPr>
          <a:xfrm>
            <a:off x="785786" y="2143116"/>
            <a:ext cx="2643206" cy="714380"/>
          </a:xfrm>
          <a:prstGeom prst="roundRect">
            <a:avLst>
              <a:gd name="adj" fmla="val 26908"/>
            </a:avLst>
          </a:prstGeom>
          <a:solidFill>
            <a:srgbClr val="F5E4E3"/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000" b="1" dirty="0">
                <a:solidFill>
                  <a:schemeClr val="tx1"/>
                </a:solidFill>
                <a:latin typeface="Century Gothic" pitchFamily="34" charset="0"/>
              </a:rPr>
              <a:t>http://issn.org/resource/ISSN/</a:t>
            </a:r>
            <a:r>
              <a:rPr lang="fr-FR" sz="1100" b="1" dirty="0">
                <a:solidFill>
                  <a:schemeClr val="tx1"/>
                </a:solidFill>
                <a:latin typeface="Century Gothic" pitchFamily="34" charset="0"/>
              </a:rPr>
              <a:t>{ISSN} : </a:t>
            </a:r>
            <a:r>
              <a:rPr lang="fr-FR" sz="1000" dirty="0" err="1">
                <a:solidFill>
                  <a:prstClr val="black"/>
                </a:solidFill>
                <a:latin typeface="Century Gothic" pitchFamily="34" charset="0"/>
              </a:rPr>
              <a:t>bf:Work</a:t>
            </a:r>
            <a:r>
              <a:rPr lang="fr-FR" sz="1000" dirty="0">
                <a:solidFill>
                  <a:prstClr val="black"/>
                </a:solidFill>
                <a:latin typeface="Century Gothic" pitchFamily="34" charset="0"/>
              </a:rPr>
              <a:t>, </a:t>
            </a:r>
            <a:r>
              <a:rPr lang="fr-FR" sz="1000" dirty="0" err="1">
                <a:solidFill>
                  <a:prstClr val="black"/>
                </a:solidFill>
                <a:latin typeface="Century Gothic" pitchFamily="34" charset="0"/>
              </a:rPr>
              <a:t>bf:Instance</a:t>
            </a:r>
            <a:r>
              <a:rPr lang="fr-FR" sz="1000" dirty="0">
                <a:solidFill>
                  <a:prstClr val="black"/>
                </a:solidFill>
                <a:latin typeface="Century Gothic" pitchFamily="34" charset="0"/>
              </a:rPr>
              <a:t>,  </a:t>
            </a:r>
            <a:r>
              <a:rPr lang="fr-FR" sz="1000" dirty="0" err="1">
                <a:solidFill>
                  <a:prstClr val="black"/>
                </a:solidFill>
                <a:latin typeface="Century Gothic" pitchFamily="34" charset="0"/>
              </a:rPr>
              <a:t>schema:Periodical</a:t>
            </a:r>
            <a:endParaRPr lang="en-US" sz="11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sp>
        <p:nvSpPr>
          <p:cNvPr id="24" name="ZoneTexte 23"/>
          <p:cNvSpPr txBox="1"/>
          <p:nvPr/>
        </p:nvSpPr>
        <p:spPr>
          <a:xfrm>
            <a:off x="3571868" y="2214554"/>
            <a:ext cx="4572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Century Gothic" pitchFamily="34" charset="0"/>
              </a:rPr>
              <a:t>The ISSN </a:t>
            </a:r>
            <a:r>
              <a:rPr lang="fr-FR" sz="1400" dirty="0" err="1">
                <a:latin typeface="Century Gothic" pitchFamily="34" charset="0"/>
              </a:rPr>
              <a:t>resource</a:t>
            </a:r>
            <a:r>
              <a:rPr lang="fr-FR" sz="1400" dirty="0">
                <a:latin typeface="Century Gothic" pitchFamily="34" charset="0"/>
              </a:rPr>
              <a:t> has a </a:t>
            </a:r>
            <a:r>
              <a:rPr lang="fr-FR" sz="1400" dirty="0" err="1">
                <a:latin typeface="Century Gothic" pitchFamily="34" charset="0"/>
              </a:rPr>
              <a:t>red</a:t>
            </a:r>
            <a:r>
              <a:rPr lang="fr-FR" sz="1400" dirty="0">
                <a:latin typeface="Century Gothic" pitchFamily="34" charset="0"/>
              </a:rPr>
              <a:t> </a:t>
            </a:r>
            <a:r>
              <a:rPr lang="fr-FR" sz="1400" dirty="0" err="1">
                <a:latin typeface="Century Gothic" pitchFamily="34" charset="0"/>
              </a:rPr>
              <a:t>color</a:t>
            </a:r>
            <a:r>
              <a:rPr lang="fr-FR" sz="1400" dirty="0">
                <a:latin typeface="Century Gothic" pitchFamily="34" charset="0"/>
              </a:rPr>
              <a:t> for quick </a:t>
            </a:r>
            <a:r>
              <a:rPr lang="fr-FR" sz="1400" dirty="0" err="1">
                <a:latin typeface="Century Gothic" pitchFamily="34" charset="0"/>
              </a:rPr>
              <a:t>reference</a:t>
            </a:r>
            <a:r>
              <a:rPr lang="fr-FR" sz="1400" dirty="0">
                <a:latin typeface="Century Gothic" pitchFamily="34" charset="0"/>
              </a:rPr>
              <a:t>.</a:t>
            </a:r>
            <a:endParaRPr lang="en-US" sz="1400" dirty="0">
              <a:latin typeface="Century Gothic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à coins arrondis 9"/>
          <p:cNvSpPr/>
          <p:nvPr/>
        </p:nvSpPr>
        <p:spPr>
          <a:xfrm>
            <a:off x="6072198" y="1928802"/>
            <a:ext cx="2786082" cy="785818"/>
          </a:xfrm>
          <a:prstGeom prst="roundRect">
            <a:avLst>
              <a:gd name="adj" fmla="val 26908"/>
            </a:avLst>
          </a:prstGeom>
          <a:solidFill>
            <a:srgbClr val="F5E4E3"/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050" b="1" dirty="0">
                <a:solidFill>
                  <a:schemeClr val="tx1"/>
                </a:solidFill>
                <a:latin typeface="Century Gothic" pitchFamily="34" charset="0"/>
              </a:rPr>
              <a:t>http://issn.org/resource/ISSN/</a:t>
            </a:r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{ISSN}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bf:Work</a:t>
            </a:r>
            <a:r>
              <a:rPr lang="fr-FR" sz="1050" dirty="0">
                <a:solidFill>
                  <a:prstClr val="black"/>
                </a:solidFill>
                <a:latin typeface="Century Gothic" pitchFamily="34" charset="0"/>
              </a:rPr>
              <a:t>,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bf:Instance</a:t>
            </a:r>
            <a:r>
              <a:rPr lang="fr-FR" sz="1050" dirty="0">
                <a:solidFill>
                  <a:prstClr val="black"/>
                </a:solidFill>
                <a:latin typeface="Century Gothic" pitchFamily="34" charset="0"/>
              </a:rPr>
              <a:t>, 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schema:Periodical</a:t>
            </a:r>
            <a:endParaRPr lang="en-US" sz="12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sp>
        <p:nvSpPr>
          <p:cNvPr id="14" name="Rectangle à coins arrondis 13"/>
          <p:cNvSpPr/>
          <p:nvPr/>
        </p:nvSpPr>
        <p:spPr>
          <a:xfrm>
            <a:off x="6143636" y="4714884"/>
            <a:ext cx="2643206" cy="571504"/>
          </a:xfrm>
          <a:prstGeom prst="roundRect">
            <a:avLst>
              <a:gd name="adj" fmla="val 23608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#Record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schema:CreativeWork</a:t>
            </a:r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sp>
        <p:nvSpPr>
          <p:cNvPr id="15" name="Rectangle à coins arrondis 14"/>
          <p:cNvSpPr/>
          <p:nvPr/>
        </p:nvSpPr>
        <p:spPr>
          <a:xfrm>
            <a:off x="1928794" y="428604"/>
            <a:ext cx="2571768" cy="357190"/>
          </a:xfrm>
          <a:prstGeom prst="roundRect">
            <a:avLst>
              <a:gd name="adj" fmla="val 32405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#ISSN-L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bf:IssnL</a:t>
            </a:r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cxnSp>
        <p:nvCxnSpPr>
          <p:cNvPr id="16" name="Forme 69"/>
          <p:cNvCxnSpPr>
            <a:stCxn id="67" idx="0"/>
            <a:endCxn id="125" idx="2"/>
          </p:cNvCxnSpPr>
          <p:nvPr/>
        </p:nvCxnSpPr>
        <p:spPr>
          <a:xfrm rot="5400000" flipH="1" flipV="1">
            <a:off x="7429520" y="3714752"/>
            <a:ext cx="2000264" cy="1588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/>
          <p:cNvSpPr txBox="1"/>
          <p:nvPr/>
        </p:nvSpPr>
        <p:spPr>
          <a:xfrm>
            <a:off x="6929486" y="4286256"/>
            <a:ext cx="150016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schema:mainEntity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27" name="Rectangle à coins arrondis 26"/>
          <p:cNvSpPr/>
          <p:nvPr/>
        </p:nvSpPr>
        <p:spPr>
          <a:xfrm>
            <a:off x="1928794" y="1500174"/>
            <a:ext cx="2571768" cy="357190"/>
          </a:xfrm>
          <a:prstGeom prst="roundRect">
            <a:avLst>
              <a:gd name="adj" fmla="val 32405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#ISSN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bf:Issn</a:t>
            </a:r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sp>
        <p:nvSpPr>
          <p:cNvPr id="28" name="Rectangle à coins arrondis 27"/>
          <p:cNvSpPr/>
          <p:nvPr/>
        </p:nvSpPr>
        <p:spPr>
          <a:xfrm>
            <a:off x="1928794" y="2857497"/>
            <a:ext cx="2571768" cy="357190"/>
          </a:xfrm>
          <a:prstGeom prst="roundRect">
            <a:avLst>
              <a:gd name="adj" fmla="val 24962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#</a:t>
            </a:r>
            <a:r>
              <a:rPr lang="fr-FR" sz="1200" b="1" dirty="0" err="1">
                <a:solidFill>
                  <a:schemeClr val="tx1"/>
                </a:solidFill>
                <a:latin typeface="Century Gothic" pitchFamily="34" charset="0"/>
              </a:rPr>
              <a:t>KeyTitle</a:t>
            </a:r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bf:Identifier</a:t>
            </a:r>
            <a:r>
              <a:rPr lang="fr-FR" sz="1050" dirty="0">
                <a:solidFill>
                  <a:prstClr val="black"/>
                </a:solidFill>
                <a:latin typeface="Century Gothic" pitchFamily="34" charset="0"/>
              </a:rPr>
              <a:t>,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bf:KeyTitle</a:t>
            </a:r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  <a:p>
            <a:pPr lvl="0" algn="ctr">
              <a:spcBef>
                <a:spcPts val="600"/>
              </a:spcBef>
            </a:pPr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sp>
        <p:nvSpPr>
          <p:cNvPr id="29" name="Rectangle à coins arrondis 28"/>
          <p:cNvSpPr/>
          <p:nvPr/>
        </p:nvSpPr>
        <p:spPr>
          <a:xfrm>
            <a:off x="1928794" y="3643315"/>
            <a:ext cx="2571768" cy="500066"/>
          </a:xfrm>
          <a:prstGeom prst="roundRect">
            <a:avLst>
              <a:gd name="adj" fmla="val 27379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100" b="1" dirty="0">
                <a:solidFill>
                  <a:schemeClr val="tx1"/>
                </a:solidFill>
                <a:latin typeface="Century Gothic" pitchFamily="34" charset="0"/>
              </a:rPr>
              <a:t>#</a:t>
            </a:r>
            <a:r>
              <a:rPr lang="fr-FR" sz="1100" b="1" dirty="0" err="1">
                <a:solidFill>
                  <a:schemeClr val="tx1"/>
                </a:solidFill>
                <a:latin typeface="Century Gothic" pitchFamily="34" charset="0"/>
              </a:rPr>
              <a:t>AbbreviatedKeyTitle</a:t>
            </a:r>
            <a:r>
              <a:rPr lang="fr-FR" sz="1100" b="1" dirty="0">
                <a:solidFill>
                  <a:schemeClr val="tx1"/>
                </a:solidFill>
                <a:latin typeface="Century Gothic" pitchFamily="34" charset="0"/>
              </a:rPr>
              <a:t>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bf:Identifier</a:t>
            </a:r>
            <a:r>
              <a:rPr lang="fr-FR" sz="1050" dirty="0">
                <a:solidFill>
                  <a:prstClr val="black"/>
                </a:solidFill>
                <a:latin typeface="Century Gothic" pitchFamily="34" charset="0"/>
              </a:rPr>
              <a:t>,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bf:AbbreviatedTitle</a:t>
            </a:r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cxnSp>
        <p:nvCxnSpPr>
          <p:cNvPr id="33" name="Forme 69"/>
          <p:cNvCxnSpPr>
            <a:stCxn id="10" idx="1"/>
            <a:endCxn id="69" idx="3"/>
          </p:cNvCxnSpPr>
          <p:nvPr/>
        </p:nvCxnSpPr>
        <p:spPr>
          <a:xfrm rot="10800000">
            <a:off x="4500562" y="714357"/>
            <a:ext cx="1571636" cy="160735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ZoneTexte 36"/>
          <p:cNvSpPr txBox="1"/>
          <p:nvPr/>
        </p:nvSpPr>
        <p:spPr>
          <a:xfrm>
            <a:off x="4643438" y="738498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bf:identifiedBy</a:t>
            </a:r>
            <a:endParaRPr lang="en-US" sz="1100" dirty="0">
              <a:latin typeface="Century Gothic" pitchFamily="34" charset="0"/>
            </a:endParaRPr>
          </a:p>
        </p:txBody>
      </p:sp>
      <p:cxnSp>
        <p:nvCxnSpPr>
          <p:cNvPr id="38" name="Forme 69"/>
          <p:cNvCxnSpPr>
            <a:stCxn id="10" idx="1"/>
            <a:endCxn id="27" idx="3"/>
          </p:cNvCxnSpPr>
          <p:nvPr/>
        </p:nvCxnSpPr>
        <p:spPr>
          <a:xfrm rot="10800000">
            <a:off x="4500562" y="1678769"/>
            <a:ext cx="1571636" cy="64294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Forme 69"/>
          <p:cNvCxnSpPr>
            <a:stCxn id="10" idx="1"/>
            <a:endCxn id="28" idx="3"/>
          </p:cNvCxnSpPr>
          <p:nvPr/>
        </p:nvCxnSpPr>
        <p:spPr>
          <a:xfrm rot="10800000" flipV="1">
            <a:off x="4500562" y="2321710"/>
            <a:ext cx="1571636" cy="71438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Forme 69"/>
          <p:cNvCxnSpPr>
            <a:stCxn id="10" idx="1"/>
            <a:endCxn id="29" idx="3"/>
          </p:cNvCxnSpPr>
          <p:nvPr/>
        </p:nvCxnSpPr>
        <p:spPr>
          <a:xfrm rot="10800000" flipV="1">
            <a:off x="4500562" y="2321710"/>
            <a:ext cx="1571636" cy="157163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ZoneTexte 48"/>
          <p:cNvSpPr txBox="1"/>
          <p:nvPr/>
        </p:nvSpPr>
        <p:spPr>
          <a:xfrm>
            <a:off x="4643438" y="1667192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bf:identifiedBy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50" name="ZoneTexte 49"/>
          <p:cNvSpPr txBox="1"/>
          <p:nvPr/>
        </p:nvSpPr>
        <p:spPr>
          <a:xfrm>
            <a:off x="4643438" y="3069551"/>
            <a:ext cx="1857388" cy="430887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bf:identifiedBy</a:t>
            </a:r>
            <a:endParaRPr lang="fr-FR" sz="1100" dirty="0">
              <a:latin typeface="Century Gothic" pitchFamily="34" charset="0"/>
            </a:endParaRPr>
          </a:p>
          <a:p>
            <a:r>
              <a:rPr lang="fr-FR" sz="1100" i="1" dirty="0">
                <a:latin typeface="Century Gothic" pitchFamily="34" charset="0"/>
              </a:rPr>
              <a:t>(+ </a:t>
            </a:r>
            <a:r>
              <a:rPr lang="fr-FR" sz="1100" i="1" dirty="0" err="1">
                <a:latin typeface="Century Gothic" pitchFamily="34" charset="0"/>
              </a:rPr>
              <a:t>bf:title</a:t>
            </a:r>
            <a:r>
              <a:rPr lang="fr-FR" sz="1100" i="1" dirty="0">
                <a:latin typeface="Century Gothic" pitchFamily="34" charset="0"/>
              </a:rPr>
              <a:t>)</a:t>
            </a:r>
            <a:endParaRPr lang="en-US" sz="1100" i="1" dirty="0">
              <a:latin typeface="Century Gothic" pitchFamily="34" charset="0"/>
            </a:endParaRPr>
          </a:p>
        </p:txBody>
      </p:sp>
      <p:sp>
        <p:nvSpPr>
          <p:cNvPr id="51" name="ZoneTexte 50"/>
          <p:cNvSpPr txBox="1"/>
          <p:nvPr/>
        </p:nvSpPr>
        <p:spPr>
          <a:xfrm>
            <a:off x="4643438" y="3881771"/>
            <a:ext cx="1857388" cy="430887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bf:identifiedBy</a:t>
            </a:r>
            <a:endParaRPr lang="fr-FR" sz="1100" dirty="0">
              <a:latin typeface="Century Gothic" pitchFamily="34" charset="0"/>
            </a:endParaRPr>
          </a:p>
          <a:p>
            <a:r>
              <a:rPr lang="fr-FR" sz="1100" i="1" dirty="0">
                <a:latin typeface="Century Gothic" pitchFamily="34" charset="0"/>
              </a:rPr>
              <a:t>(+ </a:t>
            </a:r>
            <a:r>
              <a:rPr lang="fr-FR" sz="1100" i="1" dirty="0" err="1">
                <a:latin typeface="Century Gothic" pitchFamily="34" charset="0"/>
              </a:rPr>
              <a:t>bf:title</a:t>
            </a:r>
            <a:r>
              <a:rPr lang="fr-FR" sz="1100" i="1" dirty="0">
                <a:latin typeface="Century Gothic" pitchFamily="34" charset="0"/>
              </a:rPr>
              <a:t>)</a:t>
            </a:r>
            <a:endParaRPr lang="en-US" sz="1100" i="1" dirty="0">
              <a:latin typeface="Century Gothic" pitchFamily="34" charset="0"/>
            </a:endParaRPr>
          </a:p>
        </p:txBody>
      </p:sp>
      <p:sp>
        <p:nvSpPr>
          <p:cNvPr id="91" name="Rectangle à coins arrondis 90"/>
          <p:cNvSpPr/>
          <p:nvPr/>
        </p:nvSpPr>
        <p:spPr>
          <a:xfrm>
            <a:off x="428596" y="4714884"/>
            <a:ext cx="2357454" cy="571504"/>
          </a:xfrm>
          <a:prstGeom prst="roundRect">
            <a:avLst>
              <a:gd name="adj" fmla="val 25258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#</a:t>
            </a:r>
            <a:r>
              <a:rPr lang="fr-FR" sz="1200" b="1" dirty="0" err="1">
                <a:solidFill>
                  <a:schemeClr val="tx1"/>
                </a:solidFill>
                <a:latin typeface="Century Gothic" pitchFamily="34" charset="0"/>
              </a:rPr>
              <a:t>RecordCreation</a:t>
            </a:r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prov:Activity</a:t>
            </a:r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cxnSp>
        <p:nvCxnSpPr>
          <p:cNvPr id="95" name="Forme 69"/>
          <p:cNvCxnSpPr>
            <a:stCxn id="91" idx="0"/>
            <a:endCxn id="29" idx="1"/>
          </p:cNvCxnSpPr>
          <p:nvPr/>
        </p:nvCxnSpPr>
        <p:spPr>
          <a:xfrm rot="5400000" flipH="1" flipV="1">
            <a:off x="1357290" y="4143381"/>
            <a:ext cx="821536" cy="321471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Forme 69"/>
          <p:cNvCxnSpPr>
            <a:stCxn id="91" idx="0"/>
            <a:endCxn id="28" idx="1"/>
          </p:cNvCxnSpPr>
          <p:nvPr/>
        </p:nvCxnSpPr>
        <p:spPr>
          <a:xfrm rot="5400000" flipH="1" flipV="1">
            <a:off x="928662" y="3714753"/>
            <a:ext cx="1678792" cy="321471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Forme 69"/>
          <p:cNvCxnSpPr>
            <a:stCxn id="91" idx="0"/>
            <a:endCxn id="27" idx="1"/>
          </p:cNvCxnSpPr>
          <p:nvPr/>
        </p:nvCxnSpPr>
        <p:spPr>
          <a:xfrm rot="5400000" flipH="1" flipV="1">
            <a:off x="250001" y="3036092"/>
            <a:ext cx="3036115" cy="321471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Forme 69"/>
          <p:cNvCxnSpPr>
            <a:stCxn id="91" idx="0"/>
            <a:endCxn id="15" idx="1"/>
          </p:cNvCxnSpPr>
          <p:nvPr/>
        </p:nvCxnSpPr>
        <p:spPr>
          <a:xfrm rot="5400000" flipH="1" flipV="1">
            <a:off x="-285784" y="2500307"/>
            <a:ext cx="4107685" cy="321471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ZoneTexte 107"/>
          <p:cNvSpPr txBox="1"/>
          <p:nvPr/>
        </p:nvSpPr>
        <p:spPr>
          <a:xfrm>
            <a:off x="571472" y="595622"/>
            <a:ext cx="128591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/>
            <a:r>
              <a:rPr lang="fr-FR" sz="1100" dirty="0" err="1">
                <a:latin typeface="Century Gothic" pitchFamily="34" charset="0"/>
              </a:rPr>
              <a:t>prov:generated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09" name="ZoneTexte 108"/>
          <p:cNvSpPr txBox="1"/>
          <p:nvPr/>
        </p:nvSpPr>
        <p:spPr>
          <a:xfrm>
            <a:off x="571472" y="1667192"/>
            <a:ext cx="128591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/>
            <a:r>
              <a:rPr lang="fr-FR" sz="1100" dirty="0" err="1">
                <a:latin typeface="Century Gothic" pitchFamily="34" charset="0"/>
              </a:rPr>
              <a:t>prov:generated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10" name="ZoneTexte 109"/>
          <p:cNvSpPr txBox="1"/>
          <p:nvPr/>
        </p:nvSpPr>
        <p:spPr>
          <a:xfrm>
            <a:off x="571472" y="3024515"/>
            <a:ext cx="128591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/>
            <a:r>
              <a:rPr lang="fr-FR" sz="1100" dirty="0" err="1">
                <a:latin typeface="Century Gothic" pitchFamily="34" charset="0"/>
              </a:rPr>
              <a:t>prov:generated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11" name="ZoneTexte 110"/>
          <p:cNvSpPr txBox="1"/>
          <p:nvPr/>
        </p:nvSpPr>
        <p:spPr>
          <a:xfrm>
            <a:off x="571472" y="3857629"/>
            <a:ext cx="128591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/>
            <a:r>
              <a:rPr lang="fr-FR" sz="1100" dirty="0" err="1">
                <a:latin typeface="Century Gothic" pitchFamily="34" charset="0"/>
              </a:rPr>
              <a:t>prov:generated</a:t>
            </a:r>
            <a:endParaRPr lang="en-US" sz="1100" dirty="0">
              <a:latin typeface="Century Gothic" pitchFamily="34" charset="0"/>
            </a:endParaRPr>
          </a:p>
        </p:txBody>
      </p:sp>
      <p:cxnSp>
        <p:nvCxnSpPr>
          <p:cNvPr id="112" name="Forme 69"/>
          <p:cNvCxnSpPr>
            <a:stCxn id="91" idx="3"/>
            <a:endCxn id="14" idx="1"/>
          </p:cNvCxnSpPr>
          <p:nvPr/>
        </p:nvCxnSpPr>
        <p:spPr>
          <a:xfrm>
            <a:off x="2786050" y="5000636"/>
            <a:ext cx="3357586" cy="158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ZoneTexte 114"/>
          <p:cNvSpPr txBox="1"/>
          <p:nvPr/>
        </p:nvSpPr>
        <p:spPr>
          <a:xfrm>
            <a:off x="2857488" y="4739026"/>
            <a:ext cx="128591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/>
            <a:r>
              <a:rPr lang="fr-FR" sz="1100" dirty="0" err="1">
                <a:latin typeface="Century Gothic" pitchFamily="34" charset="0"/>
              </a:rPr>
              <a:t>prov:generated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16" name="Rectangle à coins arrondis 115"/>
          <p:cNvSpPr/>
          <p:nvPr/>
        </p:nvSpPr>
        <p:spPr>
          <a:xfrm>
            <a:off x="4500562" y="5572140"/>
            <a:ext cx="2143140" cy="785818"/>
          </a:xfrm>
          <a:prstGeom prst="roundRect">
            <a:avLst>
              <a:gd name="adj" fmla="val 27207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100" b="1" dirty="0">
                <a:solidFill>
                  <a:schemeClr val="tx1"/>
                </a:solidFill>
                <a:latin typeface="Century Gothic" pitchFamily="34" charset="0"/>
              </a:rPr>
              <a:t>http://issn.org/organization/ISSNCenter#</a:t>
            </a:r>
            <a:r>
              <a:rPr lang="fr-FR" sz="1400" b="1" dirty="0">
                <a:solidFill>
                  <a:schemeClr val="tx1"/>
                </a:solidFill>
                <a:latin typeface="Century Gothic" pitchFamily="34" charset="0"/>
              </a:rPr>
              <a:t>{CCID}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schema:Organization</a:t>
            </a:r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cxnSp>
        <p:nvCxnSpPr>
          <p:cNvPr id="117" name="Forme 69"/>
          <p:cNvCxnSpPr>
            <a:cxnSpLocks/>
            <a:stCxn id="91" idx="2"/>
            <a:endCxn id="127" idx="1"/>
          </p:cNvCxnSpPr>
          <p:nvPr/>
        </p:nvCxnSpPr>
        <p:spPr>
          <a:xfrm rot="16200000" flipH="1">
            <a:off x="1643042" y="5250668"/>
            <a:ext cx="678661" cy="750099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ZoneTexte 119"/>
          <p:cNvSpPr txBox="1"/>
          <p:nvPr/>
        </p:nvSpPr>
        <p:spPr>
          <a:xfrm>
            <a:off x="0" y="5953472"/>
            <a:ext cx="221457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/>
            <a:r>
              <a:rPr lang="fr-FR" sz="1100" dirty="0" err="1">
                <a:latin typeface="Century Gothic" pitchFamily="34" charset="0"/>
              </a:rPr>
              <a:t>prov:wasAssociatedWith</a:t>
            </a:r>
            <a:endParaRPr lang="en-US" sz="1100" dirty="0">
              <a:latin typeface="Century Gothic" pitchFamily="34" charset="0"/>
            </a:endParaRPr>
          </a:p>
        </p:txBody>
      </p:sp>
      <p:cxnSp>
        <p:nvCxnSpPr>
          <p:cNvPr id="121" name="Forme 69"/>
          <p:cNvCxnSpPr>
            <a:cxnSpLocks/>
            <a:stCxn id="14" idx="2"/>
            <a:endCxn id="116" idx="3"/>
          </p:cNvCxnSpPr>
          <p:nvPr/>
        </p:nvCxnSpPr>
        <p:spPr>
          <a:xfrm rot="5400000">
            <a:off x="6715141" y="5214950"/>
            <a:ext cx="678661" cy="821537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ZoneTexte 123"/>
          <p:cNvSpPr txBox="1"/>
          <p:nvPr/>
        </p:nvSpPr>
        <p:spPr>
          <a:xfrm>
            <a:off x="6929454" y="6000768"/>
            <a:ext cx="171451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prov:wasAttributedTo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25" name="Rectangle 124"/>
          <p:cNvSpPr/>
          <p:nvPr/>
        </p:nvSpPr>
        <p:spPr>
          <a:xfrm>
            <a:off x="8358214" y="2571744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7" name="Rectangle à coins arrondis 126"/>
          <p:cNvSpPr/>
          <p:nvPr/>
        </p:nvSpPr>
        <p:spPr>
          <a:xfrm>
            <a:off x="2357422" y="5572140"/>
            <a:ext cx="2214578" cy="785818"/>
          </a:xfrm>
          <a:prstGeom prst="roundRect">
            <a:avLst>
              <a:gd name="adj" fmla="val 32006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100" b="1" dirty="0">
                <a:solidFill>
                  <a:schemeClr val="tx1"/>
                </a:solidFill>
                <a:latin typeface="Century Gothic" pitchFamily="34" charset="0"/>
              </a:rPr>
              <a:t>http://issn.org/organization/ISSNCenter#</a:t>
            </a:r>
            <a:r>
              <a:rPr lang="fr-FR" sz="1400" b="1" dirty="0">
                <a:solidFill>
                  <a:schemeClr val="tx1"/>
                </a:solidFill>
                <a:latin typeface="Century Gothic" pitchFamily="34" charset="0"/>
              </a:rPr>
              <a:t>{CCID}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schema:Organization</a:t>
            </a:r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sp>
        <p:nvSpPr>
          <p:cNvPr id="129" name="Rectangle à coins arrondis 128"/>
          <p:cNvSpPr/>
          <p:nvPr/>
        </p:nvSpPr>
        <p:spPr>
          <a:xfrm>
            <a:off x="6072198" y="357166"/>
            <a:ext cx="2786082" cy="500066"/>
          </a:xfrm>
          <a:prstGeom prst="roundRect">
            <a:avLst>
              <a:gd name="adj" fmla="val 17044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000" b="1" dirty="0">
                <a:solidFill>
                  <a:schemeClr val="tx1"/>
                </a:solidFill>
                <a:latin typeface="Century Gothic" pitchFamily="34" charset="0"/>
              </a:rPr>
              <a:t>http://issn.org/resource/ISSN-L/{ISSN-L} :</a:t>
            </a:r>
            <a:r>
              <a:rPr lang="fr-FR" sz="1050" dirty="0">
                <a:solidFill>
                  <a:prstClr val="black"/>
                </a:solidFill>
                <a:latin typeface="Century Gothic" pitchFamily="34" charset="0"/>
              </a:rPr>
              <a:t>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schema:CreativeWork</a:t>
            </a:r>
            <a:endParaRPr lang="en-US" sz="12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cxnSp>
        <p:nvCxnSpPr>
          <p:cNvPr id="130" name="Forme 69"/>
          <p:cNvCxnSpPr>
            <a:stCxn id="88" idx="0"/>
            <a:endCxn id="85" idx="2"/>
          </p:cNvCxnSpPr>
          <p:nvPr/>
        </p:nvCxnSpPr>
        <p:spPr>
          <a:xfrm rot="5400000" flipH="1" flipV="1">
            <a:off x="6179355" y="1393017"/>
            <a:ext cx="1071570" cy="1588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ZoneTexte 134"/>
          <p:cNvSpPr txBox="1"/>
          <p:nvPr/>
        </p:nvSpPr>
        <p:spPr>
          <a:xfrm>
            <a:off x="5643570" y="3357562"/>
            <a:ext cx="1071570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 err="1">
                <a:latin typeface="Century Gothic" pitchFamily="34" charset="0"/>
              </a:rPr>
              <a:t>schema:issn</a:t>
            </a:r>
            <a:endParaRPr lang="en-US" sz="1100" dirty="0">
              <a:latin typeface="Century Gothic" pitchFamily="34" charset="0"/>
            </a:endParaRPr>
          </a:p>
        </p:txBody>
      </p:sp>
      <p:cxnSp>
        <p:nvCxnSpPr>
          <p:cNvPr id="136" name="Forme 69"/>
          <p:cNvCxnSpPr>
            <a:cxnSpLocks/>
            <a:stCxn id="127" idx="0"/>
            <a:endCxn id="116" idx="0"/>
          </p:cNvCxnSpPr>
          <p:nvPr/>
        </p:nvCxnSpPr>
        <p:spPr>
          <a:xfrm rot="5400000" flipH="1" flipV="1">
            <a:off x="4518421" y="4518430"/>
            <a:ext cx="1588" cy="2107421"/>
          </a:xfrm>
          <a:prstGeom prst="curvedConnector3">
            <a:avLst>
              <a:gd name="adj1" fmla="val 14395466"/>
            </a:avLst>
          </a:prstGeom>
          <a:ln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ZoneTexte 140"/>
          <p:cNvSpPr txBox="1"/>
          <p:nvPr/>
        </p:nvSpPr>
        <p:spPr>
          <a:xfrm>
            <a:off x="3786182" y="5096216"/>
            <a:ext cx="171451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i="1" dirty="0" err="1">
                <a:latin typeface="Century Gothic" pitchFamily="34" charset="0"/>
              </a:rPr>
              <a:t>Same</a:t>
            </a:r>
            <a:r>
              <a:rPr lang="fr-FR" sz="1100" i="1" dirty="0">
                <a:latin typeface="Century Gothic" pitchFamily="34" charset="0"/>
              </a:rPr>
              <a:t> or </a:t>
            </a:r>
            <a:r>
              <a:rPr lang="fr-FR" sz="1100" i="1" dirty="0" err="1">
                <a:latin typeface="Century Gothic" pitchFamily="34" charset="0"/>
              </a:rPr>
              <a:t>different</a:t>
            </a:r>
            <a:endParaRPr lang="en-US" sz="1100" i="1" dirty="0">
              <a:latin typeface="Century Gothic" pitchFamily="34" charset="0"/>
            </a:endParaRPr>
          </a:p>
        </p:txBody>
      </p:sp>
      <p:sp>
        <p:nvSpPr>
          <p:cNvPr id="182" name="ZoneTexte 181"/>
          <p:cNvSpPr txBox="1"/>
          <p:nvPr/>
        </p:nvSpPr>
        <p:spPr>
          <a:xfrm>
            <a:off x="0" y="6572272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Relative </a:t>
            </a:r>
            <a:r>
              <a:rPr lang="fr-FR" sz="1200" i="1" dirty="0" err="1"/>
              <a:t>URIs</a:t>
            </a:r>
            <a:r>
              <a:rPr lang="fr-FR" sz="1200" i="1" dirty="0"/>
              <a:t> (</a:t>
            </a:r>
            <a:r>
              <a:rPr lang="fr-FR" sz="1200" i="1" dirty="0" err="1"/>
              <a:t>beginning</a:t>
            </a:r>
            <a:r>
              <a:rPr lang="fr-FR" sz="1200" i="1" dirty="0"/>
              <a:t> </a:t>
            </a:r>
            <a:r>
              <a:rPr lang="fr-FR" sz="1200" i="1" dirty="0" err="1"/>
              <a:t>with</a:t>
            </a:r>
            <a:r>
              <a:rPr lang="fr-FR" sz="1200" i="1" dirty="0"/>
              <a:t> #) are relative to the ISSN </a:t>
            </a:r>
            <a:r>
              <a:rPr lang="fr-FR" sz="1200" i="1" dirty="0" err="1"/>
              <a:t>resource</a:t>
            </a:r>
            <a:r>
              <a:rPr lang="fr-FR" sz="1200" i="1" dirty="0"/>
              <a:t> URI : http://issn.org/resource/ISSN/{ISSN}</a:t>
            </a:r>
            <a:endParaRPr lang="en-US" sz="1200" i="1" dirty="0"/>
          </a:p>
        </p:txBody>
      </p:sp>
      <p:cxnSp>
        <p:nvCxnSpPr>
          <p:cNvPr id="152" name="Forme 69"/>
          <p:cNvCxnSpPr>
            <a:stCxn id="15" idx="0"/>
            <a:endCxn id="154" idx="3"/>
          </p:cNvCxnSpPr>
          <p:nvPr/>
        </p:nvCxnSpPr>
        <p:spPr>
          <a:xfrm rot="16200000" flipV="1">
            <a:off x="3053943" y="267869"/>
            <a:ext cx="178595" cy="142876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ZoneTexte 152"/>
          <p:cNvSpPr txBox="1"/>
          <p:nvPr/>
        </p:nvSpPr>
        <p:spPr>
          <a:xfrm>
            <a:off x="3214678" y="142852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rdf:value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54" name="Rectangle à coins arrondis 153"/>
          <p:cNvSpPr/>
          <p:nvPr/>
        </p:nvSpPr>
        <p:spPr>
          <a:xfrm>
            <a:off x="2571736" y="142852"/>
            <a:ext cx="500066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/>
            <a:r>
              <a:rPr lang="fr-FR" sz="1200" b="1" dirty="0">
                <a:solidFill>
                  <a:prstClr val="black"/>
                </a:solidFill>
                <a:latin typeface="Century Gothic" pitchFamily="34" charset="0"/>
              </a:rPr>
              <a:t>"…"</a:t>
            </a:r>
          </a:p>
        </p:txBody>
      </p:sp>
      <p:cxnSp>
        <p:nvCxnSpPr>
          <p:cNvPr id="177" name="Forme 69"/>
          <p:cNvCxnSpPr>
            <a:stCxn id="27" idx="0"/>
            <a:endCxn id="179" idx="3"/>
          </p:cNvCxnSpPr>
          <p:nvPr/>
        </p:nvCxnSpPr>
        <p:spPr>
          <a:xfrm rot="16200000" flipV="1">
            <a:off x="3053943" y="1339439"/>
            <a:ext cx="178595" cy="142876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ZoneTexte 177"/>
          <p:cNvSpPr txBox="1"/>
          <p:nvPr/>
        </p:nvSpPr>
        <p:spPr>
          <a:xfrm>
            <a:off x="3214678" y="1214421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rdf:value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79" name="Rectangle à coins arrondis 178"/>
          <p:cNvSpPr/>
          <p:nvPr/>
        </p:nvSpPr>
        <p:spPr>
          <a:xfrm>
            <a:off x="2000232" y="1214422"/>
            <a:ext cx="1071570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lvl="0" algn="r"/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"the ISSN"</a:t>
            </a:r>
          </a:p>
        </p:txBody>
      </p:sp>
      <p:cxnSp>
        <p:nvCxnSpPr>
          <p:cNvPr id="181" name="Forme 69"/>
          <p:cNvCxnSpPr>
            <a:stCxn id="28" idx="0"/>
            <a:endCxn id="184" idx="3"/>
          </p:cNvCxnSpPr>
          <p:nvPr/>
        </p:nvCxnSpPr>
        <p:spPr>
          <a:xfrm rot="16200000" flipV="1">
            <a:off x="3053942" y="2696761"/>
            <a:ext cx="178596" cy="142876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ZoneTexte 182"/>
          <p:cNvSpPr txBox="1"/>
          <p:nvPr/>
        </p:nvSpPr>
        <p:spPr>
          <a:xfrm>
            <a:off x="3214678" y="2571744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rdf:value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84" name="Rectangle à coins arrondis 183"/>
          <p:cNvSpPr/>
          <p:nvPr/>
        </p:nvSpPr>
        <p:spPr>
          <a:xfrm>
            <a:off x="2571736" y="2571744"/>
            <a:ext cx="500066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/>
            <a:r>
              <a:rPr lang="fr-FR" sz="1200" b="1" dirty="0">
                <a:solidFill>
                  <a:prstClr val="black"/>
                </a:solidFill>
                <a:latin typeface="Century Gothic" pitchFamily="34" charset="0"/>
              </a:rPr>
              <a:t>"…"</a:t>
            </a:r>
          </a:p>
        </p:txBody>
      </p:sp>
      <p:cxnSp>
        <p:nvCxnSpPr>
          <p:cNvPr id="186" name="Forme 69"/>
          <p:cNvCxnSpPr>
            <a:stCxn id="29" idx="0"/>
            <a:endCxn id="188" idx="3"/>
          </p:cNvCxnSpPr>
          <p:nvPr/>
        </p:nvCxnSpPr>
        <p:spPr>
          <a:xfrm rot="16200000" flipV="1">
            <a:off x="3053942" y="3482579"/>
            <a:ext cx="178596" cy="142876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ZoneTexte 186"/>
          <p:cNvSpPr txBox="1"/>
          <p:nvPr/>
        </p:nvSpPr>
        <p:spPr>
          <a:xfrm>
            <a:off x="3214678" y="3357562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rdf:value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88" name="Rectangle à coins arrondis 187"/>
          <p:cNvSpPr/>
          <p:nvPr/>
        </p:nvSpPr>
        <p:spPr>
          <a:xfrm>
            <a:off x="2571736" y="3357562"/>
            <a:ext cx="500066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/>
            <a:r>
              <a:rPr lang="fr-FR" sz="1200" b="1" dirty="0">
                <a:solidFill>
                  <a:prstClr val="black"/>
                </a:solidFill>
                <a:latin typeface="Century Gothic" pitchFamily="34" charset="0"/>
              </a:rPr>
              <a:t>"…"</a:t>
            </a:r>
          </a:p>
        </p:txBody>
      </p:sp>
      <p:cxnSp>
        <p:nvCxnSpPr>
          <p:cNvPr id="65" name="Forme 69"/>
          <p:cNvCxnSpPr>
            <a:stCxn id="72" idx="1"/>
            <a:endCxn id="64" idx="3"/>
          </p:cNvCxnSpPr>
          <p:nvPr/>
        </p:nvCxnSpPr>
        <p:spPr>
          <a:xfrm rot="10800000">
            <a:off x="4500562" y="500042"/>
            <a:ext cx="1571636" cy="158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ZoneTexte 67"/>
          <p:cNvSpPr txBox="1"/>
          <p:nvPr/>
        </p:nvSpPr>
        <p:spPr>
          <a:xfrm>
            <a:off x="4643438" y="214290"/>
            <a:ext cx="135732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bf:identifiedBy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4357686" y="428604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Rectangle 68"/>
          <p:cNvSpPr/>
          <p:nvPr/>
        </p:nvSpPr>
        <p:spPr>
          <a:xfrm>
            <a:off x="4357686" y="642918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Rectangle 71"/>
          <p:cNvSpPr/>
          <p:nvPr/>
        </p:nvSpPr>
        <p:spPr>
          <a:xfrm>
            <a:off x="6072198" y="428604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/>
          <p:cNvSpPr/>
          <p:nvPr/>
        </p:nvSpPr>
        <p:spPr>
          <a:xfrm>
            <a:off x="8358214" y="4714884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3" name="Forme 69"/>
          <p:cNvCxnSpPr>
            <a:stCxn id="83" idx="2"/>
            <a:endCxn id="77" idx="0"/>
          </p:cNvCxnSpPr>
          <p:nvPr/>
        </p:nvCxnSpPr>
        <p:spPr>
          <a:xfrm rot="5400000">
            <a:off x="6054339" y="2839637"/>
            <a:ext cx="1071570" cy="821537"/>
          </a:xfrm>
          <a:prstGeom prst="bentConnector3">
            <a:avLst>
              <a:gd name="adj1" fmla="val 29766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Forme 69"/>
          <p:cNvCxnSpPr>
            <a:stCxn id="83" idx="2"/>
            <a:endCxn id="86" idx="0"/>
          </p:cNvCxnSpPr>
          <p:nvPr/>
        </p:nvCxnSpPr>
        <p:spPr>
          <a:xfrm rot="16200000" flipH="1">
            <a:off x="6482966" y="3232545"/>
            <a:ext cx="1071570" cy="35719"/>
          </a:xfrm>
          <a:prstGeom prst="bentConnector3">
            <a:avLst>
              <a:gd name="adj1" fmla="val 29766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ZoneTexte 74"/>
          <p:cNvSpPr txBox="1"/>
          <p:nvPr/>
        </p:nvSpPr>
        <p:spPr>
          <a:xfrm>
            <a:off x="6072198" y="1214422"/>
            <a:ext cx="150016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schema:isPartOf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77" name="Rectangle à coins arrondis 76"/>
          <p:cNvSpPr/>
          <p:nvPr/>
        </p:nvSpPr>
        <p:spPr>
          <a:xfrm>
            <a:off x="5786446" y="3786190"/>
            <a:ext cx="785818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"the ISSN"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929454" y="2571744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Rectangle à coins arrondis 85"/>
          <p:cNvSpPr/>
          <p:nvPr/>
        </p:nvSpPr>
        <p:spPr>
          <a:xfrm>
            <a:off x="6643702" y="3786190"/>
            <a:ext cx="785818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"the ISSN"</a:t>
            </a:r>
          </a:p>
        </p:txBody>
      </p:sp>
      <p:sp>
        <p:nvSpPr>
          <p:cNvPr id="87" name="Rectangle à coins arrondis 86"/>
          <p:cNvSpPr/>
          <p:nvPr/>
        </p:nvSpPr>
        <p:spPr>
          <a:xfrm>
            <a:off x="7429520" y="3786190"/>
            <a:ext cx="785818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"the ISSN"</a:t>
            </a:r>
          </a:p>
        </p:txBody>
      </p:sp>
      <p:cxnSp>
        <p:nvCxnSpPr>
          <p:cNvPr id="90" name="Forme 69"/>
          <p:cNvCxnSpPr>
            <a:stCxn id="83" idx="2"/>
            <a:endCxn id="87" idx="0"/>
          </p:cNvCxnSpPr>
          <p:nvPr/>
        </p:nvCxnSpPr>
        <p:spPr>
          <a:xfrm rot="16200000" flipH="1">
            <a:off x="6875875" y="2839636"/>
            <a:ext cx="1071570" cy="821537"/>
          </a:xfrm>
          <a:prstGeom prst="bentConnector3">
            <a:avLst>
              <a:gd name="adj1" fmla="val 29767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ZoneTexte 99"/>
          <p:cNvSpPr txBox="1"/>
          <p:nvPr/>
        </p:nvSpPr>
        <p:spPr>
          <a:xfrm>
            <a:off x="6500826" y="3071810"/>
            <a:ext cx="1071570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 err="1">
                <a:latin typeface="Century Gothic" pitchFamily="34" charset="0"/>
              </a:rPr>
              <a:t>bibo:issn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02" name="ZoneTexte 101"/>
          <p:cNvSpPr txBox="1"/>
          <p:nvPr/>
        </p:nvSpPr>
        <p:spPr>
          <a:xfrm>
            <a:off x="7286644" y="3357562"/>
            <a:ext cx="1071570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 err="1">
                <a:latin typeface="Century Gothic" pitchFamily="34" charset="0"/>
              </a:rPr>
              <a:t>dc:identifier</a:t>
            </a:r>
            <a:endParaRPr lang="en-US" sz="1100" dirty="0">
              <a:latin typeface="Century Gothic" pitchFamily="34" charset="0"/>
            </a:endParaRPr>
          </a:p>
        </p:txBody>
      </p:sp>
      <p:cxnSp>
        <p:nvCxnSpPr>
          <p:cNvPr id="113" name="Forme 69"/>
          <p:cNvCxnSpPr>
            <a:stCxn id="27" idx="2"/>
            <a:endCxn id="118" idx="3"/>
          </p:cNvCxnSpPr>
          <p:nvPr/>
        </p:nvCxnSpPr>
        <p:spPr>
          <a:xfrm rot="5400000">
            <a:off x="3018224" y="1839504"/>
            <a:ext cx="178594" cy="214314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ZoneTexte 113"/>
          <p:cNvSpPr txBox="1"/>
          <p:nvPr/>
        </p:nvSpPr>
        <p:spPr>
          <a:xfrm>
            <a:off x="3286116" y="1881505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bf:status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18" name="Rectangle à coins arrondis 117"/>
          <p:cNvSpPr/>
          <p:nvPr/>
        </p:nvSpPr>
        <p:spPr>
          <a:xfrm>
            <a:off x="1500166" y="1928801"/>
            <a:ext cx="1500198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/>
            <a:r>
              <a:rPr lang="fr-FR" sz="1200" dirty="0" err="1">
                <a:solidFill>
                  <a:prstClr val="black"/>
                </a:solidFill>
                <a:latin typeface="Century Gothic" pitchFamily="34" charset="0"/>
              </a:rPr>
              <a:t>idStatus:Valid</a:t>
            </a:r>
            <a:endParaRPr lang="fr-FR" sz="1200" dirty="0">
              <a:solidFill>
                <a:prstClr val="black"/>
              </a:solidFill>
              <a:latin typeface="Century Gothic" pitchFamily="34" charset="0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8072462" y="714356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Rectangle 84"/>
          <p:cNvSpPr/>
          <p:nvPr/>
        </p:nvSpPr>
        <p:spPr>
          <a:xfrm>
            <a:off x="6643702" y="714356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Rectangle 87"/>
          <p:cNvSpPr/>
          <p:nvPr/>
        </p:nvSpPr>
        <p:spPr>
          <a:xfrm>
            <a:off x="6643702" y="1928802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Rectangle 88"/>
          <p:cNvSpPr/>
          <p:nvPr/>
        </p:nvSpPr>
        <p:spPr>
          <a:xfrm>
            <a:off x="8072462" y="1928802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4" name="Forme 69"/>
          <p:cNvCxnSpPr>
            <a:stCxn id="84" idx="2"/>
            <a:endCxn id="89" idx="0"/>
          </p:cNvCxnSpPr>
          <p:nvPr/>
        </p:nvCxnSpPr>
        <p:spPr>
          <a:xfrm rot="5400000">
            <a:off x="7608115" y="1393017"/>
            <a:ext cx="1071570" cy="1588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ZoneTexte 105"/>
          <p:cNvSpPr txBox="1"/>
          <p:nvPr/>
        </p:nvSpPr>
        <p:spPr>
          <a:xfrm>
            <a:off x="7572428" y="1214422"/>
            <a:ext cx="150016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schema:hasPart</a:t>
            </a:r>
            <a:endParaRPr lang="en-US" sz="1100" dirty="0">
              <a:latin typeface="Century Gothic" pitchFamily="34" charset="0"/>
            </a:endParaRPr>
          </a:p>
        </p:txBody>
      </p:sp>
      <p:cxnSp>
        <p:nvCxnSpPr>
          <p:cNvPr id="80" name="Forme 69"/>
          <p:cNvCxnSpPr>
            <a:stCxn id="15" idx="2"/>
            <a:endCxn id="82" idx="3"/>
          </p:cNvCxnSpPr>
          <p:nvPr/>
        </p:nvCxnSpPr>
        <p:spPr>
          <a:xfrm rot="5400000">
            <a:off x="3018224" y="767934"/>
            <a:ext cx="178594" cy="214314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ZoneTexte 80"/>
          <p:cNvSpPr txBox="1"/>
          <p:nvPr/>
        </p:nvSpPr>
        <p:spPr>
          <a:xfrm>
            <a:off x="3286116" y="809935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bf:status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82" name="Rectangle à coins arrondis 81"/>
          <p:cNvSpPr/>
          <p:nvPr/>
        </p:nvSpPr>
        <p:spPr>
          <a:xfrm>
            <a:off x="1500166" y="857231"/>
            <a:ext cx="1500198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/>
            <a:r>
              <a:rPr lang="fr-FR" sz="1200" dirty="0" err="1">
                <a:solidFill>
                  <a:prstClr val="black"/>
                </a:solidFill>
                <a:latin typeface="Century Gothic" pitchFamily="34" charset="0"/>
              </a:rPr>
              <a:t>idStatus:Valid</a:t>
            </a:r>
            <a:endParaRPr lang="fr-FR" sz="1200" dirty="0">
              <a:solidFill>
                <a:prstClr val="black"/>
              </a:solidFill>
              <a:latin typeface="Century Gothic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ZoneTexte 181"/>
          <p:cNvSpPr txBox="1"/>
          <p:nvPr/>
        </p:nvSpPr>
        <p:spPr>
          <a:xfrm>
            <a:off x="0" y="6572272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Relative </a:t>
            </a:r>
            <a:r>
              <a:rPr lang="fr-FR" sz="1200" i="1" dirty="0" err="1"/>
              <a:t>URIs</a:t>
            </a:r>
            <a:r>
              <a:rPr lang="fr-FR" sz="1200" i="1" dirty="0"/>
              <a:t> (</a:t>
            </a:r>
            <a:r>
              <a:rPr lang="fr-FR" sz="1200" i="1" dirty="0" err="1"/>
              <a:t>beginning</a:t>
            </a:r>
            <a:r>
              <a:rPr lang="fr-FR" sz="1200" i="1" dirty="0"/>
              <a:t> </a:t>
            </a:r>
            <a:r>
              <a:rPr lang="fr-FR" sz="1200" i="1" dirty="0" err="1"/>
              <a:t>with</a:t>
            </a:r>
            <a:r>
              <a:rPr lang="fr-FR" sz="1200" i="1" dirty="0"/>
              <a:t> #) are relative to the ISSN </a:t>
            </a:r>
            <a:r>
              <a:rPr lang="fr-FR" sz="1200" i="1" dirty="0" err="1"/>
              <a:t>resource</a:t>
            </a:r>
            <a:r>
              <a:rPr lang="fr-FR" sz="1200" i="1" dirty="0"/>
              <a:t> URI : http://issn.org/resource/ISSN/{ISSN}</a:t>
            </a:r>
            <a:endParaRPr lang="en-US" sz="1200" i="1" dirty="0"/>
          </a:p>
        </p:txBody>
      </p:sp>
      <p:sp>
        <p:nvSpPr>
          <p:cNvPr id="26" name="Rectangle à coins arrondis 25"/>
          <p:cNvSpPr/>
          <p:nvPr/>
        </p:nvSpPr>
        <p:spPr>
          <a:xfrm>
            <a:off x="5214942" y="1214423"/>
            <a:ext cx="2786082" cy="785818"/>
          </a:xfrm>
          <a:prstGeom prst="roundRect">
            <a:avLst>
              <a:gd name="adj" fmla="val 26908"/>
            </a:avLst>
          </a:prstGeom>
          <a:solidFill>
            <a:srgbClr val="F5E4E3"/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050" b="1" dirty="0">
                <a:solidFill>
                  <a:schemeClr val="tx1"/>
                </a:solidFill>
                <a:latin typeface="Century Gothic" pitchFamily="34" charset="0"/>
              </a:rPr>
              <a:t>http://issn.org/resource/ISSN/</a:t>
            </a:r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{ISSN}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bf:Work</a:t>
            </a:r>
            <a:r>
              <a:rPr lang="fr-FR" sz="1050" dirty="0">
                <a:solidFill>
                  <a:prstClr val="black"/>
                </a:solidFill>
                <a:latin typeface="Century Gothic" pitchFamily="34" charset="0"/>
              </a:rPr>
              <a:t>,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bf:Instance</a:t>
            </a:r>
            <a:r>
              <a:rPr lang="fr-FR" sz="1050" dirty="0">
                <a:solidFill>
                  <a:prstClr val="black"/>
                </a:solidFill>
                <a:latin typeface="Century Gothic" pitchFamily="34" charset="0"/>
              </a:rPr>
              <a:t>, 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schema:Periodical</a:t>
            </a:r>
            <a:endParaRPr lang="en-US" sz="12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sp>
        <p:nvSpPr>
          <p:cNvPr id="27" name="Rectangle à coins arrondis 26"/>
          <p:cNvSpPr/>
          <p:nvPr/>
        </p:nvSpPr>
        <p:spPr>
          <a:xfrm>
            <a:off x="5000628" y="4381836"/>
            <a:ext cx="3500462" cy="500066"/>
          </a:xfrm>
          <a:prstGeom prst="roundRect">
            <a:avLst>
              <a:gd name="adj" fmla="val 27379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100" b="1" dirty="0">
                <a:solidFill>
                  <a:schemeClr val="tx1"/>
                </a:solidFill>
                <a:latin typeface="Century Gothic" pitchFamily="34" charset="0"/>
              </a:rPr>
              <a:t>http://issn.org/resource/ISSN/{CancelledISSN} :</a:t>
            </a:r>
            <a:r>
              <a:rPr lang="fr-FR" sz="1200" dirty="0">
                <a:solidFill>
                  <a:prstClr val="black"/>
                </a:solidFill>
                <a:latin typeface="Century Gothic" pitchFamily="34" charset="0"/>
              </a:rPr>
              <a:t> </a:t>
            </a:r>
            <a:endParaRPr lang="fr-FR" sz="1050" dirty="0">
              <a:solidFill>
                <a:srgbClr val="FF0000"/>
              </a:solidFill>
              <a:latin typeface="Century Gothic" pitchFamily="34" charset="0"/>
            </a:endParaRPr>
          </a:p>
          <a:p>
            <a:pPr algn="ctr"/>
            <a:r>
              <a:rPr lang="fr-FR" sz="1050" i="1" dirty="0">
                <a:solidFill>
                  <a:schemeClr val="tx1"/>
                </a:solidFill>
                <a:latin typeface="Century Gothic" pitchFamily="34" charset="0"/>
              </a:rPr>
              <a:t>no class</a:t>
            </a:r>
          </a:p>
          <a:p>
            <a:pPr algn="ctr"/>
            <a:endParaRPr lang="en-US" sz="12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sp>
        <p:nvSpPr>
          <p:cNvPr id="29" name="ZoneTexte 28"/>
          <p:cNvSpPr txBox="1"/>
          <p:nvPr/>
        </p:nvSpPr>
        <p:spPr>
          <a:xfrm>
            <a:off x="428596" y="2595886"/>
            <a:ext cx="242889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/>
            <a:r>
              <a:rPr lang="fr-FR" sz="1100" dirty="0" err="1">
                <a:latin typeface="Century Gothic" pitchFamily="34" charset="0"/>
              </a:rPr>
              <a:t>issnprop:hasCancelledISSN</a:t>
            </a:r>
            <a:endParaRPr lang="en-US" sz="1100" dirty="0">
              <a:latin typeface="Century Gothic" pitchFamily="34" charset="0"/>
            </a:endParaRPr>
          </a:p>
        </p:txBody>
      </p:sp>
      <p:cxnSp>
        <p:nvCxnSpPr>
          <p:cNvPr id="30" name="Forme 69"/>
          <p:cNvCxnSpPr>
            <a:stCxn id="26" idx="0"/>
            <a:endCxn id="32" idx="2"/>
          </p:cNvCxnSpPr>
          <p:nvPr/>
        </p:nvCxnSpPr>
        <p:spPr>
          <a:xfrm rot="5400000" flipH="1" flipV="1">
            <a:off x="6393669" y="642919"/>
            <a:ext cx="785819" cy="35719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Forme 69"/>
          <p:cNvCxnSpPr>
            <a:stCxn id="26" idx="0"/>
            <a:endCxn id="34" idx="2"/>
          </p:cNvCxnSpPr>
          <p:nvPr/>
        </p:nvCxnSpPr>
        <p:spPr>
          <a:xfrm rot="16200000" flipV="1">
            <a:off x="5804306" y="410745"/>
            <a:ext cx="785819" cy="82153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à coins arrondis 31"/>
          <p:cNvSpPr/>
          <p:nvPr/>
        </p:nvSpPr>
        <p:spPr>
          <a:xfrm>
            <a:off x="6286512" y="142852"/>
            <a:ext cx="1357322" cy="285752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"</a:t>
            </a:r>
            <a:r>
              <a:rPr lang="fr-FR" sz="1050" i="1" dirty="0" err="1">
                <a:solidFill>
                  <a:prstClr val="black"/>
                </a:solidFill>
                <a:latin typeface="Century Gothic" pitchFamily="34" charset="0"/>
              </a:rPr>
              <a:t>cancelled</a:t>
            </a:r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 ISSN-L"</a:t>
            </a:r>
          </a:p>
        </p:txBody>
      </p:sp>
      <p:sp>
        <p:nvSpPr>
          <p:cNvPr id="34" name="Rectangle à coins arrondis 33"/>
          <p:cNvSpPr/>
          <p:nvPr/>
        </p:nvSpPr>
        <p:spPr>
          <a:xfrm>
            <a:off x="5143504" y="142852"/>
            <a:ext cx="1285884" cy="285752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"incorrect ISSN"</a:t>
            </a:r>
          </a:p>
        </p:txBody>
      </p:sp>
      <p:sp>
        <p:nvSpPr>
          <p:cNvPr id="35" name="ZoneTexte 34"/>
          <p:cNvSpPr txBox="1"/>
          <p:nvPr/>
        </p:nvSpPr>
        <p:spPr>
          <a:xfrm>
            <a:off x="3786182" y="571480"/>
            <a:ext cx="2000264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/>
            <a:r>
              <a:rPr lang="fr-FR" sz="1100" dirty="0" err="1">
                <a:latin typeface="Century Gothic" pitchFamily="34" charset="0"/>
              </a:rPr>
              <a:t>issnprop:hasIncorrectISSN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36" name="ZoneTexte 35"/>
          <p:cNvSpPr txBox="1"/>
          <p:nvPr/>
        </p:nvSpPr>
        <p:spPr>
          <a:xfrm>
            <a:off x="7000892" y="571480"/>
            <a:ext cx="221457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issnprop:hasCancelledISSN-L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37" name="Rectangle à coins arrondis 36"/>
          <p:cNvSpPr/>
          <p:nvPr/>
        </p:nvSpPr>
        <p:spPr>
          <a:xfrm>
            <a:off x="785786" y="1428737"/>
            <a:ext cx="2571768" cy="357190"/>
          </a:xfrm>
          <a:prstGeom prst="roundRect">
            <a:avLst>
              <a:gd name="adj" fmla="val 32405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#ISSN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bf:Issn</a:t>
            </a:r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cxnSp>
        <p:nvCxnSpPr>
          <p:cNvPr id="38" name="Forme 69"/>
          <p:cNvCxnSpPr>
            <a:stCxn id="26" idx="1"/>
            <a:endCxn id="37" idx="3"/>
          </p:cNvCxnSpPr>
          <p:nvPr/>
        </p:nvCxnSpPr>
        <p:spPr>
          <a:xfrm rot="10800000">
            <a:off x="3357554" y="1607332"/>
            <a:ext cx="1857388" cy="158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ZoneTexte 38"/>
          <p:cNvSpPr txBox="1"/>
          <p:nvPr/>
        </p:nvSpPr>
        <p:spPr>
          <a:xfrm>
            <a:off x="3857620" y="1285861"/>
            <a:ext cx="1285884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bf:identifiedBy</a:t>
            </a:r>
            <a:endParaRPr lang="en-US" sz="1100" dirty="0">
              <a:latin typeface="Century Gothic" pitchFamily="34" charset="0"/>
            </a:endParaRPr>
          </a:p>
        </p:txBody>
      </p:sp>
      <p:cxnSp>
        <p:nvCxnSpPr>
          <p:cNvPr id="40" name="Forme 69"/>
          <p:cNvCxnSpPr>
            <a:stCxn id="37" idx="0"/>
            <a:endCxn id="42" idx="3"/>
          </p:cNvCxnSpPr>
          <p:nvPr/>
        </p:nvCxnSpPr>
        <p:spPr>
          <a:xfrm rot="16200000" flipV="1">
            <a:off x="1910935" y="1268002"/>
            <a:ext cx="178595" cy="142876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ZoneTexte 40"/>
          <p:cNvSpPr txBox="1"/>
          <p:nvPr/>
        </p:nvSpPr>
        <p:spPr>
          <a:xfrm>
            <a:off x="2071670" y="1142984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rdf:value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42" name="Rectangle à coins arrondis 41"/>
          <p:cNvSpPr/>
          <p:nvPr/>
        </p:nvSpPr>
        <p:spPr>
          <a:xfrm>
            <a:off x="1428728" y="1142985"/>
            <a:ext cx="500066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/>
            <a:r>
              <a:rPr lang="fr-FR" sz="1200" b="1" dirty="0">
                <a:solidFill>
                  <a:prstClr val="black"/>
                </a:solidFill>
                <a:latin typeface="Century Gothic" pitchFamily="34" charset="0"/>
              </a:rPr>
              <a:t>"…"</a:t>
            </a:r>
          </a:p>
        </p:txBody>
      </p:sp>
      <p:cxnSp>
        <p:nvCxnSpPr>
          <p:cNvPr id="43" name="Forme 69"/>
          <p:cNvCxnSpPr>
            <a:stCxn id="37" idx="2"/>
            <a:endCxn id="46" idx="3"/>
          </p:cNvCxnSpPr>
          <p:nvPr/>
        </p:nvCxnSpPr>
        <p:spPr>
          <a:xfrm rot="5400000">
            <a:off x="1875216" y="1768067"/>
            <a:ext cx="178594" cy="214314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ZoneTexte 43"/>
          <p:cNvSpPr txBox="1"/>
          <p:nvPr/>
        </p:nvSpPr>
        <p:spPr>
          <a:xfrm>
            <a:off x="2071670" y="1810068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bf:status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46" name="Rectangle à coins arrondis 45"/>
          <p:cNvSpPr/>
          <p:nvPr/>
        </p:nvSpPr>
        <p:spPr>
          <a:xfrm>
            <a:off x="357158" y="1857364"/>
            <a:ext cx="1500198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/>
            <a:r>
              <a:rPr lang="fr-FR" sz="1200" dirty="0" err="1">
                <a:solidFill>
                  <a:prstClr val="black"/>
                </a:solidFill>
                <a:latin typeface="Century Gothic" pitchFamily="34" charset="0"/>
              </a:rPr>
              <a:t>idStatus:Valid</a:t>
            </a:r>
            <a:endParaRPr lang="fr-FR" sz="1200" dirty="0">
              <a:solidFill>
                <a:prstClr val="black"/>
              </a:solidFill>
              <a:latin typeface="Century Gothic" pitchFamily="34" charset="0"/>
            </a:endParaRPr>
          </a:p>
        </p:txBody>
      </p:sp>
      <p:sp>
        <p:nvSpPr>
          <p:cNvPr id="50" name="Rectangle à coins arrondis 49"/>
          <p:cNvSpPr/>
          <p:nvPr/>
        </p:nvSpPr>
        <p:spPr>
          <a:xfrm>
            <a:off x="785786" y="4453275"/>
            <a:ext cx="2571768" cy="357190"/>
          </a:xfrm>
          <a:prstGeom prst="roundRect">
            <a:avLst>
              <a:gd name="adj" fmla="val 32405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#ISSN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bf:Issn</a:t>
            </a:r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cxnSp>
        <p:nvCxnSpPr>
          <p:cNvPr id="51" name="Forme 69"/>
          <p:cNvCxnSpPr>
            <a:stCxn id="27" idx="1"/>
            <a:endCxn id="50" idx="3"/>
          </p:cNvCxnSpPr>
          <p:nvPr/>
        </p:nvCxnSpPr>
        <p:spPr>
          <a:xfrm rot="10800000" flipV="1">
            <a:off x="3357554" y="4631868"/>
            <a:ext cx="1643074" cy="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ZoneTexte 51"/>
          <p:cNvSpPr txBox="1"/>
          <p:nvPr/>
        </p:nvSpPr>
        <p:spPr>
          <a:xfrm>
            <a:off x="3643306" y="4263102"/>
            <a:ext cx="1285884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bf:identifiedBy</a:t>
            </a:r>
            <a:endParaRPr lang="en-US" sz="1100" dirty="0">
              <a:latin typeface="Century Gothic" pitchFamily="34" charset="0"/>
            </a:endParaRPr>
          </a:p>
        </p:txBody>
      </p:sp>
      <p:cxnSp>
        <p:nvCxnSpPr>
          <p:cNvPr id="53" name="Forme 69"/>
          <p:cNvCxnSpPr>
            <a:stCxn id="50" idx="0"/>
            <a:endCxn id="55" idx="3"/>
          </p:cNvCxnSpPr>
          <p:nvPr/>
        </p:nvCxnSpPr>
        <p:spPr>
          <a:xfrm rot="16200000" flipV="1">
            <a:off x="1910935" y="4292540"/>
            <a:ext cx="178595" cy="142876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ZoneTexte 53"/>
          <p:cNvSpPr txBox="1"/>
          <p:nvPr/>
        </p:nvSpPr>
        <p:spPr>
          <a:xfrm>
            <a:off x="2071670" y="4167522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rdf:value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55" name="Rectangle à coins arrondis 54"/>
          <p:cNvSpPr/>
          <p:nvPr/>
        </p:nvSpPr>
        <p:spPr>
          <a:xfrm>
            <a:off x="1428728" y="4167523"/>
            <a:ext cx="500066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/>
            <a:r>
              <a:rPr lang="fr-FR" sz="1200" b="1" dirty="0">
                <a:solidFill>
                  <a:prstClr val="black"/>
                </a:solidFill>
                <a:latin typeface="Century Gothic" pitchFamily="34" charset="0"/>
              </a:rPr>
              <a:t>"…"</a:t>
            </a:r>
          </a:p>
        </p:txBody>
      </p:sp>
      <p:cxnSp>
        <p:nvCxnSpPr>
          <p:cNvPr id="56" name="Forme 69"/>
          <p:cNvCxnSpPr>
            <a:stCxn id="50" idx="2"/>
          </p:cNvCxnSpPr>
          <p:nvPr/>
        </p:nvCxnSpPr>
        <p:spPr>
          <a:xfrm rot="5400000">
            <a:off x="1875216" y="4792605"/>
            <a:ext cx="178594" cy="214314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ZoneTexte 56"/>
          <p:cNvSpPr txBox="1"/>
          <p:nvPr/>
        </p:nvSpPr>
        <p:spPr>
          <a:xfrm>
            <a:off x="2071670" y="4834606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bf:status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58" name="Rectangle à coins arrondis 57"/>
          <p:cNvSpPr/>
          <p:nvPr/>
        </p:nvSpPr>
        <p:spPr>
          <a:xfrm>
            <a:off x="142844" y="4881902"/>
            <a:ext cx="1714512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/>
            <a:r>
              <a:rPr lang="fr-FR" sz="1200" dirty="0" err="1">
                <a:solidFill>
                  <a:prstClr val="black"/>
                </a:solidFill>
                <a:latin typeface="Century Gothic" pitchFamily="34" charset="0"/>
              </a:rPr>
              <a:t>idStatus:Cancelled</a:t>
            </a:r>
            <a:endParaRPr lang="fr-FR" sz="1200" dirty="0">
              <a:solidFill>
                <a:prstClr val="black"/>
              </a:solidFill>
              <a:latin typeface="Century Gothic" pitchFamily="34" charset="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2786050" y="1643050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 61"/>
          <p:cNvSpPr/>
          <p:nvPr/>
        </p:nvSpPr>
        <p:spPr>
          <a:xfrm>
            <a:off x="3000364" y="1643050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Rectangle 62"/>
          <p:cNvSpPr/>
          <p:nvPr/>
        </p:nvSpPr>
        <p:spPr>
          <a:xfrm>
            <a:off x="2786050" y="4453274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/>
          <p:cNvSpPr/>
          <p:nvPr/>
        </p:nvSpPr>
        <p:spPr>
          <a:xfrm>
            <a:off x="3000364" y="4453274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5" name="Forme 69"/>
          <p:cNvCxnSpPr>
            <a:stCxn id="61" idx="2"/>
            <a:endCxn id="63" idx="0"/>
          </p:cNvCxnSpPr>
          <p:nvPr/>
        </p:nvCxnSpPr>
        <p:spPr>
          <a:xfrm rot="5400000">
            <a:off x="1523814" y="3119600"/>
            <a:ext cx="2667348" cy="158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Forme 69"/>
          <p:cNvCxnSpPr>
            <a:stCxn id="64" idx="0"/>
            <a:endCxn id="62" idx="2"/>
          </p:cNvCxnSpPr>
          <p:nvPr/>
        </p:nvCxnSpPr>
        <p:spPr>
          <a:xfrm rot="5400000" flipH="1" flipV="1">
            <a:off x="1738128" y="3119600"/>
            <a:ext cx="2667348" cy="158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ZoneTexte 70"/>
          <p:cNvSpPr txBox="1"/>
          <p:nvPr/>
        </p:nvSpPr>
        <p:spPr>
          <a:xfrm>
            <a:off x="3071802" y="2881638"/>
            <a:ext cx="2143140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issnprop:cancelledInFavorOf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72" name="Rectangle à coins arrondis 71"/>
          <p:cNvSpPr/>
          <p:nvPr/>
        </p:nvSpPr>
        <p:spPr>
          <a:xfrm>
            <a:off x="5429256" y="5596282"/>
            <a:ext cx="2643206" cy="571504"/>
          </a:xfrm>
          <a:prstGeom prst="roundRect">
            <a:avLst>
              <a:gd name="adj" fmla="val 23608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#Record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schema:CreativeWork</a:t>
            </a:r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cxnSp>
        <p:nvCxnSpPr>
          <p:cNvPr id="73" name="Forme 69"/>
          <p:cNvCxnSpPr>
            <a:stCxn id="72" idx="0"/>
            <a:endCxn id="27" idx="2"/>
          </p:cNvCxnSpPr>
          <p:nvPr/>
        </p:nvCxnSpPr>
        <p:spPr>
          <a:xfrm rot="5400000" flipH="1" flipV="1">
            <a:off x="6393669" y="5239092"/>
            <a:ext cx="714380" cy="1588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ZoneTexte 73"/>
          <p:cNvSpPr txBox="1"/>
          <p:nvPr/>
        </p:nvSpPr>
        <p:spPr>
          <a:xfrm>
            <a:off x="5286412" y="5167654"/>
            <a:ext cx="150016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/>
            <a:r>
              <a:rPr lang="fr-FR" sz="1100" dirty="0" err="1">
                <a:latin typeface="Century Gothic" pitchFamily="34" charset="0"/>
              </a:rPr>
              <a:t>schema:mainEntity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89" name="Rectangle à coins arrondis 88"/>
          <p:cNvSpPr/>
          <p:nvPr/>
        </p:nvSpPr>
        <p:spPr>
          <a:xfrm>
            <a:off x="5286380" y="2786058"/>
            <a:ext cx="2643206" cy="571504"/>
          </a:xfrm>
          <a:prstGeom prst="roundRect">
            <a:avLst>
              <a:gd name="adj" fmla="val 23608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#Record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schema:CreativeWork</a:t>
            </a:r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cxnSp>
        <p:nvCxnSpPr>
          <p:cNvPr id="90" name="Forme 69"/>
          <p:cNvCxnSpPr>
            <a:stCxn id="89" idx="0"/>
            <a:endCxn id="26" idx="2"/>
          </p:cNvCxnSpPr>
          <p:nvPr/>
        </p:nvCxnSpPr>
        <p:spPr>
          <a:xfrm rot="5400000" flipH="1" flipV="1">
            <a:off x="6215075" y="2393150"/>
            <a:ext cx="785817" cy="1588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ZoneTexte 90"/>
          <p:cNvSpPr txBox="1"/>
          <p:nvPr/>
        </p:nvSpPr>
        <p:spPr>
          <a:xfrm>
            <a:off x="5143536" y="2285992"/>
            <a:ext cx="150016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/>
            <a:r>
              <a:rPr lang="fr-FR" sz="1100" dirty="0" err="1">
                <a:latin typeface="Century Gothic" pitchFamily="34" charset="0"/>
              </a:rPr>
              <a:t>schema:mainEntity</a:t>
            </a:r>
            <a:endParaRPr lang="en-US" sz="1100" dirty="0">
              <a:latin typeface="Century Gothic" pitchFamily="34" charset="0"/>
            </a:endParaRPr>
          </a:p>
        </p:txBody>
      </p:sp>
      <p:cxnSp>
        <p:nvCxnSpPr>
          <p:cNvPr id="95" name="Forme 69"/>
          <p:cNvCxnSpPr>
            <a:stCxn id="89" idx="2"/>
            <a:endCxn id="100" idx="3"/>
          </p:cNvCxnSpPr>
          <p:nvPr/>
        </p:nvCxnSpPr>
        <p:spPr>
          <a:xfrm rot="5400000">
            <a:off x="6268653" y="3446860"/>
            <a:ext cx="428628" cy="250033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ZoneTexte 97"/>
          <p:cNvSpPr txBox="1"/>
          <p:nvPr/>
        </p:nvSpPr>
        <p:spPr>
          <a:xfrm>
            <a:off x="6572264" y="3381703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bf:status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00" name="Rectangle à coins arrondis 99"/>
          <p:cNvSpPr/>
          <p:nvPr/>
        </p:nvSpPr>
        <p:spPr>
          <a:xfrm>
            <a:off x="3500430" y="3429000"/>
            <a:ext cx="2857520" cy="714380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/>
            <a:r>
              <a:rPr lang="fr-FR" sz="1200" dirty="0" err="1">
                <a:solidFill>
                  <a:prstClr val="black"/>
                </a:solidFill>
                <a:latin typeface="Century Gothic" pitchFamily="34" charset="0"/>
              </a:rPr>
              <a:t>recordStatus:Register</a:t>
            </a:r>
            <a:endParaRPr lang="fr-FR" sz="1200" dirty="0">
              <a:solidFill>
                <a:prstClr val="black"/>
              </a:solidFill>
              <a:latin typeface="Century Gothic" pitchFamily="34" charset="0"/>
            </a:endParaRPr>
          </a:p>
          <a:p>
            <a:pPr algn="r"/>
            <a:r>
              <a:rPr lang="fr-FR" sz="1200" i="1" dirty="0">
                <a:solidFill>
                  <a:prstClr val="black"/>
                </a:solidFill>
                <a:latin typeface="Century Gothic" pitchFamily="34" charset="0"/>
              </a:rPr>
              <a:t>or</a:t>
            </a:r>
            <a:r>
              <a:rPr lang="fr-FR" sz="1200" dirty="0">
                <a:solidFill>
                  <a:prstClr val="black"/>
                </a:solidFill>
                <a:latin typeface="Century Gothic" pitchFamily="34" charset="0"/>
              </a:rPr>
              <a:t>  </a:t>
            </a:r>
            <a:r>
              <a:rPr lang="fr-FR" sz="1200" dirty="0" err="1">
                <a:solidFill>
                  <a:prstClr val="black"/>
                </a:solidFill>
                <a:latin typeface="Century Gothic" pitchFamily="34" charset="0"/>
              </a:rPr>
              <a:t>recordStatus:Legacy</a:t>
            </a:r>
            <a:endParaRPr lang="fr-FR" sz="1200" dirty="0">
              <a:solidFill>
                <a:prstClr val="black"/>
              </a:solidFill>
              <a:latin typeface="Century Gothic" pitchFamily="34" charset="0"/>
            </a:endParaRPr>
          </a:p>
          <a:p>
            <a:pPr algn="r"/>
            <a:r>
              <a:rPr lang="fr-FR" sz="1200" i="1" dirty="0">
                <a:solidFill>
                  <a:prstClr val="black"/>
                </a:solidFill>
                <a:latin typeface="Century Gothic" pitchFamily="34" charset="0"/>
              </a:rPr>
              <a:t>or</a:t>
            </a:r>
            <a:r>
              <a:rPr lang="fr-FR" sz="1200" dirty="0">
                <a:solidFill>
                  <a:prstClr val="black"/>
                </a:solidFill>
                <a:latin typeface="Century Gothic" pitchFamily="34" charset="0"/>
              </a:rPr>
              <a:t>  </a:t>
            </a:r>
            <a:r>
              <a:rPr lang="fr-FR" sz="1200" dirty="0" err="1">
                <a:solidFill>
                  <a:prstClr val="black"/>
                </a:solidFill>
                <a:latin typeface="Century Gothic" pitchFamily="34" charset="0"/>
              </a:rPr>
              <a:t>recordStatus:Provisional</a:t>
            </a:r>
            <a:endParaRPr lang="fr-FR" sz="1200" dirty="0">
              <a:solidFill>
                <a:prstClr val="black"/>
              </a:solidFill>
              <a:latin typeface="Century Gothic" pitchFamily="34" charset="0"/>
            </a:endParaRPr>
          </a:p>
          <a:p>
            <a:pPr algn="r"/>
            <a:endParaRPr lang="fr-FR" sz="1200" dirty="0">
              <a:solidFill>
                <a:prstClr val="black"/>
              </a:solidFill>
              <a:latin typeface="Century Gothic" pitchFamily="34" charset="0"/>
            </a:endParaRPr>
          </a:p>
        </p:txBody>
      </p:sp>
      <p:cxnSp>
        <p:nvCxnSpPr>
          <p:cNvPr id="109" name="Forme 69"/>
          <p:cNvCxnSpPr>
            <a:stCxn id="72" idx="2"/>
            <a:endCxn id="111" idx="3"/>
          </p:cNvCxnSpPr>
          <p:nvPr/>
        </p:nvCxnSpPr>
        <p:spPr>
          <a:xfrm rot="5400000">
            <a:off x="6553379" y="6124758"/>
            <a:ext cx="154453" cy="240509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ZoneTexte 109"/>
          <p:cNvSpPr txBox="1"/>
          <p:nvPr/>
        </p:nvSpPr>
        <p:spPr>
          <a:xfrm>
            <a:off x="6724664" y="6167786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bf:status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11" name="Rectangle à coins arrondis 110"/>
          <p:cNvSpPr/>
          <p:nvPr/>
        </p:nvSpPr>
        <p:spPr>
          <a:xfrm>
            <a:off x="4367210" y="6215083"/>
            <a:ext cx="2143140" cy="214312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/>
            <a:r>
              <a:rPr lang="fr-FR" sz="1200" dirty="0" err="1">
                <a:solidFill>
                  <a:prstClr val="black"/>
                </a:solidFill>
                <a:latin typeface="Century Gothic" pitchFamily="34" charset="0"/>
              </a:rPr>
              <a:t>recordStatus:Cancelled</a:t>
            </a:r>
            <a:r>
              <a:rPr lang="fr-FR" sz="1200" dirty="0">
                <a:solidFill>
                  <a:prstClr val="black"/>
                </a:solidFill>
                <a:latin typeface="Century Gothic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à coins arrondis 60"/>
          <p:cNvSpPr/>
          <p:nvPr/>
        </p:nvSpPr>
        <p:spPr>
          <a:xfrm>
            <a:off x="5500694" y="3476296"/>
            <a:ext cx="3429024" cy="300039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25000"/>
            </a:schemeClr>
          </a:solidFill>
          <a:ln w="22225">
            <a:solidFill>
              <a:schemeClr val="bg1">
                <a:lumMod val="65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fr-FR" sz="1100" i="1" dirty="0" err="1">
                <a:solidFill>
                  <a:prstClr val="black"/>
                </a:solidFill>
                <a:latin typeface="Century Gothic" pitchFamily="34" charset="0"/>
              </a:rPr>
              <a:t>Same</a:t>
            </a:r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 </a:t>
            </a:r>
            <a:r>
              <a:rPr lang="fr-FR" sz="1100" i="1" dirty="0" err="1">
                <a:solidFill>
                  <a:prstClr val="black"/>
                </a:solidFill>
                <a:latin typeface="Century Gothic" pitchFamily="34" charset="0"/>
              </a:rPr>
              <a:t>modelling</a:t>
            </a:r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 pattern for </a:t>
            </a:r>
            <a:r>
              <a:rPr lang="fr-FR" sz="1100" i="1" dirty="0" err="1">
                <a:solidFill>
                  <a:prstClr val="black"/>
                </a:solidFill>
                <a:latin typeface="Century Gothic" pitchFamily="34" charset="0"/>
              </a:rPr>
              <a:t>each</a:t>
            </a:r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 </a:t>
            </a:r>
            <a:r>
              <a:rPr lang="fr-FR" sz="1100" i="1" dirty="0" err="1">
                <a:solidFill>
                  <a:prstClr val="black"/>
                </a:solidFill>
                <a:latin typeface="Century Gothic" pitchFamily="34" charset="0"/>
              </a:rPr>
              <a:t>event</a:t>
            </a:r>
            <a:endParaRPr lang="fr-FR" sz="1100" i="1" dirty="0">
              <a:solidFill>
                <a:prstClr val="black"/>
              </a:solidFill>
              <a:latin typeface="Century Gothic" pitchFamily="34" charset="0"/>
            </a:endParaRPr>
          </a:p>
        </p:txBody>
      </p:sp>
      <p:sp>
        <p:nvSpPr>
          <p:cNvPr id="59" name="Rectangle à coins arrondis 58"/>
          <p:cNvSpPr/>
          <p:nvPr/>
        </p:nvSpPr>
        <p:spPr>
          <a:xfrm>
            <a:off x="214282" y="3476296"/>
            <a:ext cx="4572032" cy="300039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25000"/>
            </a:schemeClr>
          </a:solidFill>
          <a:ln w="22225">
            <a:solidFill>
              <a:schemeClr val="bg1">
                <a:lumMod val="65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</p:txBody>
      </p:sp>
      <p:sp>
        <p:nvSpPr>
          <p:cNvPr id="3" name="Rectangle à coins arrondis 2"/>
          <p:cNvSpPr/>
          <p:nvPr/>
        </p:nvSpPr>
        <p:spPr>
          <a:xfrm>
            <a:off x="357158" y="2428868"/>
            <a:ext cx="2500330" cy="571504"/>
          </a:xfrm>
          <a:prstGeom prst="roundRect">
            <a:avLst>
              <a:gd name="adj" fmla="val 2144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#</a:t>
            </a:r>
            <a:r>
              <a:rPr lang="fr-FR" sz="1200" b="1" dirty="0" err="1">
                <a:solidFill>
                  <a:schemeClr val="tx1"/>
                </a:solidFill>
                <a:latin typeface="Century Gothic" pitchFamily="34" charset="0"/>
              </a:rPr>
              <a:t>ReferencePublicationEvent</a:t>
            </a:r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schema:PublicationEvent</a:t>
            </a:r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357158" y="4762180"/>
            <a:ext cx="2000264" cy="714380"/>
          </a:xfrm>
          <a:prstGeom prst="roundRect">
            <a:avLst>
              <a:gd name="adj" fmla="val 15282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#</a:t>
            </a:r>
            <a:r>
              <a:rPr lang="fr-FR" sz="1200" b="1" dirty="0" err="1">
                <a:solidFill>
                  <a:schemeClr val="tx1"/>
                </a:solidFill>
                <a:latin typeface="Century Gothic" pitchFamily="34" charset="0"/>
              </a:rPr>
              <a:t>PublicationPlace</a:t>
            </a:r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-{</a:t>
            </a:r>
            <a:r>
              <a:rPr lang="fr-FR" sz="1200" b="1" dirty="0" err="1">
                <a:solidFill>
                  <a:schemeClr val="tx1"/>
                </a:solidFill>
                <a:latin typeface="Century Gothic" pitchFamily="34" charset="0"/>
              </a:rPr>
              <a:t>placename</a:t>
            </a:r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} : </a:t>
            </a:r>
          </a:p>
          <a:p>
            <a:pPr algn="ctr"/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schema:Place</a:t>
            </a:r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</p:txBody>
      </p:sp>
      <p:cxnSp>
        <p:nvCxnSpPr>
          <p:cNvPr id="6" name="Forme 69"/>
          <p:cNvCxnSpPr>
            <a:stCxn id="78" idx="2"/>
            <a:endCxn id="3" idx="3"/>
          </p:cNvCxnSpPr>
          <p:nvPr/>
        </p:nvCxnSpPr>
        <p:spPr>
          <a:xfrm rot="5400000">
            <a:off x="3393257" y="1678785"/>
            <a:ext cx="500066" cy="1571604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/>
          <p:cNvSpPr txBox="1"/>
          <p:nvPr/>
        </p:nvSpPr>
        <p:spPr>
          <a:xfrm>
            <a:off x="2857456" y="2357430"/>
            <a:ext cx="157163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/>
            <a:r>
              <a:rPr lang="fr-FR" sz="1100" dirty="0" err="1">
                <a:latin typeface="Century Gothic" pitchFamily="34" charset="0"/>
              </a:rPr>
              <a:t>schema:publication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4" name="Rectangle à coins arrondis 13"/>
          <p:cNvSpPr/>
          <p:nvPr/>
        </p:nvSpPr>
        <p:spPr>
          <a:xfrm>
            <a:off x="2571736" y="4762180"/>
            <a:ext cx="1928826" cy="809960"/>
          </a:xfrm>
          <a:prstGeom prst="roundRect">
            <a:avLst>
              <a:gd name="adj" fmla="val 19681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#Publisher-{</a:t>
            </a:r>
            <a:r>
              <a:rPr lang="fr-FR" sz="1200" b="1" dirty="0" err="1">
                <a:solidFill>
                  <a:schemeClr val="tx1"/>
                </a:solidFill>
                <a:latin typeface="Century Gothic" pitchFamily="34" charset="0"/>
              </a:rPr>
              <a:t>publisherName</a:t>
            </a:r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}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schema:Organization</a:t>
            </a:r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</p:txBody>
      </p:sp>
      <p:cxnSp>
        <p:nvCxnSpPr>
          <p:cNvPr id="19" name="Forme 69"/>
          <p:cNvCxnSpPr>
            <a:stCxn id="114" idx="2"/>
            <a:endCxn id="14" idx="3"/>
          </p:cNvCxnSpPr>
          <p:nvPr/>
        </p:nvCxnSpPr>
        <p:spPr>
          <a:xfrm rot="5400000">
            <a:off x="3345730" y="3369386"/>
            <a:ext cx="2952606" cy="642942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/>
          <p:cNvSpPr txBox="1"/>
          <p:nvPr/>
        </p:nvSpPr>
        <p:spPr>
          <a:xfrm>
            <a:off x="5143504" y="3024514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schema:publisher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27" name="ZoneTexte 26"/>
          <p:cNvSpPr txBox="1"/>
          <p:nvPr/>
        </p:nvSpPr>
        <p:spPr>
          <a:xfrm>
            <a:off x="4143372" y="-24"/>
            <a:ext cx="228601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/>
            <a:r>
              <a:rPr lang="fr-FR" sz="1100" dirty="0" err="1">
                <a:latin typeface="Century Gothic" pitchFamily="34" charset="0"/>
              </a:rPr>
              <a:t>schema:parentOrganization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28" name="Rectangle à coins arrondis 27"/>
          <p:cNvSpPr/>
          <p:nvPr/>
        </p:nvSpPr>
        <p:spPr>
          <a:xfrm>
            <a:off x="357158" y="5833750"/>
            <a:ext cx="3643338" cy="571504"/>
          </a:xfrm>
          <a:prstGeom prst="roundRect">
            <a:avLst>
              <a:gd name="adj" fmla="val 19367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100" b="1" dirty="0">
                <a:solidFill>
                  <a:schemeClr val="tx1"/>
                </a:solidFill>
                <a:latin typeface="Century Gothic" pitchFamily="34" charset="0"/>
              </a:rPr>
              <a:t>#</a:t>
            </a:r>
            <a:r>
              <a:rPr lang="fr-FR" sz="1100" b="1" dirty="0" err="1">
                <a:solidFill>
                  <a:schemeClr val="tx1"/>
                </a:solidFill>
                <a:latin typeface="Century Gothic" pitchFamily="34" charset="0"/>
              </a:rPr>
              <a:t>PublicationPlace</a:t>
            </a:r>
            <a:r>
              <a:rPr lang="fr-FR" sz="1100" b="1" dirty="0">
                <a:solidFill>
                  <a:schemeClr val="tx1"/>
                </a:solidFill>
                <a:latin typeface="Century Gothic" pitchFamily="34" charset="0"/>
              </a:rPr>
              <a:t>-{</a:t>
            </a:r>
            <a:r>
              <a:rPr lang="fr-FR" sz="1100" b="1" dirty="0" err="1">
                <a:solidFill>
                  <a:schemeClr val="tx1"/>
                </a:solidFill>
                <a:latin typeface="Century Gothic" pitchFamily="34" charset="0"/>
              </a:rPr>
              <a:t>placename</a:t>
            </a:r>
            <a:r>
              <a:rPr lang="fr-FR" sz="1100" b="1" dirty="0">
                <a:solidFill>
                  <a:schemeClr val="tx1"/>
                </a:solidFill>
                <a:latin typeface="Century Gothic" pitchFamily="34" charset="0"/>
              </a:rPr>
              <a:t>}-</a:t>
            </a:r>
            <a:r>
              <a:rPr lang="fr-FR" sz="1100" b="1" dirty="0" err="1">
                <a:solidFill>
                  <a:schemeClr val="tx1"/>
                </a:solidFill>
                <a:latin typeface="Century Gothic" pitchFamily="34" charset="0"/>
              </a:rPr>
              <a:t>GeoCoordinates</a:t>
            </a:r>
            <a:r>
              <a:rPr lang="fr-FR" sz="1100" b="1" dirty="0">
                <a:solidFill>
                  <a:schemeClr val="tx1"/>
                </a:solidFill>
                <a:latin typeface="Century Gothic" pitchFamily="34" charset="0"/>
              </a:rPr>
              <a:t>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schema:GeoCoordinates</a:t>
            </a:r>
            <a:r>
              <a:rPr lang="fr-FR" sz="1050" dirty="0">
                <a:solidFill>
                  <a:prstClr val="black"/>
                </a:solidFill>
                <a:latin typeface="Century Gothic" pitchFamily="34" charset="0"/>
              </a:rPr>
              <a:t> </a:t>
            </a:r>
          </a:p>
        </p:txBody>
      </p:sp>
      <p:cxnSp>
        <p:nvCxnSpPr>
          <p:cNvPr id="29" name="Forme 69"/>
          <p:cNvCxnSpPr>
            <a:stCxn id="5" idx="2"/>
            <a:endCxn id="185" idx="0"/>
          </p:cNvCxnSpPr>
          <p:nvPr/>
        </p:nvCxnSpPr>
        <p:spPr>
          <a:xfrm rot="5400000">
            <a:off x="1178695" y="5655155"/>
            <a:ext cx="357190" cy="158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ZoneTexte 31"/>
          <p:cNvSpPr txBox="1"/>
          <p:nvPr/>
        </p:nvSpPr>
        <p:spPr>
          <a:xfrm>
            <a:off x="1071538" y="5500702"/>
            <a:ext cx="135732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/>
            <a:r>
              <a:rPr lang="fr-FR" sz="1100" dirty="0" err="1">
                <a:latin typeface="Century Gothic" pitchFamily="34" charset="0"/>
              </a:rPr>
              <a:t>schema:geo</a:t>
            </a:r>
            <a:endParaRPr lang="en-US" sz="1100" dirty="0">
              <a:latin typeface="Century Gothic" pitchFamily="34" charset="0"/>
            </a:endParaRPr>
          </a:p>
        </p:txBody>
      </p:sp>
      <p:cxnSp>
        <p:nvCxnSpPr>
          <p:cNvPr id="37" name="Forme 69"/>
          <p:cNvCxnSpPr>
            <a:stCxn id="161" idx="2"/>
            <a:endCxn id="60" idx="0"/>
          </p:cNvCxnSpPr>
          <p:nvPr/>
        </p:nvCxnSpPr>
        <p:spPr>
          <a:xfrm rot="16200000" flipH="1">
            <a:off x="5852095" y="2577532"/>
            <a:ext cx="1404618" cy="67866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ZoneTexte 46"/>
          <p:cNvSpPr txBox="1"/>
          <p:nvPr/>
        </p:nvSpPr>
        <p:spPr>
          <a:xfrm>
            <a:off x="6215074" y="2643182"/>
            <a:ext cx="192885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schema:publication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62" name="ZoneTexte 61"/>
          <p:cNvSpPr txBox="1"/>
          <p:nvPr/>
        </p:nvSpPr>
        <p:spPr>
          <a:xfrm>
            <a:off x="285720" y="4286256"/>
            <a:ext cx="135732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schema:location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77" name="ZoneTexte 76"/>
          <p:cNvSpPr txBox="1"/>
          <p:nvPr/>
        </p:nvSpPr>
        <p:spPr>
          <a:xfrm>
            <a:off x="0" y="6572272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Relative </a:t>
            </a:r>
            <a:r>
              <a:rPr lang="fr-FR" sz="1200" i="1" dirty="0" err="1"/>
              <a:t>URIs</a:t>
            </a:r>
            <a:r>
              <a:rPr lang="fr-FR" sz="1200" i="1" dirty="0"/>
              <a:t> (</a:t>
            </a:r>
            <a:r>
              <a:rPr lang="fr-FR" sz="1200" i="1" dirty="0" err="1"/>
              <a:t>beginning</a:t>
            </a:r>
            <a:r>
              <a:rPr lang="fr-FR" sz="1200" i="1" dirty="0"/>
              <a:t> </a:t>
            </a:r>
            <a:r>
              <a:rPr lang="fr-FR" sz="1200" i="1" dirty="0" err="1"/>
              <a:t>with</a:t>
            </a:r>
            <a:r>
              <a:rPr lang="fr-FR" sz="1200" i="1" dirty="0"/>
              <a:t> #) are relative to the ISSN </a:t>
            </a:r>
            <a:r>
              <a:rPr lang="fr-FR" sz="1200" i="1" dirty="0" err="1"/>
              <a:t>resource</a:t>
            </a:r>
            <a:r>
              <a:rPr lang="fr-FR" sz="1200" i="1" dirty="0"/>
              <a:t> URI : http://issn.org/resource/ISSN/{ISSN}</a:t>
            </a:r>
            <a:endParaRPr lang="en-US" sz="1200" i="1" dirty="0"/>
          </a:p>
        </p:txBody>
      </p:sp>
      <p:sp>
        <p:nvSpPr>
          <p:cNvPr id="35" name="Rectangle à coins arrondis 34"/>
          <p:cNvSpPr/>
          <p:nvPr/>
        </p:nvSpPr>
        <p:spPr>
          <a:xfrm>
            <a:off x="4143340" y="1428736"/>
            <a:ext cx="2714676" cy="785818"/>
          </a:xfrm>
          <a:prstGeom prst="roundRect">
            <a:avLst>
              <a:gd name="adj" fmla="val 18680"/>
            </a:avLst>
          </a:prstGeom>
          <a:solidFill>
            <a:srgbClr val="F5E4E3"/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050" b="1" dirty="0">
                <a:solidFill>
                  <a:schemeClr val="tx1"/>
                </a:solidFill>
                <a:latin typeface="Century Gothic" pitchFamily="34" charset="0"/>
              </a:rPr>
              <a:t>http://issn.org/resource/ISSN/</a:t>
            </a:r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{ISSN}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bf:Work</a:t>
            </a:r>
            <a:r>
              <a:rPr lang="fr-FR" sz="1050" dirty="0">
                <a:solidFill>
                  <a:prstClr val="black"/>
                </a:solidFill>
                <a:latin typeface="Century Gothic" pitchFamily="34" charset="0"/>
              </a:rPr>
              <a:t>,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bf:Instance</a:t>
            </a:r>
            <a:r>
              <a:rPr lang="fr-FR" sz="1050" dirty="0">
                <a:solidFill>
                  <a:prstClr val="black"/>
                </a:solidFill>
                <a:latin typeface="Century Gothic" pitchFamily="34" charset="0"/>
              </a:rPr>
              <a:t>, 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schema:Periodical</a:t>
            </a:r>
            <a:endParaRPr lang="en-US" sz="12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cxnSp>
        <p:nvCxnSpPr>
          <p:cNvPr id="46" name="Forme 69"/>
          <p:cNvCxnSpPr>
            <a:stCxn id="35" idx="1"/>
            <a:endCxn id="54" idx="3"/>
          </p:cNvCxnSpPr>
          <p:nvPr/>
        </p:nvCxnSpPr>
        <p:spPr>
          <a:xfrm rot="10800000">
            <a:off x="3295640" y="1571613"/>
            <a:ext cx="847700" cy="250033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ZoneTexte 50"/>
          <p:cNvSpPr txBox="1"/>
          <p:nvPr/>
        </p:nvSpPr>
        <p:spPr>
          <a:xfrm>
            <a:off x="3295640" y="1285860"/>
            <a:ext cx="1133484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dct:spatial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54" name="Rectangle à coins arrondis 53"/>
          <p:cNvSpPr/>
          <p:nvPr/>
        </p:nvSpPr>
        <p:spPr>
          <a:xfrm>
            <a:off x="1785918" y="1428736"/>
            <a:ext cx="1509722" cy="285752"/>
          </a:xfrm>
          <a:prstGeom prst="roundRect">
            <a:avLst>
              <a:gd name="adj" fmla="val 2144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100" b="1" dirty="0">
                <a:solidFill>
                  <a:schemeClr val="tx1"/>
                </a:solidFill>
                <a:latin typeface="Century Gothic" pitchFamily="34" charset="0"/>
              </a:rPr>
              <a:t>MARC Country URI</a:t>
            </a:r>
            <a:endParaRPr lang="fr-FR" sz="1000" dirty="0">
              <a:solidFill>
                <a:prstClr val="black"/>
              </a:solidFill>
              <a:latin typeface="Century Gothic" pitchFamily="34" charset="0"/>
            </a:endParaRPr>
          </a:p>
        </p:txBody>
      </p:sp>
      <p:sp>
        <p:nvSpPr>
          <p:cNvPr id="66" name="Rectangle à coins arrondis 65"/>
          <p:cNvSpPr/>
          <p:nvPr/>
        </p:nvSpPr>
        <p:spPr>
          <a:xfrm>
            <a:off x="1785918" y="1857364"/>
            <a:ext cx="1509722" cy="285752"/>
          </a:xfrm>
          <a:prstGeom prst="roundRect">
            <a:avLst>
              <a:gd name="adj" fmla="val 2144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100" b="1" dirty="0">
                <a:solidFill>
                  <a:schemeClr val="tx1"/>
                </a:solidFill>
                <a:latin typeface="Century Gothic" pitchFamily="34" charset="0"/>
              </a:rPr>
              <a:t>ISO Country URI</a:t>
            </a:r>
            <a:endParaRPr lang="fr-FR" sz="1000" dirty="0">
              <a:solidFill>
                <a:prstClr val="black"/>
              </a:solidFill>
              <a:latin typeface="Century Gothic" pitchFamily="34" charset="0"/>
            </a:endParaRPr>
          </a:p>
        </p:txBody>
      </p:sp>
      <p:cxnSp>
        <p:nvCxnSpPr>
          <p:cNvPr id="67" name="Forme 69"/>
          <p:cNvCxnSpPr>
            <a:stCxn id="35" idx="1"/>
            <a:endCxn id="66" idx="3"/>
          </p:cNvCxnSpPr>
          <p:nvPr/>
        </p:nvCxnSpPr>
        <p:spPr>
          <a:xfrm rot="10800000" flipV="1">
            <a:off x="3295640" y="1821644"/>
            <a:ext cx="847700" cy="178595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ZoneTexte 69"/>
          <p:cNvSpPr txBox="1"/>
          <p:nvPr/>
        </p:nvSpPr>
        <p:spPr>
          <a:xfrm>
            <a:off x="3295640" y="2000240"/>
            <a:ext cx="1133484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dct:spatial</a:t>
            </a:r>
            <a:endParaRPr lang="en-US" sz="1100" dirty="0">
              <a:latin typeface="Century Gothic" pitchFamily="34" charset="0"/>
            </a:endParaRPr>
          </a:p>
        </p:txBody>
      </p:sp>
      <p:cxnSp>
        <p:nvCxnSpPr>
          <p:cNvPr id="52" name="Forme 69"/>
          <p:cNvCxnSpPr>
            <a:stCxn id="3" idx="0"/>
            <a:endCxn id="66" idx="1"/>
          </p:cNvCxnSpPr>
          <p:nvPr/>
        </p:nvCxnSpPr>
        <p:spPr>
          <a:xfrm rot="5400000" flipH="1" flipV="1">
            <a:off x="1482306" y="2125257"/>
            <a:ext cx="428628" cy="178595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Forme 69"/>
          <p:cNvCxnSpPr>
            <a:stCxn id="3" idx="0"/>
            <a:endCxn id="54" idx="1"/>
          </p:cNvCxnSpPr>
          <p:nvPr/>
        </p:nvCxnSpPr>
        <p:spPr>
          <a:xfrm rot="5400000" flipH="1" flipV="1">
            <a:off x="1267992" y="1910943"/>
            <a:ext cx="857256" cy="178595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4357654" y="2071678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ZoneTexte 80"/>
          <p:cNvSpPr txBox="1"/>
          <p:nvPr/>
        </p:nvSpPr>
        <p:spPr>
          <a:xfrm>
            <a:off x="214282" y="1452878"/>
            <a:ext cx="1357290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/>
            <a:r>
              <a:rPr lang="fr-FR" sz="1100" dirty="0" err="1">
                <a:latin typeface="Century Gothic" pitchFamily="34" charset="0"/>
              </a:rPr>
              <a:t>schema:location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00" name="Rectangle à coins arrondis 99"/>
          <p:cNvSpPr/>
          <p:nvPr/>
        </p:nvSpPr>
        <p:spPr>
          <a:xfrm>
            <a:off x="357158" y="3643314"/>
            <a:ext cx="2500330" cy="571504"/>
          </a:xfrm>
          <a:prstGeom prst="roundRect">
            <a:avLst>
              <a:gd name="adj" fmla="val 21440"/>
            </a:avLst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#</a:t>
            </a:r>
            <a:r>
              <a:rPr lang="fr-FR" sz="1200" b="1" dirty="0" err="1">
                <a:solidFill>
                  <a:schemeClr val="tx1"/>
                </a:solidFill>
                <a:latin typeface="Century Gothic" pitchFamily="34" charset="0"/>
              </a:rPr>
              <a:t>EarliestPublicationEvent</a:t>
            </a:r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schema:PublicationEvent</a:t>
            </a:r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</p:txBody>
      </p:sp>
      <p:cxnSp>
        <p:nvCxnSpPr>
          <p:cNvPr id="102" name="Forme 69"/>
          <p:cNvCxnSpPr>
            <a:stCxn id="100" idx="2"/>
            <a:endCxn id="5" idx="0"/>
          </p:cNvCxnSpPr>
          <p:nvPr/>
        </p:nvCxnSpPr>
        <p:spPr>
          <a:xfrm rot="5400000">
            <a:off x="1208626" y="4363483"/>
            <a:ext cx="547362" cy="250033"/>
          </a:xfrm>
          <a:prstGeom prst="bentConnector3">
            <a:avLst>
              <a:gd name="adj1" fmla="val 62375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Forme 69"/>
          <p:cNvCxnSpPr>
            <a:stCxn id="100" idx="2"/>
            <a:endCxn id="14" idx="0"/>
          </p:cNvCxnSpPr>
          <p:nvPr/>
        </p:nvCxnSpPr>
        <p:spPr>
          <a:xfrm rot="16200000" flipH="1">
            <a:off x="2298055" y="3524086"/>
            <a:ext cx="547362" cy="192882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ZoneTexte 107"/>
          <p:cNvSpPr txBox="1"/>
          <p:nvPr/>
        </p:nvSpPr>
        <p:spPr>
          <a:xfrm>
            <a:off x="1714480" y="4286256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schema:publishedBy</a:t>
            </a:r>
            <a:endParaRPr lang="en-US" sz="1100" dirty="0">
              <a:latin typeface="Century Gothic" pitchFamily="34" charset="0"/>
            </a:endParaRPr>
          </a:p>
        </p:txBody>
      </p:sp>
      <p:cxnSp>
        <p:nvCxnSpPr>
          <p:cNvPr id="117" name="Forme 69"/>
          <p:cNvCxnSpPr>
            <a:stCxn id="100" idx="3"/>
            <a:endCxn id="121" idx="1"/>
          </p:cNvCxnSpPr>
          <p:nvPr/>
        </p:nvCxnSpPr>
        <p:spPr>
          <a:xfrm>
            <a:off x="2857488" y="3929066"/>
            <a:ext cx="1428760" cy="158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ZoneTexte 118"/>
          <p:cNvSpPr txBox="1"/>
          <p:nvPr/>
        </p:nvSpPr>
        <p:spPr>
          <a:xfrm>
            <a:off x="2786082" y="3596018"/>
            <a:ext cx="150016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 err="1">
                <a:latin typeface="Century Gothic" pitchFamily="34" charset="0"/>
              </a:rPr>
              <a:t>dcterms:temporal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21" name="Rectangle à coins arrondis 120"/>
          <p:cNvSpPr/>
          <p:nvPr/>
        </p:nvSpPr>
        <p:spPr>
          <a:xfrm>
            <a:off x="4286248" y="3857628"/>
            <a:ext cx="500066" cy="142876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200" b="1" dirty="0">
                <a:solidFill>
                  <a:prstClr val="black"/>
                </a:solidFill>
                <a:latin typeface="Century Gothic" pitchFamily="34" charset="0"/>
              </a:rPr>
              <a:t>"…"</a:t>
            </a:r>
          </a:p>
        </p:txBody>
      </p:sp>
      <p:sp>
        <p:nvSpPr>
          <p:cNvPr id="130" name="ZoneTexte 129"/>
          <p:cNvSpPr txBox="1"/>
          <p:nvPr/>
        </p:nvSpPr>
        <p:spPr>
          <a:xfrm>
            <a:off x="214282" y="1881506"/>
            <a:ext cx="1357290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/>
            <a:r>
              <a:rPr lang="fr-FR" sz="1100" dirty="0" err="1">
                <a:latin typeface="Century Gothic" pitchFamily="34" charset="0"/>
              </a:rPr>
              <a:t>schema:location</a:t>
            </a:r>
            <a:endParaRPr lang="en-US" sz="1100" dirty="0">
              <a:latin typeface="Century Gothic" pitchFamily="34" charset="0"/>
            </a:endParaRPr>
          </a:p>
        </p:txBody>
      </p:sp>
      <p:cxnSp>
        <p:nvCxnSpPr>
          <p:cNvPr id="146" name="Forme 69"/>
          <p:cNvCxnSpPr>
            <a:stCxn id="78" idx="2"/>
            <a:endCxn id="100" idx="0"/>
          </p:cNvCxnSpPr>
          <p:nvPr/>
        </p:nvCxnSpPr>
        <p:spPr>
          <a:xfrm rot="5400000">
            <a:off x="2303828" y="1518050"/>
            <a:ext cx="1428760" cy="2821769"/>
          </a:xfrm>
          <a:prstGeom prst="bentConnector3">
            <a:avLst>
              <a:gd name="adj1" fmla="val 73704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ZoneTexte 150"/>
          <p:cNvSpPr txBox="1"/>
          <p:nvPr/>
        </p:nvSpPr>
        <p:spPr>
          <a:xfrm>
            <a:off x="2857488" y="3000372"/>
            <a:ext cx="157163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/>
            <a:r>
              <a:rPr lang="fr-FR" sz="1100" dirty="0" err="1">
                <a:latin typeface="Century Gothic" pitchFamily="34" charset="0"/>
              </a:rPr>
              <a:t>schema:publication</a:t>
            </a:r>
            <a:endParaRPr lang="en-US" sz="1100" dirty="0">
              <a:latin typeface="Century Gothic" pitchFamily="34" charset="0"/>
            </a:endParaRPr>
          </a:p>
        </p:txBody>
      </p:sp>
      <p:cxnSp>
        <p:nvCxnSpPr>
          <p:cNvPr id="152" name="Forme 69"/>
          <p:cNvCxnSpPr>
            <a:stCxn id="35" idx="3"/>
            <a:endCxn id="156" idx="1"/>
          </p:cNvCxnSpPr>
          <p:nvPr/>
        </p:nvCxnSpPr>
        <p:spPr>
          <a:xfrm flipV="1">
            <a:off x="6858016" y="1643050"/>
            <a:ext cx="1357322" cy="17859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Forme 69"/>
          <p:cNvCxnSpPr>
            <a:stCxn id="35" idx="3"/>
            <a:endCxn id="157" idx="1"/>
          </p:cNvCxnSpPr>
          <p:nvPr/>
        </p:nvCxnSpPr>
        <p:spPr>
          <a:xfrm>
            <a:off x="6858016" y="1821645"/>
            <a:ext cx="1357322" cy="10715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ZoneTexte 153"/>
          <p:cNvSpPr txBox="1"/>
          <p:nvPr/>
        </p:nvSpPr>
        <p:spPr>
          <a:xfrm>
            <a:off x="6786610" y="1285860"/>
            <a:ext cx="150016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 err="1">
                <a:latin typeface="Century Gothic" pitchFamily="34" charset="0"/>
              </a:rPr>
              <a:t>schema:startDate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55" name="ZoneTexte 154"/>
          <p:cNvSpPr txBox="1"/>
          <p:nvPr/>
        </p:nvSpPr>
        <p:spPr>
          <a:xfrm>
            <a:off x="6786610" y="2024382"/>
            <a:ext cx="150016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 err="1">
                <a:latin typeface="Century Gothic" pitchFamily="34" charset="0"/>
              </a:rPr>
              <a:t>schema:endDate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56" name="Rectangle à coins arrondis 155"/>
          <p:cNvSpPr/>
          <p:nvPr/>
        </p:nvSpPr>
        <p:spPr>
          <a:xfrm>
            <a:off x="8215338" y="1571612"/>
            <a:ext cx="500066" cy="142876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200" b="1" dirty="0">
                <a:solidFill>
                  <a:prstClr val="black"/>
                </a:solidFill>
                <a:latin typeface="Century Gothic" pitchFamily="34" charset="0"/>
              </a:rPr>
              <a:t>"…"</a:t>
            </a:r>
          </a:p>
        </p:txBody>
      </p:sp>
      <p:sp>
        <p:nvSpPr>
          <p:cNvPr id="157" name="Rectangle à coins arrondis 156"/>
          <p:cNvSpPr/>
          <p:nvPr/>
        </p:nvSpPr>
        <p:spPr>
          <a:xfrm>
            <a:off x="8215338" y="1857364"/>
            <a:ext cx="500066" cy="142876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200" b="1" dirty="0">
                <a:solidFill>
                  <a:prstClr val="black"/>
                </a:solidFill>
                <a:latin typeface="Century Gothic" pitchFamily="34" charset="0"/>
              </a:rPr>
              <a:t>"…"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143636" y="2071678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3" name="Rectangle à coins arrondis 162"/>
          <p:cNvSpPr/>
          <p:nvPr/>
        </p:nvSpPr>
        <p:spPr>
          <a:xfrm>
            <a:off x="1428728" y="524978"/>
            <a:ext cx="2000264" cy="571504"/>
          </a:xfrm>
          <a:prstGeom prst="roundRect">
            <a:avLst>
              <a:gd name="adj" fmla="val 2144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#</a:t>
            </a:r>
            <a:r>
              <a:rPr lang="fr-FR" sz="1200" b="1" dirty="0" err="1">
                <a:solidFill>
                  <a:schemeClr val="tx1"/>
                </a:solidFill>
                <a:latin typeface="Century Gothic" pitchFamily="34" charset="0"/>
              </a:rPr>
              <a:t>IssuingBody</a:t>
            </a:r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 –{</a:t>
            </a:r>
            <a:r>
              <a:rPr lang="fr-FR" sz="1200" b="1" dirty="0" err="1">
                <a:solidFill>
                  <a:schemeClr val="tx1"/>
                </a:solidFill>
                <a:latin typeface="Century Gothic" pitchFamily="34" charset="0"/>
              </a:rPr>
              <a:t>name</a:t>
            </a:r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}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schema:Organization</a:t>
            </a:r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</p:txBody>
      </p:sp>
      <p:cxnSp>
        <p:nvCxnSpPr>
          <p:cNvPr id="169" name="Forme 69"/>
          <p:cNvCxnSpPr>
            <a:stCxn id="74" idx="0"/>
            <a:endCxn id="116" idx="3"/>
          </p:cNvCxnSpPr>
          <p:nvPr/>
        </p:nvCxnSpPr>
        <p:spPr>
          <a:xfrm rot="16200000" flipV="1">
            <a:off x="4036215" y="321447"/>
            <a:ext cx="500066" cy="1714512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Rectangle à coins arrondis 171"/>
          <p:cNvSpPr/>
          <p:nvPr/>
        </p:nvSpPr>
        <p:spPr>
          <a:xfrm>
            <a:off x="6929454" y="524978"/>
            <a:ext cx="2000264" cy="571504"/>
          </a:xfrm>
          <a:prstGeom prst="roundRect">
            <a:avLst>
              <a:gd name="adj" fmla="val 2144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#</a:t>
            </a:r>
            <a:r>
              <a:rPr lang="fr-FR" sz="1200" b="1" dirty="0" err="1">
                <a:solidFill>
                  <a:schemeClr val="tx1"/>
                </a:solidFill>
                <a:latin typeface="Century Gothic" pitchFamily="34" charset="0"/>
              </a:rPr>
              <a:t>IssuingBody</a:t>
            </a:r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 –{</a:t>
            </a:r>
            <a:r>
              <a:rPr lang="fr-FR" sz="1200" b="1" dirty="0" err="1">
                <a:solidFill>
                  <a:schemeClr val="tx1"/>
                </a:solidFill>
                <a:latin typeface="Century Gothic" pitchFamily="34" charset="0"/>
              </a:rPr>
              <a:t>name</a:t>
            </a:r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}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schema:Organization</a:t>
            </a:r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</p:txBody>
      </p:sp>
      <p:cxnSp>
        <p:nvCxnSpPr>
          <p:cNvPr id="173" name="Forme 69"/>
          <p:cNvCxnSpPr>
            <a:stCxn id="73" idx="0"/>
            <a:endCxn id="113" idx="1"/>
          </p:cNvCxnSpPr>
          <p:nvPr/>
        </p:nvCxnSpPr>
        <p:spPr>
          <a:xfrm rot="5400000" flipH="1" flipV="1">
            <a:off x="5893603" y="392885"/>
            <a:ext cx="500066" cy="1571636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ZoneTexte 179"/>
          <p:cNvSpPr txBox="1"/>
          <p:nvPr/>
        </p:nvSpPr>
        <p:spPr>
          <a:xfrm>
            <a:off x="3500430" y="381308"/>
            <a:ext cx="157163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/>
            <a:r>
              <a:rPr lang="fr-FR" sz="1100" dirty="0" err="1">
                <a:latin typeface="Century Gothic" pitchFamily="34" charset="0"/>
              </a:rPr>
              <a:t>schema:contributor</a:t>
            </a:r>
            <a:endParaRPr lang="fr-FR" sz="1100" dirty="0">
              <a:latin typeface="Century Gothic" pitchFamily="34" charset="0"/>
            </a:endParaRPr>
          </a:p>
        </p:txBody>
      </p:sp>
      <p:cxnSp>
        <p:nvCxnSpPr>
          <p:cNvPr id="181" name="Forme 69"/>
          <p:cNvCxnSpPr>
            <a:stCxn id="163" idx="0"/>
            <a:endCxn id="172" idx="0"/>
          </p:cNvCxnSpPr>
          <p:nvPr/>
        </p:nvCxnSpPr>
        <p:spPr>
          <a:xfrm rot="5400000" flipH="1" flipV="1">
            <a:off x="5179223" y="-2225385"/>
            <a:ext cx="1588" cy="5500726"/>
          </a:xfrm>
          <a:prstGeom prst="bentConnector3">
            <a:avLst>
              <a:gd name="adj1" fmla="val 14395466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Rectangle 184"/>
          <p:cNvSpPr/>
          <p:nvPr/>
        </p:nvSpPr>
        <p:spPr>
          <a:xfrm>
            <a:off x="1285852" y="5833750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Rectangle à coins arrondis 59"/>
          <p:cNvSpPr/>
          <p:nvPr/>
        </p:nvSpPr>
        <p:spPr>
          <a:xfrm>
            <a:off x="5643570" y="3619172"/>
            <a:ext cx="2500330" cy="928694"/>
          </a:xfrm>
          <a:prstGeom prst="roundRect">
            <a:avLst>
              <a:gd name="adj" fmla="val 21440"/>
            </a:avLst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spcAft>
                <a:spcPts val="600"/>
              </a:spcAft>
            </a:pPr>
            <a:r>
              <a:rPr lang="fr-FR" sz="1100" i="1" dirty="0" err="1">
                <a:solidFill>
                  <a:schemeClr val="tx1"/>
                </a:solidFill>
                <a:latin typeface="Century Gothic" pitchFamily="34" charset="0"/>
              </a:rPr>
              <a:t>Other</a:t>
            </a:r>
            <a:r>
              <a:rPr lang="fr-FR" sz="1100" i="1" dirty="0">
                <a:solidFill>
                  <a:schemeClr val="tx1"/>
                </a:solidFill>
                <a:latin typeface="Century Gothic" pitchFamily="34" charset="0"/>
              </a:rPr>
              <a:t> publication </a:t>
            </a:r>
            <a:r>
              <a:rPr lang="fr-FR" sz="1100" i="1" dirty="0" err="1">
                <a:solidFill>
                  <a:schemeClr val="tx1"/>
                </a:solidFill>
                <a:latin typeface="Century Gothic" pitchFamily="34" charset="0"/>
              </a:rPr>
              <a:t>events</a:t>
            </a:r>
            <a:r>
              <a:rPr lang="fr-FR" sz="1100" i="1" dirty="0">
                <a:solidFill>
                  <a:schemeClr val="tx1"/>
                </a:solidFill>
                <a:latin typeface="Century Gothic" pitchFamily="34" charset="0"/>
              </a:rPr>
              <a:t> : </a:t>
            </a:r>
          </a:p>
          <a:p>
            <a:pPr algn="ctr"/>
            <a:r>
              <a:rPr lang="fr-FR" sz="1100" b="1" dirty="0">
                <a:solidFill>
                  <a:schemeClr val="tx1"/>
                </a:solidFill>
                <a:latin typeface="Century Gothic" pitchFamily="34" charset="0"/>
              </a:rPr>
              <a:t>#</a:t>
            </a:r>
            <a:r>
              <a:rPr lang="fr-FR" sz="1100" b="1" dirty="0" err="1">
                <a:solidFill>
                  <a:schemeClr val="tx1"/>
                </a:solidFill>
                <a:latin typeface="Century Gothic" pitchFamily="34" charset="0"/>
              </a:rPr>
              <a:t>InterveningPublicationEvent</a:t>
            </a:r>
            <a:r>
              <a:rPr lang="fr-FR" sz="1100" b="1" dirty="0">
                <a:solidFill>
                  <a:schemeClr val="tx1"/>
                </a:solidFill>
                <a:latin typeface="Century Gothic" pitchFamily="34" charset="0"/>
              </a:rPr>
              <a:t>{n}</a:t>
            </a:r>
          </a:p>
          <a:p>
            <a:pPr algn="ctr"/>
            <a:r>
              <a:rPr lang="fr-FR" sz="1100" b="1" dirty="0">
                <a:solidFill>
                  <a:schemeClr val="tx1"/>
                </a:solidFill>
                <a:latin typeface="Century Gothic" pitchFamily="34" charset="0"/>
              </a:rPr>
              <a:t>#</a:t>
            </a:r>
            <a:r>
              <a:rPr lang="fr-FR" sz="1100" b="1" dirty="0" err="1">
                <a:solidFill>
                  <a:schemeClr val="tx1"/>
                </a:solidFill>
                <a:latin typeface="Century Gothic" pitchFamily="34" charset="0"/>
              </a:rPr>
              <a:t>LatestPublicationEvent</a:t>
            </a:r>
            <a:r>
              <a:rPr lang="fr-FR" sz="1100" b="1" dirty="0">
                <a:solidFill>
                  <a:schemeClr val="tx1"/>
                </a:solidFill>
                <a:latin typeface="Century Gothic" pitchFamily="34" charset="0"/>
              </a:rPr>
              <a:t>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schema:PublicationEvent</a:t>
            </a:r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</p:txBody>
      </p:sp>
      <p:cxnSp>
        <p:nvCxnSpPr>
          <p:cNvPr id="63" name="Forme 69"/>
          <p:cNvCxnSpPr>
            <a:stCxn id="60" idx="2"/>
            <a:endCxn id="69" idx="0"/>
          </p:cNvCxnSpPr>
          <p:nvPr/>
        </p:nvCxnSpPr>
        <p:spPr>
          <a:xfrm rot="5400000">
            <a:off x="6482967" y="4494288"/>
            <a:ext cx="357190" cy="46434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Forme 69"/>
          <p:cNvCxnSpPr>
            <a:stCxn id="60" idx="2"/>
            <a:endCxn id="75" idx="0"/>
          </p:cNvCxnSpPr>
          <p:nvPr/>
        </p:nvCxnSpPr>
        <p:spPr>
          <a:xfrm rot="16200000" flipH="1">
            <a:off x="7322363" y="4119238"/>
            <a:ext cx="357190" cy="121444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à coins arrondis 68"/>
          <p:cNvSpPr/>
          <p:nvPr/>
        </p:nvSpPr>
        <p:spPr>
          <a:xfrm>
            <a:off x="5643570" y="4905056"/>
            <a:ext cx="1571636" cy="571504"/>
          </a:xfrm>
          <a:prstGeom prst="roundRect">
            <a:avLst>
              <a:gd name="adj" fmla="val 19681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000" b="1" dirty="0">
                <a:solidFill>
                  <a:schemeClr val="tx1"/>
                </a:solidFill>
                <a:latin typeface="Century Gothic" pitchFamily="34" charset="0"/>
              </a:rPr>
              <a:t>#Publisher-{</a:t>
            </a:r>
            <a:r>
              <a:rPr lang="fr-FR" sz="1000" b="1" dirty="0" err="1">
                <a:solidFill>
                  <a:schemeClr val="tx1"/>
                </a:solidFill>
                <a:latin typeface="Century Gothic" pitchFamily="34" charset="0"/>
              </a:rPr>
              <a:t>publisherName</a:t>
            </a:r>
            <a:r>
              <a:rPr lang="fr-FR" sz="1000" b="1" dirty="0">
                <a:solidFill>
                  <a:schemeClr val="tx1"/>
                </a:solidFill>
                <a:latin typeface="Century Gothic" pitchFamily="34" charset="0"/>
              </a:rPr>
              <a:t>} : </a:t>
            </a:r>
            <a:r>
              <a:rPr lang="fr-FR" sz="800" dirty="0" err="1">
                <a:solidFill>
                  <a:prstClr val="black"/>
                </a:solidFill>
                <a:latin typeface="Century Gothic" pitchFamily="34" charset="0"/>
              </a:rPr>
              <a:t>schema:Organization</a:t>
            </a:r>
            <a:endParaRPr lang="fr-FR" sz="800" dirty="0">
              <a:solidFill>
                <a:prstClr val="black"/>
              </a:solidFill>
              <a:latin typeface="Century Gothic" pitchFamily="34" charset="0"/>
            </a:endParaRPr>
          </a:p>
        </p:txBody>
      </p:sp>
      <p:sp>
        <p:nvSpPr>
          <p:cNvPr id="75" name="Rectangle à coins arrondis 74"/>
          <p:cNvSpPr/>
          <p:nvPr/>
        </p:nvSpPr>
        <p:spPr>
          <a:xfrm>
            <a:off x="7358082" y="4905056"/>
            <a:ext cx="1500198" cy="571504"/>
          </a:xfrm>
          <a:prstGeom prst="roundRect">
            <a:avLst>
              <a:gd name="adj" fmla="val 15282"/>
            </a:avLst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000" b="1" dirty="0">
                <a:solidFill>
                  <a:schemeClr val="tx1"/>
                </a:solidFill>
                <a:latin typeface="Century Gothic" pitchFamily="34" charset="0"/>
              </a:rPr>
              <a:t>#</a:t>
            </a:r>
            <a:r>
              <a:rPr lang="fr-FR" sz="1000" b="1" dirty="0" err="1">
                <a:solidFill>
                  <a:schemeClr val="tx1"/>
                </a:solidFill>
                <a:latin typeface="Century Gothic" pitchFamily="34" charset="0"/>
              </a:rPr>
              <a:t>PublicationPlace</a:t>
            </a:r>
            <a:r>
              <a:rPr lang="fr-FR" sz="1000" b="1" dirty="0">
                <a:solidFill>
                  <a:schemeClr val="tx1"/>
                </a:solidFill>
                <a:latin typeface="Century Gothic" pitchFamily="34" charset="0"/>
              </a:rPr>
              <a:t>-{</a:t>
            </a:r>
            <a:r>
              <a:rPr lang="fr-FR" sz="1000" b="1" dirty="0" err="1">
                <a:solidFill>
                  <a:schemeClr val="tx1"/>
                </a:solidFill>
                <a:latin typeface="Century Gothic" pitchFamily="34" charset="0"/>
              </a:rPr>
              <a:t>placename</a:t>
            </a:r>
            <a:r>
              <a:rPr lang="fr-FR" sz="1000" b="1" dirty="0">
                <a:solidFill>
                  <a:schemeClr val="tx1"/>
                </a:solidFill>
                <a:latin typeface="Century Gothic" pitchFamily="34" charset="0"/>
              </a:rPr>
              <a:t>} : </a:t>
            </a:r>
            <a:r>
              <a:rPr lang="fr-FR" sz="800" dirty="0" err="1">
                <a:solidFill>
                  <a:prstClr val="black"/>
                </a:solidFill>
                <a:latin typeface="Century Gothic" pitchFamily="34" charset="0"/>
              </a:rPr>
              <a:t>schema:Place</a:t>
            </a:r>
            <a:endParaRPr lang="fr-FR" sz="800" dirty="0">
              <a:solidFill>
                <a:prstClr val="black"/>
              </a:solidFill>
              <a:latin typeface="Century Gothic" pitchFamily="34" charset="0"/>
            </a:endParaRPr>
          </a:p>
        </p:txBody>
      </p:sp>
      <p:cxnSp>
        <p:nvCxnSpPr>
          <p:cNvPr id="90" name="Forme 69"/>
          <p:cNvCxnSpPr>
            <a:stCxn id="60" idx="3"/>
            <a:endCxn id="92" idx="1"/>
          </p:cNvCxnSpPr>
          <p:nvPr/>
        </p:nvCxnSpPr>
        <p:spPr>
          <a:xfrm flipV="1">
            <a:off x="8143900" y="4071942"/>
            <a:ext cx="357190" cy="11577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à coins arrondis 91"/>
          <p:cNvSpPr/>
          <p:nvPr/>
        </p:nvSpPr>
        <p:spPr>
          <a:xfrm>
            <a:off x="8501090" y="4000504"/>
            <a:ext cx="500066" cy="142876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900" b="1" dirty="0">
                <a:solidFill>
                  <a:prstClr val="black"/>
                </a:solidFill>
                <a:latin typeface="Century Gothic" pitchFamily="34" charset="0"/>
              </a:rPr>
              <a:t>"…"</a:t>
            </a:r>
          </a:p>
        </p:txBody>
      </p:sp>
      <p:cxnSp>
        <p:nvCxnSpPr>
          <p:cNvPr id="96" name="Forme 69"/>
          <p:cNvCxnSpPr>
            <a:stCxn id="114" idx="2"/>
            <a:endCxn id="69" idx="1"/>
          </p:cNvCxnSpPr>
          <p:nvPr/>
        </p:nvCxnSpPr>
        <p:spPr>
          <a:xfrm rot="16200000" flipH="1">
            <a:off x="3905410" y="3452648"/>
            <a:ext cx="2976254" cy="500066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à coins arrondis 102"/>
          <p:cNvSpPr/>
          <p:nvPr/>
        </p:nvSpPr>
        <p:spPr>
          <a:xfrm>
            <a:off x="5643570" y="5643578"/>
            <a:ext cx="3000396" cy="428628"/>
          </a:xfrm>
          <a:prstGeom prst="roundRect">
            <a:avLst>
              <a:gd name="adj" fmla="val 19367"/>
            </a:avLst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900" b="1" dirty="0">
                <a:solidFill>
                  <a:schemeClr val="tx1"/>
                </a:solidFill>
                <a:latin typeface="Century Gothic" pitchFamily="34" charset="0"/>
              </a:rPr>
              <a:t>#</a:t>
            </a:r>
            <a:r>
              <a:rPr lang="fr-FR" sz="900" b="1" dirty="0" err="1">
                <a:solidFill>
                  <a:schemeClr val="tx1"/>
                </a:solidFill>
                <a:latin typeface="Century Gothic" pitchFamily="34" charset="0"/>
              </a:rPr>
              <a:t>PublicationPlace</a:t>
            </a:r>
            <a:r>
              <a:rPr lang="fr-FR" sz="900" b="1" dirty="0">
                <a:solidFill>
                  <a:schemeClr val="tx1"/>
                </a:solidFill>
                <a:latin typeface="Century Gothic" pitchFamily="34" charset="0"/>
              </a:rPr>
              <a:t>-{</a:t>
            </a:r>
            <a:r>
              <a:rPr lang="fr-FR" sz="900" b="1" dirty="0" err="1">
                <a:solidFill>
                  <a:schemeClr val="tx1"/>
                </a:solidFill>
                <a:latin typeface="Century Gothic" pitchFamily="34" charset="0"/>
              </a:rPr>
              <a:t>placename</a:t>
            </a:r>
            <a:r>
              <a:rPr lang="fr-FR" sz="900" b="1" dirty="0">
                <a:solidFill>
                  <a:schemeClr val="tx1"/>
                </a:solidFill>
                <a:latin typeface="Century Gothic" pitchFamily="34" charset="0"/>
              </a:rPr>
              <a:t>}-</a:t>
            </a:r>
            <a:r>
              <a:rPr lang="fr-FR" sz="900" b="1" dirty="0" err="1">
                <a:solidFill>
                  <a:schemeClr val="tx1"/>
                </a:solidFill>
                <a:latin typeface="Century Gothic" pitchFamily="34" charset="0"/>
              </a:rPr>
              <a:t>GeoCoordinates</a:t>
            </a:r>
            <a:r>
              <a:rPr lang="fr-FR" sz="900" b="1" dirty="0">
                <a:solidFill>
                  <a:schemeClr val="tx1"/>
                </a:solidFill>
                <a:latin typeface="Century Gothic" pitchFamily="34" charset="0"/>
              </a:rPr>
              <a:t> : </a:t>
            </a:r>
            <a:r>
              <a:rPr lang="fr-FR" sz="700" dirty="0" err="1">
                <a:solidFill>
                  <a:prstClr val="black"/>
                </a:solidFill>
                <a:latin typeface="Century Gothic" pitchFamily="34" charset="0"/>
              </a:rPr>
              <a:t>schema:GeoCoordinates</a:t>
            </a:r>
            <a:r>
              <a:rPr lang="fr-FR" sz="700" dirty="0">
                <a:solidFill>
                  <a:prstClr val="black"/>
                </a:solidFill>
                <a:latin typeface="Century Gothic" pitchFamily="34" charset="0"/>
              </a:rPr>
              <a:t> 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072462" y="5643578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6" name="Forme 69"/>
          <p:cNvCxnSpPr>
            <a:stCxn id="75" idx="2"/>
            <a:endCxn id="104" idx="0"/>
          </p:cNvCxnSpPr>
          <p:nvPr/>
        </p:nvCxnSpPr>
        <p:spPr>
          <a:xfrm rot="16200000" flipH="1">
            <a:off x="8042531" y="5542209"/>
            <a:ext cx="167018" cy="3571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 113"/>
          <p:cNvSpPr/>
          <p:nvPr/>
        </p:nvSpPr>
        <p:spPr>
          <a:xfrm>
            <a:off x="5072066" y="2071678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angle 72"/>
          <p:cNvSpPr/>
          <p:nvPr/>
        </p:nvSpPr>
        <p:spPr>
          <a:xfrm>
            <a:off x="5286380" y="1428736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angle 73"/>
          <p:cNvSpPr/>
          <p:nvPr/>
        </p:nvSpPr>
        <p:spPr>
          <a:xfrm>
            <a:off x="5072066" y="1428736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Rectangle 112"/>
          <p:cNvSpPr/>
          <p:nvPr/>
        </p:nvSpPr>
        <p:spPr>
          <a:xfrm>
            <a:off x="6929454" y="857232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5" name="Rectangle 114"/>
          <p:cNvSpPr/>
          <p:nvPr/>
        </p:nvSpPr>
        <p:spPr>
          <a:xfrm>
            <a:off x="6929454" y="571480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6" name="Rectangle 115"/>
          <p:cNvSpPr/>
          <p:nvPr/>
        </p:nvSpPr>
        <p:spPr>
          <a:xfrm>
            <a:off x="3286116" y="857232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Rectangle 122"/>
          <p:cNvSpPr/>
          <p:nvPr/>
        </p:nvSpPr>
        <p:spPr>
          <a:xfrm>
            <a:off x="3286116" y="571480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5" name="Forme 69"/>
          <p:cNvCxnSpPr>
            <a:stCxn id="74" idx="0"/>
            <a:endCxn id="123" idx="3"/>
          </p:cNvCxnSpPr>
          <p:nvPr/>
        </p:nvCxnSpPr>
        <p:spPr>
          <a:xfrm rot="16200000" flipV="1">
            <a:off x="3893339" y="178571"/>
            <a:ext cx="785818" cy="1714512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Forme 69"/>
          <p:cNvCxnSpPr>
            <a:stCxn id="73" idx="0"/>
            <a:endCxn id="115" idx="1"/>
          </p:cNvCxnSpPr>
          <p:nvPr/>
        </p:nvCxnSpPr>
        <p:spPr>
          <a:xfrm rot="5400000" flipH="1" flipV="1">
            <a:off x="5750727" y="250009"/>
            <a:ext cx="785818" cy="1571636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ZoneTexte 133"/>
          <p:cNvSpPr txBox="1"/>
          <p:nvPr/>
        </p:nvSpPr>
        <p:spPr>
          <a:xfrm>
            <a:off x="5286380" y="381308"/>
            <a:ext cx="157163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/>
            <a:r>
              <a:rPr lang="fr-FR" sz="1100" dirty="0" err="1">
                <a:latin typeface="Century Gothic" pitchFamily="34" charset="0"/>
              </a:rPr>
              <a:t>schema:contributor</a:t>
            </a:r>
            <a:endParaRPr lang="fr-FR" sz="1100" dirty="0">
              <a:latin typeface="Century Gothic" pitchFamily="34" charset="0"/>
            </a:endParaRPr>
          </a:p>
        </p:txBody>
      </p:sp>
      <p:sp>
        <p:nvSpPr>
          <p:cNvPr id="135" name="ZoneTexte 134"/>
          <p:cNvSpPr txBox="1"/>
          <p:nvPr/>
        </p:nvSpPr>
        <p:spPr>
          <a:xfrm>
            <a:off x="3500430" y="667060"/>
            <a:ext cx="157163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/>
            <a:r>
              <a:rPr lang="fr-FR" sz="1100" dirty="0" err="1">
                <a:latin typeface="Century Gothic" pitchFamily="34" charset="0"/>
              </a:rPr>
              <a:t>bfrel:isb</a:t>
            </a:r>
            <a:endParaRPr lang="fr-FR" sz="1100" dirty="0">
              <a:latin typeface="Century Gothic" pitchFamily="34" charset="0"/>
            </a:endParaRPr>
          </a:p>
        </p:txBody>
      </p:sp>
      <p:sp>
        <p:nvSpPr>
          <p:cNvPr id="136" name="ZoneTexte 135"/>
          <p:cNvSpPr txBox="1"/>
          <p:nvPr/>
        </p:nvSpPr>
        <p:spPr>
          <a:xfrm>
            <a:off x="5357818" y="667060"/>
            <a:ext cx="1428760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bfrel:isb</a:t>
            </a:r>
            <a:endParaRPr lang="fr-FR" sz="1100" dirty="0">
              <a:latin typeface="Century Gothic" pitchFamily="34" charset="0"/>
            </a:endParaRPr>
          </a:p>
        </p:txBody>
      </p:sp>
      <p:cxnSp>
        <p:nvCxnSpPr>
          <p:cNvPr id="79" name="Forme 69"/>
          <p:cNvCxnSpPr>
            <a:stCxn id="28" idx="3"/>
            <a:endCxn id="85" idx="1"/>
          </p:cNvCxnSpPr>
          <p:nvPr/>
        </p:nvCxnSpPr>
        <p:spPr>
          <a:xfrm flipV="1">
            <a:off x="4000496" y="6000768"/>
            <a:ext cx="357190" cy="11873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Forme 69"/>
          <p:cNvCxnSpPr>
            <a:stCxn id="28" idx="3"/>
            <a:endCxn id="86" idx="1"/>
          </p:cNvCxnSpPr>
          <p:nvPr/>
        </p:nvCxnSpPr>
        <p:spPr>
          <a:xfrm>
            <a:off x="4000496" y="6119502"/>
            <a:ext cx="357190" cy="9558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ZoneTexte 81"/>
          <p:cNvSpPr txBox="1"/>
          <p:nvPr/>
        </p:nvSpPr>
        <p:spPr>
          <a:xfrm>
            <a:off x="3857620" y="5643578"/>
            <a:ext cx="150016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 err="1">
                <a:latin typeface="Century Gothic" pitchFamily="34" charset="0"/>
              </a:rPr>
              <a:t>schema:latitude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84" name="ZoneTexte 83"/>
          <p:cNvSpPr txBox="1"/>
          <p:nvPr/>
        </p:nvSpPr>
        <p:spPr>
          <a:xfrm>
            <a:off x="3929090" y="6239224"/>
            <a:ext cx="150016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 err="1">
                <a:latin typeface="Century Gothic" pitchFamily="34" charset="0"/>
              </a:rPr>
              <a:t>schema:longitude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85" name="Rectangle à coins arrondis 84"/>
          <p:cNvSpPr/>
          <p:nvPr/>
        </p:nvSpPr>
        <p:spPr>
          <a:xfrm>
            <a:off x="4357686" y="5929330"/>
            <a:ext cx="500066" cy="142876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200" b="1" dirty="0">
                <a:solidFill>
                  <a:prstClr val="black"/>
                </a:solidFill>
                <a:latin typeface="Century Gothic" pitchFamily="34" charset="0"/>
              </a:rPr>
              <a:t>"…"</a:t>
            </a:r>
          </a:p>
        </p:txBody>
      </p:sp>
      <p:sp>
        <p:nvSpPr>
          <p:cNvPr id="86" name="Rectangle à coins arrondis 85"/>
          <p:cNvSpPr/>
          <p:nvPr/>
        </p:nvSpPr>
        <p:spPr>
          <a:xfrm>
            <a:off x="4357686" y="6143644"/>
            <a:ext cx="500066" cy="142876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200" b="1" dirty="0">
                <a:solidFill>
                  <a:prstClr val="black"/>
                </a:solidFill>
                <a:latin typeface="Century Gothic" pitchFamily="34" charset="0"/>
              </a:rPr>
              <a:t>"…"</a:t>
            </a:r>
          </a:p>
        </p:txBody>
      </p:sp>
      <p:cxnSp>
        <p:nvCxnSpPr>
          <p:cNvPr id="91" name="Forme 69"/>
          <p:cNvCxnSpPr>
            <a:stCxn id="103" idx="3"/>
          </p:cNvCxnSpPr>
          <p:nvPr/>
        </p:nvCxnSpPr>
        <p:spPr>
          <a:xfrm flipV="1">
            <a:off x="8643966" y="5715016"/>
            <a:ext cx="214314" cy="142876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Forme 69"/>
          <p:cNvCxnSpPr>
            <a:stCxn id="103" idx="3"/>
          </p:cNvCxnSpPr>
          <p:nvPr/>
        </p:nvCxnSpPr>
        <p:spPr>
          <a:xfrm>
            <a:off x="8643966" y="5857892"/>
            <a:ext cx="214314" cy="142876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à coins arrondis 2"/>
          <p:cNvSpPr/>
          <p:nvPr/>
        </p:nvSpPr>
        <p:spPr>
          <a:xfrm>
            <a:off x="7072330" y="1500174"/>
            <a:ext cx="1571636" cy="500066"/>
          </a:xfrm>
          <a:prstGeom prst="roundRect">
            <a:avLst>
              <a:gd name="adj" fmla="val 2144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200" b="1" i="1" dirty="0">
                <a:solidFill>
                  <a:schemeClr val="tx1"/>
                </a:solidFill>
                <a:latin typeface="Century Gothic" pitchFamily="34" charset="0"/>
              </a:rPr>
              <a:t>_:</a:t>
            </a:r>
            <a:r>
              <a:rPr lang="fr-FR" sz="1200" b="1" i="1" dirty="0" err="1">
                <a:solidFill>
                  <a:schemeClr val="tx1"/>
                </a:solidFill>
                <a:latin typeface="Century Gothic" pitchFamily="34" charset="0"/>
              </a:rPr>
              <a:t>blank</a:t>
            </a:r>
            <a:r>
              <a:rPr lang="fr-FR" sz="1200" b="1" i="1" dirty="0">
                <a:solidFill>
                  <a:schemeClr val="tx1"/>
                </a:solidFill>
                <a:latin typeface="Century Gothic" pitchFamily="34" charset="0"/>
              </a:rPr>
              <a:t> </a:t>
            </a:r>
            <a:r>
              <a:rPr lang="fr-FR" sz="1200" b="1" i="1" dirty="0" err="1">
                <a:solidFill>
                  <a:schemeClr val="tx1"/>
                </a:solidFill>
                <a:latin typeface="Century Gothic" pitchFamily="34" charset="0"/>
              </a:rPr>
              <a:t>node</a:t>
            </a:r>
            <a:r>
              <a:rPr lang="fr-FR" sz="1200" b="1" i="1" dirty="0">
                <a:solidFill>
                  <a:schemeClr val="tx1"/>
                </a:solidFill>
                <a:latin typeface="Century Gothic" pitchFamily="34" charset="0"/>
              </a:rPr>
              <a:t>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bf:ClassificationDdc</a:t>
            </a:r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</p:txBody>
      </p:sp>
      <p:cxnSp>
        <p:nvCxnSpPr>
          <p:cNvPr id="4" name="Forme 69"/>
          <p:cNvCxnSpPr>
            <a:stCxn id="47" idx="0"/>
            <a:endCxn id="3" idx="1"/>
          </p:cNvCxnSpPr>
          <p:nvPr/>
        </p:nvCxnSpPr>
        <p:spPr>
          <a:xfrm rot="5400000" flipH="1" flipV="1">
            <a:off x="5947182" y="1875224"/>
            <a:ext cx="1250165" cy="1000132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/>
          <p:cNvSpPr txBox="1"/>
          <p:nvPr/>
        </p:nvSpPr>
        <p:spPr>
          <a:xfrm>
            <a:off x="5715008" y="1428736"/>
            <a:ext cx="135732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/>
            <a:r>
              <a:rPr lang="fr-FR" sz="1100" dirty="0" err="1">
                <a:latin typeface="Century Gothic" pitchFamily="34" charset="0"/>
              </a:rPr>
              <a:t>bf:classification</a:t>
            </a:r>
            <a:endParaRPr lang="en-US" sz="1100" dirty="0">
              <a:latin typeface="Century Gothic" pitchFamily="34" charset="0"/>
            </a:endParaRPr>
          </a:p>
        </p:txBody>
      </p:sp>
      <p:cxnSp>
        <p:nvCxnSpPr>
          <p:cNvPr id="11" name="Forme 69"/>
          <p:cNvCxnSpPr>
            <a:stCxn id="3" idx="2"/>
            <a:endCxn id="19" idx="0"/>
          </p:cNvCxnSpPr>
          <p:nvPr/>
        </p:nvCxnSpPr>
        <p:spPr>
          <a:xfrm rot="16200000" flipH="1">
            <a:off x="7911726" y="1946661"/>
            <a:ext cx="285752" cy="392909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ZoneTexte 16"/>
          <p:cNvSpPr txBox="1"/>
          <p:nvPr/>
        </p:nvSpPr>
        <p:spPr>
          <a:xfrm>
            <a:off x="8215338" y="2024382"/>
            <a:ext cx="857224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rdf:value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0" y="6572272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Relative </a:t>
            </a:r>
            <a:r>
              <a:rPr lang="fr-FR" sz="1200" i="1" dirty="0" err="1"/>
              <a:t>URIs</a:t>
            </a:r>
            <a:r>
              <a:rPr lang="fr-FR" sz="1200" i="1" dirty="0"/>
              <a:t> (</a:t>
            </a:r>
            <a:r>
              <a:rPr lang="fr-FR" sz="1200" i="1" dirty="0" err="1"/>
              <a:t>beginning</a:t>
            </a:r>
            <a:r>
              <a:rPr lang="fr-FR" sz="1200" i="1" dirty="0"/>
              <a:t> </a:t>
            </a:r>
            <a:r>
              <a:rPr lang="fr-FR" sz="1200" i="1" dirty="0" err="1"/>
              <a:t>with</a:t>
            </a:r>
            <a:r>
              <a:rPr lang="fr-FR" sz="1200" i="1" dirty="0"/>
              <a:t> #) are relative to the ISSN </a:t>
            </a:r>
            <a:r>
              <a:rPr lang="fr-FR" sz="1200" i="1" dirty="0" err="1"/>
              <a:t>resource</a:t>
            </a:r>
            <a:r>
              <a:rPr lang="fr-FR" sz="1200" i="1" dirty="0"/>
              <a:t> URI : http://issn.org/resource/ISSN/{ISSN}</a:t>
            </a:r>
            <a:endParaRPr lang="en-US" sz="1200" i="1" dirty="0"/>
          </a:p>
        </p:txBody>
      </p:sp>
      <p:sp>
        <p:nvSpPr>
          <p:cNvPr id="19" name="Rectangle à coins arrondis 18"/>
          <p:cNvSpPr/>
          <p:nvPr/>
        </p:nvSpPr>
        <p:spPr>
          <a:xfrm>
            <a:off x="8001024" y="2285992"/>
            <a:ext cx="500066" cy="142876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200" b="1" dirty="0">
                <a:solidFill>
                  <a:prstClr val="black"/>
                </a:solidFill>
                <a:latin typeface="Century Gothic" pitchFamily="34" charset="0"/>
              </a:rPr>
              <a:t>"…"</a:t>
            </a:r>
          </a:p>
        </p:txBody>
      </p:sp>
      <p:sp>
        <p:nvSpPr>
          <p:cNvPr id="22" name="Rectangle à coins arrondis 21"/>
          <p:cNvSpPr/>
          <p:nvPr/>
        </p:nvSpPr>
        <p:spPr>
          <a:xfrm>
            <a:off x="4714876" y="5500702"/>
            <a:ext cx="2357454" cy="357190"/>
          </a:xfrm>
          <a:prstGeom prst="roundRect">
            <a:avLst>
              <a:gd name="adj" fmla="val 2521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200" b="1" i="1" dirty="0">
                <a:solidFill>
                  <a:schemeClr val="tx1"/>
                </a:solidFill>
                <a:latin typeface="Century Gothic" pitchFamily="34" charset="0"/>
              </a:rPr>
              <a:t>_:</a:t>
            </a:r>
            <a:r>
              <a:rPr lang="fr-FR" sz="1200" b="1" i="1" dirty="0" err="1">
                <a:solidFill>
                  <a:schemeClr val="tx1"/>
                </a:solidFill>
                <a:latin typeface="Century Gothic" pitchFamily="34" charset="0"/>
              </a:rPr>
              <a:t>blank</a:t>
            </a:r>
            <a:r>
              <a:rPr lang="fr-FR" sz="1200" b="1" i="1" dirty="0">
                <a:solidFill>
                  <a:schemeClr val="tx1"/>
                </a:solidFill>
                <a:latin typeface="Century Gothic" pitchFamily="34" charset="0"/>
              </a:rPr>
              <a:t> </a:t>
            </a:r>
            <a:r>
              <a:rPr lang="fr-FR" sz="1200" b="1" i="1" dirty="0" err="1">
                <a:solidFill>
                  <a:schemeClr val="tx1"/>
                </a:solidFill>
                <a:latin typeface="Century Gothic" pitchFamily="34" charset="0"/>
              </a:rPr>
              <a:t>node</a:t>
            </a:r>
            <a:r>
              <a:rPr lang="fr-FR" sz="1200" b="1" i="1" dirty="0">
                <a:solidFill>
                  <a:schemeClr val="tx1"/>
                </a:solidFill>
                <a:latin typeface="Century Gothic" pitchFamily="34" charset="0"/>
              </a:rPr>
              <a:t>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bf:Note</a:t>
            </a:r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</p:txBody>
      </p:sp>
      <p:cxnSp>
        <p:nvCxnSpPr>
          <p:cNvPr id="23" name="Forme 69"/>
          <p:cNvCxnSpPr>
            <a:stCxn id="188" idx="2"/>
            <a:endCxn id="189" idx="0"/>
          </p:cNvCxnSpPr>
          <p:nvPr/>
        </p:nvCxnSpPr>
        <p:spPr>
          <a:xfrm rot="5400000">
            <a:off x="4214810" y="4643446"/>
            <a:ext cx="1714512" cy="1588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Texte 25"/>
          <p:cNvSpPr txBox="1"/>
          <p:nvPr/>
        </p:nvSpPr>
        <p:spPr>
          <a:xfrm>
            <a:off x="4071934" y="4572008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/>
            <a:r>
              <a:rPr lang="fr-FR" sz="1100" dirty="0" err="1">
                <a:latin typeface="Century Gothic" pitchFamily="34" charset="0"/>
              </a:rPr>
              <a:t>bf:note</a:t>
            </a:r>
            <a:endParaRPr lang="en-US" sz="1100" dirty="0">
              <a:latin typeface="Century Gothic" pitchFamily="34" charset="0"/>
            </a:endParaRPr>
          </a:p>
        </p:txBody>
      </p:sp>
      <p:cxnSp>
        <p:nvCxnSpPr>
          <p:cNvPr id="27" name="Forme 69"/>
          <p:cNvCxnSpPr>
            <a:stCxn id="22" idx="3"/>
            <a:endCxn id="28" idx="1"/>
          </p:cNvCxnSpPr>
          <p:nvPr/>
        </p:nvCxnSpPr>
        <p:spPr>
          <a:xfrm flipV="1">
            <a:off x="7072330" y="5429264"/>
            <a:ext cx="714380" cy="250033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à coins arrondis 27"/>
          <p:cNvSpPr/>
          <p:nvPr/>
        </p:nvSpPr>
        <p:spPr>
          <a:xfrm>
            <a:off x="7786710" y="5357826"/>
            <a:ext cx="500066" cy="142876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200" b="1" dirty="0">
                <a:solidFill>
                  <a:prstClr val="black"/>
                </a:solidFill>
                <a:latin typeface="Century Gothic" pitchFamily="34" charset="0"/>
              </a:rPr>
              <a:t>"…"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7000892" y="5072074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rdf:value</a:t>
            </a:r>
            <a:endParaRPr lang="en-US" sz="1100" dirty="0">
              <a:latin typeface="Century Gothic" pitchFamily="34" charset="0"/>
            </a:endParaRPr>
          </a:p>
        </p:txBody>
      </p:sp>
      <p:cxnSp>
        <p:nvCxnSpPr>
          <p:cNvPr id="33" name="Forme 69"/>
          <p:cNvCxnSpPr>
            <a:stCxn id="22" idx="3"/>
            <a:endCxn id="37" idx="1"/>
          </p:cNvCxnSpPr>
          <p:nvPr/>
        </p:nvCxnSpPr>
        <p:spPr>
          <a:xfrm>
            <a:off x="7072330" y="5679297"/>
            <a:ext cx="714380" cy="178595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/>
          <p:cNvSpPr txBox="1"/>
          <p:nvPr/>
        </p:nvSpPr>
        <p:spPr>
          <a:xfrm>
            <a:off x="6929454" y="5953472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bf:noteType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37" name="Rectangle à coins arrondis 36"/>
          <p:cNvSpPr/>
          <p:nvPr/>
        </p:nvSpPr>
        <p:spPr>
          <a:xfrm>
            <a:off x="7786710" y="5786454"/>
            <a:ext cx="500066" cy="142876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200" b="1" dirty="0">
                <a:solidFill>
                  <a:prstClr val="black"/>
                </a:solidFill>
                <a:latin typeface="Century Gothic" pitchFamily="34" charset="0"/>
              </a:rPr>
              <a:t>"…"</a:t>
            </a:r>
          </a:p>
        </p:txBody>
      </p:sp>
      <p:cxnSp>
        <p:nvCxnSpPr>
          <p:cNvPr id="39" name="Forme 69"/>
          <p:cNvCxnSpPr>
            <a:stCxn id="47" idx="1"/>
            <a:endCxn id="43" idx="3"/>
          </p:cNvCxnSpPr>
          <p:nvPr/>
        </p:nvCxnSpPr>
        <p:spPr>
          <a:xfrm rot="10800000">
            <a:off x="2928926" y="750077"/>
            <a:ext cx="1785950" cy="264320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à coins arrondis 42"/>
          <p:cNvSpPr/>
          <p:nvPr/>
        </p:nvSpPr>
        <p:spPr>
          <a:xfrm>
            <a:off x="357158" y="571481"/>
            <a:ext cx="2571768" cy="357190"/>
          </a:xfrm>
          <a:prstGeom prst="roundRect">
            <a:avLst>
              <a:gd name="adj" fmla="val 22763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#</a:t>
            </a:r>
            <a:r>
              <a:rPr lang="fr-FR" sz="1200" b="1" dirty="0" err="1">
                <a:solidFill>
                  <a:schemeClr val="tx1"/>
                </a:solidFill>
                <a:latin typeface="Century Gothic" pitchFamily="34" charset="0"/>
              </a:rPr>
              <a:t>KeyTitle</a:t>
            </a:r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bf:Identifier</a:t>
            </a:r>
            <a:r>
              <a:rPr lang="fr-FR" sz="1050" dirty="0">
                <a:solidFill>
                  <a:prstClr val="black"/>
                </a:solidFill>
                <a:latin typeface="Century Gothic" pitchFamily="34" charset="0"/>
              </a:rPr>
              <a:t>,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bf:KeyTitle</a:t>
            </a:r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  <a:p>
            <a:pPr lvl="0" algn="ctr">
              <a:spcBef>
                <a:spcPts val="600"/>
              </a:spcBef>
            </a:pPr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sp>
        <p:nvSpPr>
          <p:cNvPr id="44" name="Rectangle à coins arrondis 43"/>
          <p:cNvSpPr/>
          <p:nvPr/>
        </p:nvSpPr>
        <p:spPr>
          <a:xfrm>
            <a:off x="357158" y="1428736"/>
            <a:ext cx="2571768" cy="500066"/>
          </a:xfrm>
          <a:prstGeom prst="roundRect">
            <a:avLst>
              <a:gd name="adj" fmla="val 22142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100" b="1" dirty="0">
                <a:solidFill>
                  <a:schemeClr val="tx1"/>
                </a:solidFill>
                <a:latin typeface="Century Gothic" pitchFamily="34" charset="0"/>
              </a:rPr>
              <a:t>#</a:t>
            </a:r>
            <a:r>
              <a:rPr lang="fr-FR" sz="1100" b="1" dirty="0" err="1">
                <a:solidFill>
                  <a:schemeClr val="tx1"/>
                </a:solidFill>
                <a:latin typeface="Century Gothic" pitchFamily="34" charset="0"/>
              </a:rPr>
              <a:t>AbbreviatedKeyTitle</a:t>
            </a:r>
            <a:r>
              <a:rPr lang="fr-FR" sz="1100" b="1" dirty="0">
                <a:solidFill>
                  <a:schemeClr val="tx1"/>
                </a:solidFill>
                <a:latin typeface="Century Gothic" pitchFamily="34" charset="0"/>
              </a:rPr>
              <a:t>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bf:Identifier</a:t>
            </a:r>
            <a:r>
              <a:rPr lang="fr-FR" sz="1050" dirty="0">
                <a:solidFill>
                  <a:prstClr val="black"/>
                </a:solidFill>
                <a:latin typeface="Century Gothic" pitchFamily="34" charset="0"/>
              </a:rPr>
              <a:t>,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bf:AbbreviatedTitle</a:t>
            </a:r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sp>
        <p:nvSpPr>
          <p:cNvPr id="45" name="Rectangle à coins arrondis 44"/>
          <p:cNvSpPr/>
          <p:nvPr/>
        </p:nvSpPr>
        <p:spPr>
          <a:xfrm>
            <a:off x="357158" y="2428868"/>
            <a:ext cx="2571768" cy="357190"/>
          </a:xfrm>
          <a:prstGeom prst="roundRect">
            <a:avLst>
              <a:gd name="adj" fmla="val 20676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100" b="1" i="1" dirty="0">
                <a:solidFill>
                  <a:schemeClr val="tx1"/>
                </a:solidFill>
                <a:latin typeface="Century Gothic" pitchFamily="34" charset="0"/>
              </a:rPr>
              <a:t>_:</a:t>
            </a:r>
            <a:r>
              <a:rPr lang="fr-FR" sz="1100" b="1" i="1" dirty="0" err="1">
                <a:solidFill>
                  <a:schemeClr val="tx1"/>
                </a:solidFill>
                <a:latin typeface="Century Gothic" pitchFamily="34" charset="0"/>
              </a:rPr>
              <a:t>blank</a:t>
            </a:r>
            <a:r>
              <a:rPr lang="fr-FR" sz="1100" b="1" i="1" dirty="0">
                <a:solidFill>
                  <a:schemeClr val="tx1"/>
                </a:solidFill>
                <a:latin typeface="Century Gothic" pitchFamily="34" charset="0"/>
              </a:rPr>
              <a:t> </a:t>
            </a:r>
            <a:r>
              <a:rPr lang="fr-FR" sz="1100" b="1" i="1" dirty="0" err="1">
                <a:solidFill>
                  <a:schemeClr val="tx1"/>
                </a:solidFill>
                <a:latin typeface="Century Gothic" pitchFamily="34" charset="0"/>
              </a:rPr>
              <a:t>node</a:t>
            </a:r>
            <a:r>
              <a:rPr lang="fr-FR" sz="1100" b="1" i="1" dirty="0">
                <a:solidFill>
                  <a:schemeClr val="tx1"/>
                </a:solidFill>
                <a:latin typeface="Century Gothic" pitchFamily="34" charset="0"/>
              </a:rPr>
              <a:t>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bf:ParallelTitle</a:t>
            </a:r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sp>
        <p:nvSpPr>
          <p:cNvPr id="46" name="Rectangle à coins arrondis 45"/>
          <p:cNvSpPr/>
          <p:nvPr/>
        </p:nvSpPr>
        <p:spPr>
          <a:xfrm>
            <a:off x="357158" y="3214687"/>
            <a:ext cx="2571768" cy="357190"/>
          </a:xfrm>
          <a:prstGeom prst="roundRect">
            <a:avLst>
              <a:gd name="adj" fmla="val 22142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100" b="1" i="1" dirty="0">
                <a:solidFill>
                  <a:schemeClr val="tx1"/>
                </a:solidFill>
                <a:latin typeface="Century Gothic" pitchFamily="34" charset="0"/>
              </a:rPr>
              <a:t>_:</a:t>
            </a:r>
            <a:r>
              <a:rPr lang="fr-FR" sz="1100" b="1" i="1" dirty="0" err="1">
                <a:solidFill>
                  <a:schemeClr val="tx1"/>
                </a:solidFill>
                <a:latin typeface="Century Gothic" pitchFamily="34" charset="0"/>
              </a:rPr>
              <a:t>blank</a:t>
            </a:r>
            <a:r>
              <a:rPr lang="fr-FR" sz="1100" b="1" i="1" dirty="0">
                <a:solidFill>
                  <a:schemeClr val="tx1"/>
                </a:solidFill>
                <a:latin typeface="Century Gothic" pitchFamily="34" charset="0"/>
              </a:rPr>
              <a:t> </a:t>
            </a:r>
            <a:r>
              <a:rPr lang="fr-FR" sz="1100" b="1" i="1" dirty="0" err="1">
                <a:solidFill>
                  <a:schemeClr val="tx1"/>
                </a:solidFill>
                <a:latin typeface="Century Gothic" pitchFamily="34" charset="0"/>
              </a:rPr>
              <a:t>node</a:t>
            </a:r>
            <a:r>
              <a:rPr lang="fr-FR" sz="1100" b="1" i="1" dirty="0">
                <a:solidFill>
                  <a:schemeClr val="tx1"/>
                </a:solidFill>
                <a:latin typeface="Century Gothic" pitchFamily="34" charset="0"/>
              </a:rPr>
              <a:t>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bf:VariantTitle</a:t>
            </a:r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cxnSp>
        <p:nvCxnSpPr>
          <p:cNvPr id="48" name="Forme 69"/>
          <p:cNvCxnSpPr>
            <a:stCxn id="47" idx="1"/>
            <a:endCxn id="44" idx="3"/>
          </p:cNvCxnSpPr>
          <p:nvPr/>
        </p:nvCxnSpPr>
        <p:spPr>
          <a:xfrm rot="10800000">
            <a:off x="2928926" y="1678769"/>
            <a:ext cx="1785950" cy="171451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Forme 69"/>
          <p:cNvCxnSpPr>
            <a:stCxn id="47" idx="1"/>
            <a:endCxn id="45" idx="3"/>
          </p:cNvCxnSpPr>
          <p:nvPr/>
        </p:nvCxnSpPr>
        <p:spPr>
          <a:xfrm rot="10800000">
            <a:off x="2928926" y="2607463"/>
            <a:ext cx="1785950" cy="78581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Forme 69"/>
          <p:cNvCxnSpPr>
            <a:stCxn id="47" idx="1"/>
            <a:endCxn id="46" idx="3"/>
          </p:cNvCxnSpPr>
          <p:nvPr/>
        </p:nvCxnSpPr>
        <p:spPr>
          <a:xfrm rot="10800000" flipV="1">
            <a:off x="2928926" y="3393280"/>
            <a:ext cx="1785950" cy="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ZoneTexte 78"/>
          <p:cNvSpPr txBox="1"/>
          <p:nvPr/>
        </p:nvSpPr>
        <p:spPr>
          <a:xfrm>
            <a:off x="1643042" y="3667456"/>
            <a:ext cx="1285884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bf:variantType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47" name="Rectangle à coins arrondis 46"/>
          <p:cNvSpPr/>
          <p:nvPr/>
        </p:nvSpPr>
        <p:spPr>
          <a:xfrm>
            <a:off x="4714876" y="3000372"/>
            <a:ext cx="2714644" cy="785818"/>
          </a:xfrm>
          <a:prstGeom prst="roundRect">
            <a:avLst>
              <a:gd name="adj" fmla="val 22207"/>
            </a:avLst>
          </a:prstGeom>
          <a:solidFill>
            <a:srgbClr val="F5E4E3"/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050" b="1" dirty="0">
                <a:solidFill>
                  <a:schemeClr val="tx1"/>
                </a:solidFill>
                <a:latin typeface="Century Gothic" pitchFamily="34" charset="0"/>
              </a:rPr>
              <a:t>http://issn.org/resource/ISSN/</a:t>
            </a:r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{ISSN}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bf:Work</a:t>
            </a:r>
            <a:r>
              <a:rPr lang="fr-FR" sz="1050" dirty="0">
                <a:solidFill>
                  <a:prstClr val="black"/>
                </a:solidFill>
                <a:latin typeface="Century Gothic" pitchFamily="34" charset="0"/>
              </a:rPr>
              <a:t>,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bf:Instance</a:t>
            </a:r>
            <a:r>
              <a:rPr lang="fr-FR" sz="1050" dirty="0">
                <a:solidFill>
                  <a:prstClr val="black"/>
                </a:solidFill>
                <a:latin typeface="Century Gothic" pitchFamily="34" charset="0"/>
              </a:rPr>
              <a:t>, 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schema:Periodical</a:t>
            </a:r>
            <a:endParaRPr lang="en-US" sz="12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sp>
        <p:nvSpPr>
          <p:cNvPr id="108" name="ZoneTexte 107"/>
          <p:cNvSpPr txBox="1"/>
          <p:nvPr/>
        </p:nvSpPr>
        <p:spPr>
          <a:xfrm>
            <a:off x="3143240" y="285728"/>
            <a:ext cx="1428760" cy="430887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bf:title</a:t>
            </a:r>
            <a:endParaRPr lang="fr-FR" sz="1100" dirty="0">
              <a:latin typeface="Century Gothic" pitchFamily="34" charset="0"/>
            </a:endParaRPr>
          </a:p>
          <a:p>
            <a:r>
              <a:rPr lang="fr-FR" sz="1100" i="1" dirty="0">
                <a:latin typeface="Century Gothic" pitchFamily="34" charset="0"/>
              </a:rPr>
              <a:t> (+ </a:t>
            </a:r>
            <a:r>
              <a:rPr lang="fr-FR" sz="1100" i="1" dirty="0" err="1">
                <a:latin typeface="Century Gothic" pitchFamily="34" charset="0"/>
              </a:rPr>
              <a:t>bf:identifiedBy</a:t>
            </a:r>
            <a:r>
              <a:rPr lang="fr-FR" sz="1100" i="1" dirty="0">
                <a:latin typeface="Century Gothic" pitchFamily="34" charset="0"/>
              </a:rPr>
              <a:t>)</a:t>
            </a:r>
            <a:endParaRPr lang="en-US" sz="1100" i="1" dirty="0">
              <a:latin typeface="Century Gothic" pitchFamily="34" charset="0"/>
            </a:endParaRPr>
          </a:p>
        </p:txBody>
      </p:sp>
      <p:sp>
        <p:nvSpPr>
          <p:cNvPr id="110" name="ZoneTexte 109"/>
          <p:cNvSpPr txBox="1"/>
          <p:nvPr/>
        </p:nvSpPr>
        <p:spPr>
          <a:xfrm>
            <a:off x="3143240" y="2357430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bf:title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11" name="ZoneTexte 110"/>
          <p:cNvSpPr txBox="1"/>
          <p:nvPr/>
        </p:nvSpPr>
        <p:spPr>
          <a:xfrm>
            <a:off x="3143240" y="3095952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bf:title</a:t>
            </a:r>
            <a:endParaRPr lang="en-US" sz="1100" dirty="0">
              <a:latin typeface="Century Gothic" pitchFamily="34" charset="0"/>
            </a:endParaRPr>
          </a:p>
        </p:txBody>
      </p:sp>
      <p:cxnSp>
        <p:nvCxnSpPr>
          <p:cNvPr id="113" name="Forme 69"/>
          <p:cNvCxnSpPr>
            <a:stCxn id="47" idx="1"/>
            <a:endCxn id="116" idx="3"/>
          </p:cNvCxnSpPr>
          <p:nvPr/>
        </p:nvCxnSpPr>
        <p:spPr>
          <a:xfrm rot="10800000" flipV="1">
            <a:off x="2928894" y="3393280"/>
            <a:ext cx="1785982" cy="89297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ctangle à coins arrondis 115"/>
          <p:cNvSpPr/>
          <p:nvPr/>
        </p:nvSpPr>
        <p:spPr>
          <a:xfrm>
            <a:off x="1857356" y="4143380"/>
            <a:ext cx="1071538" cy="285752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/>
            <a:r>
              <a:rPr lang="fr-FR" sz="1100" dirty="0">
                <a:solidFill>
                  <a:prstClr val="black"/>
                </a:solidFill>
                <a:latin typeface="Century Gothic" pitchFamily="34" charset="0"/>
              </a:rPr>
              <a:t>"</a:t>
            </a:r>
            <a:r>
              <a:rPr lang="fr-FR" sz="1100" i="1" dirty="0" err="1">
                <a:solidFill>
                  <a:prstClr val="black"/>
                </a:solidFill>
                <a:latin typeface="Century Gothic" pitchFamily="34" charset="0"/>
              </a:rPr>
              <a:t>Title</a:t>
            </a:r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 </a:t>
            </a:r>
            <a:r>
              <a:rPr lang="fr-FR" sz="1100" i="1" dirty="0" err="1">
                <a:solidFill>
                  <a:prstClr val="black"/>
                </a:solidFill>
                <a:latin typeface="Century Gothic" pitchFamily="34" charset="0"/>
              </a:rPr>
              <a:t>proper</a:t>
            </a:r>
            <a:r>
              <a:rPr lang="fr-FR" sz="1100" dirty="0">
                <a:solidFill>
                  <a:prstClr val="black"/>
                </a:solidFill>
                <a:latin typeface="Century Gothic" pitchFamily="34" charset="0"/>
              </a:rPr>
              <a:t>"</a:t>
            </a:r>
          </a:p>
        </p:txBody>
      </p:sp>
      <p:cxnSp>
        <p:nvCxnSpPr>
          <p:cNvPr id="121" name="Forme 69"/>
          <p:cNvCxnSpPr>
            <a:stCxn id="47" idx="1"/>
            <a:endCxn id="127" idx="3"/>
          </p:cNvCxnSpPr>
          <p:nvPr/>
        </p:nvCxnSpPr>
        <p:spPr>
          <a:xfrm rot="10800000" flipV="1">
            <a:off x="2928926" y="3393280"/>
            <a:ext cx="1785950" cy="139304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ZoneTexte 123"/>
          <p:cNvSpPr txBox="1"/>
          <p:nvPr/>
        </p:nvSpPr>
        <p:spPr>
          <a:xfrm>
            <a:off x="3143240" y="4500570"/>
            <a:ext cx="135732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schema:name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25" name="ZoneTexte 124"/>
          <p:cNvSpPr txBox="1"/>
          <p:nvPr/>
        </p:nvSpPr>
        <p:spPr>
          <a:xfrm>
            <a:off x="3143240" y="3786190"/>
            <a:ext cx="1357322" cy="430887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schema:name</a:t>
            </a:r>
            <a:endParaRPr lang="fr-FR" sz="1100" dirty="0">
              <a:latin typeface="Century Gothic" pitchFamily="34" charset="0"/>
            </a:endParaRPr>
          </a:p>
          <a:p>
            <a:r>
              <a:rPr lang="fr-FR" sz="1100" dirty="0">
                <a:latin typeface="Century Gothic" pitchFamily="34" charset="0"/>
              </a:rPr>
              <a:t>+ </a:t>
            </a:r>
            <a:r>
              <a:rPr lang="fr-FR" sz="1100" dirty="0" err="1">
                <a:latin typeface="Century Gothic" pitchFamily="34" charset="0"/>
              </a:rPr>
              <a:t>bf:mainTitle</a:t>
            </a:r>
            <a:endParaRPr lang="fr-FR" sz="1100" dirty="0">
              <a:latin typeface="Century Gothic" pitchFamily="34" charset="0"/>
            </a:endParaRPr>
          </a:p>
        </p:txBody>
      </p:sp>
      <p:sp>
        <p:nvSpPr>
          <p:cNvPr id="127" name="Rectangle à coins arrondis 126"/>
          <p:cNvSpPr/>
          <p:nvPr/>
        </p:nvSpPr>
        <p:spPr>
          <a:xfrm>
            <a:off x="1857388" y="4643446"/>
            <a:ext cx="1071538" cy="285752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/>
            <a:r>
              <a:rPr lang="fr-FR" sz="1100" dirty="0">
                <a:solidFill>
                  <a:prstClr val="black"/>
                </a:solidFill>
                <a:latin typeface="Century Gothic" pitchFamily="34" charset="0"/>
              </a:rPr>
              <a:t>"</a:t>
            </a:r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Key </a:t>
            </a:r>
            <a:r>
              <a:rPr lang="fr-FR" sz="1100" i="1" dirty="0" err="1">
                <a:solidFill>
                  <a:prstClr val="black"/>
                </a:solidFill>
                <a:latin typeface="Century Gothic" pitchFamily="34" charset="0"/>
              </a:rPr>
              <a:t>title</a:t>
            </a:r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*</a:t>
            </a:r>
            <a:r>
              <a:rPr lang="fr-FR" sz="1100" dirty="0">
                <a:solidFill>
                  <a:prstClr val="black"/>
                </a:solidFill>
                <a:latin typeface="Century Gothic" pitchFamily="34" charset="0"/>
              </a:rPr>
              <a:t>"</a:t>
            </a:r>
          </a:p>
        </p:txBody>
      </p:sp>
      <p:sp>
        <p:nvSpPr>
          <p:cNvPr id="129" name="Rectangle à coins arrondis 128"/>
          <p:cNvSpPr/>
          <p:nvPr/>
        </p:nvSpPr>
        <p:spPr>
          <a:xfrm>
            <a:off x="285720" y="5072074"/>
            <a:ext cx="2643206" cy="357190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/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"</a:t>
            </a:r>
            <a:r>
              <a:rPr lang="fr-FR" sz="1100" i="1" dirty="0" err="1">
                <a:solidFill>
                  <a:prstClr val="black"/>
                </a:solidFill>
                <a:latin typeface="Century Gothic" pitchFamily="34" charset="0"/>
              </a:rPr>
              <a:t>Abbreviated</a:t>
            </a:r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 Key </a:t>
            </a:r>
            <a:r>
              <a:rPr lang="fr-FR" sz="1100" i="1" dirty="0" err="1">
                <a:solidFill>
                  <a:prstClr val="black"/>
                </a:solidFill>
                <a:latin typeface="Century Gothic" pitchFamily="34" charset="0"/>
              </a:rPr>
              <a:t>Title</a:t>
            </a:r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 or </a:t>
            </a:r>
            <a:r>
              <a:rPr lang="fr-FR" sz="1100" i="1" dirty="0" err="1">
                <a:solidFill>
                  <a:prstClr val="black"/>
                </a:solidFill>
                <a:latin typeface="Century Gothic" pitchFamily="34" charset="0"/>
              </a:rPr>
              <a:t>Parallel</a:t>
            </a:r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 </a:t>
            </a:r>
            <a:r>
              <a:rPr lang="fr-FR" sz="1100" i="1" dirty="0" err="1">
                <a:solidFill>
                  <a:prstClr val="black"/>
                </a:solidFill>
                <a:latin typeface="Century Gothic" pitchFamily="34" charset="0"/>
              </a:rPr>
              <a:t>Title</a:t>
            </a:r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 or Variant </a:t>
            </a:r>
            <a:r>
              <a:rPr lang="fr-FR" sz="1100" i="1" dirty="0" err="1">
                <a:solidFill>
                  <a:prstClr val="black"/>
                </a:solidFill>
                <a:latin typeface="Century Gothic" pitchFamily="34" charset="0"/>
              </a:rPr>
              <a:t>Title</a:t>
            </a:r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**"</a:t>
            </a:r>
          </a:p>
        </p:txBody>
      </p:sp>
      <p:cxnSp>
        <p:nvCxnSpPr>
          <p:cNvPr id="130" name="Forme 69"/>
          <p:cNvCxnSpPr>
            <a:stCxn id="47" idx="1"/>
            <a:endCxn id="129" idx="3"/>
          </p:cNvCxnSpPr>
          <p:nvPr/>
        </p:nvCxnSpPr>
        <p:spPr>
          <a:xfrm rot="10800000" flipV="1">
            <a:off x="2928926" y="3393281"/>
            <a:ext cx="1785950" cy="185738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ZoneTexte 133"/>
          <p:cNvSpPr txBox="1"/>
          <p:nvPr/>
        </p:nvSpPr>
        <p:spPr>
          <a:xfrm>
            <a:off x="3143240" y="4929198"/>
            <a:ext cx="2000264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schema:alternateName</a:t>
            </a:r>
            <a:endParaRPr lang="en-US" sz="1100" dirty="0">
              <a:latin typeface="Century Gothic" pitchFamily="34" charset="0"/>
            </a:endParaRPr>
          </a:p>
        </p:txBody>
      </p:sp>
      <p:cxnSp>
        <p:nvCxnSpPr>
          <p:cNvPr id="85" name="Forme 69"/>
          <p:cNvCxnSpPr>
            <a:stCxn id="43" idx="0"/>
            <a:endCxn id="87" idx="3"/>
          </p:cNvCxnSpPr>
          <p:nvPr/>
        </p:nvCxnSpPr>
        <p:spPr>
          <a:xfrm rot="16200000" flipV="1">
            <a:off x="1410868" y="339307"/>
            <a:ext cx="250034" cy="214314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ZoneTexte 85"/>
          <p:cNvSpPr txBox="1"/>
          <p:nvPr/>
        </p:nvSpPr>
        <p:spPr>
          <a:xfrm>
            <a:off x="1643042" y="285728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rdf:value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87" name="Rectangle à coins arrondis 86"/>
          <p:cNvSpPr/>
          <p:nvPr/>
        </p:nvSpPr>
        <p:spPr>
          <a:xfrm>
            <a:off x="142844" y="214290"/>
            <a:ext cx="1285884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/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"Key </a:t>
            </a:r>
            <a:r>
              <a:rPr lang="fr-FR" sz="1100" i="1" dirty="0" err="1">
                <a:solidFill>
                  <a:prstClr val="black"/>
                </a:solidFill>
                <a:latin typeface="Century Gothic" pitchFamily="34" charset="0"/>
              </a:rPr>
              <a:t>title</a:t>
            </a:r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*"</a:t>
            </a:r>
          </a:p>
        </p:txBody>
      </p:sp>
      <p:cxnSp>
        <p:nvCxnSpPr>
          <p:cNvPr id="89" name="Forme 69"/>
          <p:cNvCxnSpPr>
            <a:stCxn id="44" idx="0"/>
            <a:endCxn id="91" idx="3"/>
          </p:cNvCxnSpPr>
          <p:nvPr/>
        </p:nvCxnSpPr>
        <p:spPr>
          <a:xfrm rot="16200000" flipV="1">
            <a:off x="1410868" y="1196562"/>
            <a:ext cx="250034" cy="214314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ZoneTexte 89"/>
          <p:cNvSpPr txBox="1"/>
          <p:nvPr/>
        </p:nvSpPr>
        <p:spPr>
          <a:xfrm>
            <a:off x="1643042" y="1142983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rdf:value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91" name="Rectangle à coins arrondis 90"/>
          <p:cNvSpPr/>
          <p:nvPr/>
        </p:nvSpPr>
        <p:spPr>
          <a:xfrm>
            <a:off x="142844" y="1071545"/>
            <a:ext cx="1285884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/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"</a:t>
            </a:r>
            <a:r>
              <a:rPr lang="fr-FR" sz="1100" i="1" dirty="0" err="1">
                <a:solidFill>
                  <a:prstClr val="black"/>
                </a:solidFill>
                <a:latin typeface="Century Gothic" pitchFamily="34" charset="0"/>
              </a:rPr>
              <a:t>Abbreviated</a:t>
            </a:r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 Key </a:t>
            </a:r>
            <a:r>
              <a:rPr lang="fr-FR" sz="1100" i="1" dirty="0" err="1">
                <a:solidFill>
                  <a:prstClr val="black"/>
                </a:solidFill>
                <a:latin typeface="Century Gothic" pitchFamily="34" charset="0"/>
              </a:rPr>
              <a:t>Title</a:t>
            </a:r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**"</a:t>
            </a:r>
          </a:p>
        </p:txBody>
      </p:sp>
      <p:cxnSp>
        <p:nvCxnSpPr>
          <p:cNvPr id="92" name="Forme 69"/>
          <p:cNvCxnSpPr>
            <a:stCxn id="45" idx="0"/>
            <a:endCxn id="136" idx="3"/>
          </p:cNvCxnSpPr>
          <p:nvPr/>
        </p:nvCxnSpPr>
        <p:spPr>
          <a:xfrm rot="16200000" flipV="1">
            <a:off x="1410869" y="2196695"/>
            <a:ext cx="250033" cy="214314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ZoneTexte 92"/>
          <p:cNvSpPr txBox="1"/>
          <p:nvPr/>
        </p:nvSpPr>
        <p:spPr>
          <a:xfrm>
            <a:off x="1643042" y="2143115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rdf:value</a:t>
            </a:r>
            <a:endParaRPr lang="en-US" sz="1100" dirty="0">
              <a:latin typeface="Century Gothic" pitchFamily="34" charset="0"/>
            </a:endParaRPr>
          </a:p>
        </p:txBody>
      </p:sp>
      <p:cxnSp>
        <p:nvCxnSpPr>
          <p:cNvPr id="95" name="Forme 69"/>
          <p:cNvCxnSpPr>
            <a:stCxn id="46" idx="0"/>
            <a:endCxn id="97" idx="3"/>
          </p:cNvCxnSpPr>
          <p:nvPr/>
        </p:nvCxnSpPr>
        <p:spPr>
          <a:xfrm rot="16200000" flipV="1">
            <a:off x="1410868" y="2982513"/>
            <a:ext cx="250034" cy="214314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ZoneTexte 95"/>
          <p:cNvSpPr txBox="1"/>
          <p:nvPr/>
        </p:nvSpPr>
        <p:spPr>
          <a:xfrm>
            <a:off x="1643042" y="2928934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rdf:value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97" name="Rectangle à coins arrondis 96"/>
          <p:cNvSpPr/>
          <p:nvPr/>
        </p:nvSpPr>
        <p:spPr>
          <a:xfrm>
            <a:off x="285720" y="2857496"/>
            <a:ext cx="1143008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/>
            <a:r>
              <a:rPr lang="fr-FR" sz="1200" dirty="0">
                <a:solidFill>
                  <a:prstClr val="black"/>
                </a:solidFill>
                <a:latin typeface="Century Gothic" pitchFamily="34" charset="0"/>
              </a:rPr>
              <a:t>"</a:t>
            </a:r>
            <a:r>
              <a:rPr lang="fr-FR" sz="1200" i="1" dirty="0" err="1">
                <a:solidFill>
                  <a:prstClr val="black"/>
                </a:solidFill>
                <a:latin typeface="Century Gothic" pitchFamily="34" charset="0"/>
              </a:rPr>
              <a:t>Other</a:t>
            </a:r>
            <a:r>
              <a:rPr lang="fr-FR" sz="1200" i="1" dirty="0">
                <a:solidFill>
                  <a:prstClr val="black"/>
                </a:solidFill>
                <a:latin typeface="Century Gothic" pitchFamily="34" charset="0"/>
              </a:rPr>
              <a:t> </a:t>
            </a:r>
            <a:r>
              <a:rPr lang="fr-FR" sz="1200" i="1" dirty="0" err="1">
                <a:solidFill>
                  <a:prstClr val="black"/>
                </a:solidFill>
                <a:latin typeface="Century Gothic" pitchFamily="34" charset="0"/>
              </a:rPr>
              <a:t>title</a:t>
            </a:r>
            <a:r>
              <a:rPr lang="fr-FR" sz="1200" i="1" dirty="0">
                <a:solidFill>
                  <a:prstClr val="black"/>
                </a:solidFill>
                <a:latin typeface="Century Gothic" pitchFamily="34" charset="0"/>
              </a:rPr>
              <a:t>**</a:t>
            </a:r>
            <a:r>
              <a:rPr lang="fr-FR" sz="1200" dirty="0">
                <a:solidFill>
                  <a:prstClr val="black"/>
                </a:solidFill>
                <a:latin typeface="Century Gothic" pitchFamily="34" charset="0"/>
              </a:rPr>
              <a:t>"</a:t>
            </a:r>
            <a:endParaRPr lang="fr-FR" sz="1200" b="1" dirty="0">
              <a:solidFill>
                <a:prstClr val="black"/>
              </a:solidFill>
              <a:latin typeface="Century Gothic" pitchFamily="34" charset="0"/>
            </a:endParaRPr>
          </a:p>
        </p:txBody>
      </p:sp>
      <p:sp>
        <p:nvSpPr>
          <p:cNvPr id="122" name="ZoneTexte 121"/>
          <p:cNvSpPr txBox="1"/>
          <p:nvPr/>
        </p:nvSpPr>
        <p:spPr>
          <a:xfrm>
            <a:off x="3143240" y="1214422"/>
            <a:ext cx="1428760" cy="430887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bf:title</a:t>
            </a:r>
            <a:endParaRPr lang="fr-FR" sz="1100" dirty="0">
              <a:latin typeface="Century Gothic" pitchFamily="34" charset="0"/>
            </a:endParaRPr>
          </a:p>
          <a:p>
            <a:r>
              <a:rPr lang="fr-FR" sz="1100" dirty="0">
                <a:latin typeface="Century Gothic" pitchFamily="34" charset="0"/>
              </a:rPr>
              <a:t> </a:t>
            </a:r>
            <a:r>
              <a:rPr lang="fr-FR" sz="1100" i="1" dirty="0">
                <a:latin typeface="Century Gothic" pitchFamily="34" charset="0"/>
              </a:rPr>
              <a:t>(+ </a:t>
            </a:r>
            <a:r>
              <a:rPr lang="fr-FR" sz="1100" i="1" dirty="0" err="1">
                <a:latin typeface="Century Gothic" pitchFamily="34" charset="0"/>
              </a:rPr>
              <a:t>bf:identifiedBy</a:t>
            </a:r>
            <a:r>
              <a:rPr lang="fr-FR" sz="1100" i="1" dirty="0">
                <a:latin typeface="Century Gothic" pitchFamily="34" charset="0"/>
              </a:rPr>
              <a:t>)</a:t>
            </a:r>
            <a:endParaRPr lang="en-US" sz="1100" i="1" dirty="0">
              <a:latin typeface="Century Gothic" pitchFamily="34" charset="0"/>
            </a:endParaRPr>
          </a:p>
        </p:txBody>
      </p:sp>
      <p:cxnSp>
        <p:nvCxnSpPr>
          <p:cNvPr id="131" name="Forme 69"/>
          <p:cNvCxnSpPr>
            <a:stCxn id="46" idx="2"/>
            <a:endCxn id="132" idx="3"/>
          </p:cNvCxnSpPr>
          <p:nvPr/>
        </p:nvCxnSpPr>
        <p:spPr>
          <a:xfrm rot="5400000">
            <a:off x="1410869" y="3589736"/>
            <a:ext cx="250033" cy="214314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ectangle à coins arrondis 131"/>
          <p:cNvSpPr/>
          <p:nvPr/>
        </p:nvSpPr>
        <p:spPr>
          <a:xfrm>
            <a:off x="928662" y="3714753"/>
            <a:ext cx="500066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/>
            <a:r>
              <a:rPr lang="fr-FR" sz="1200" b="1" dirty="0">
                <a:solidFill>
                  <a:prstClr val="black"/>
                </a:solidFill>
                <a:latin typeface="Century Gothic" pitchFamily="34" charset="0"/>
              </a:rPr>
              <a:t>"…"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572264" y="3643314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0" name="Rectangle à coins arrondis 149"/>
          <p:cNvSpPr/>
          <p:nvPr/>
        </p:nvSpPr>
        <p:spPr>
          <a:xfrm>
            <a:off x="7072330" y="4143380"/>
            <a:ext cx="1509722" cy="285752"/>
          </a:xfrm>
          <a:prstGeom prst="roundRect">
            <a:avLst>
              <a:gd name="adj" fmla="val 2144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100" b="1" dirty="0">
                <a:solidFill>
                  <a:schemeClr val="tx1"/>
                </a:solidFill>
                <a:latin typeface="Century Gothic" pitchFamily="34" charset="0"/>
              </a:rPr>
              <a:t>UDC </a:t>
            </a:r>
            <a:r>
              <a:rPr lang="fr-FR" sz="1100" b="1" dirty="0" err="1">
                <a:solidFill>
                  <a:schemeClr val="tx1"/>
                </a:solidFill>
                <a:latin typeface="Century Gothic" pitchFamily="34" charset="0"/>
              </a:rPr>
              <a:t>Summary</a:t>
            </a:r>
            <a:r>
              <a:rPr lang="fr-FR" sz="1100" b="1" dirty="0">
                <a:solidFill>
                  <a:schemeClr val="tx1"/>
                </a:solidFill>
                <a:latin typeface="Century Gothic" pitchFamily="34" charset="0"/>
              </a:rPr>
              <a:t> URI</a:t>
            </a:r>
            <a:endParaRPr lang="fr-FR" sz="1000" dirty="0">
              <a:solidFill>
                <a:prstClr val="black"/>
              </a:solidFill>
              <a:latin typeface="Century Gothic" pitchFamily="34" charset="0"/>
            </a:endParaRPr>
          </a:p>
        </p:txBody>
      </p:sp>
      <p:cxnSp>
        <p:nvCxnSpPr>
          <p:cNvPr id="151" name="Forme 69"/>
          <p:cNvCxnSpPr>
            <a:stCxn id="146" idx="2"/>
            <a:endCxn id="150" idx="1"/>
          </p:cNvCxnSpPr>
          <p:nvPr/>
        </p:nvCxnSpPr>
        <p:spPr>
          <a:xfrm rot="16200000" flipH="1">
            <a:off x="6607983" y="3821909"/>
            <a:ext cx="500066" cy="428628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ZoneTexte 159"/>
          <p:cNvSpPr txBox="1"/>
          <p:nvPr/>
        </p:nvSpPr>
        <p:spPr>
          <a:xfrm>
            <a:off x="5643570" y="4000504"/>
            <a:ext cx="1285884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/>
            <a:r>
              <a:rPr lang="fr-FR" sz="1100" dirty="0" err="1">
                <a:latin typeface="Century Gothic" pitchFamily="34" charset="0"/>
              </a:rPr>
              <a:t>schema:about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88" name="Rectangle 187"/>
          <p:cNvSpPr/>
          <p:nvPr/>
        </p:nvSpPr>
        <p:spPr>
          <a:xfrm>
            <a:off x="5000628" y="3643314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9" name="Rectangle 188"/>
          <p:cNvSpPr/>
          <p:nvPr/>
        </p:nvSpPr>
        <p:spPr>
          <a:xfrm>
            <a:off x="5000628" y="5500702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9" name="Rectangle à coins arrondis 198"/>
          <p:cNvSpPr/>
          <p:nvPr/>
        </p:nvSpPr>
        <p:spPr>
          <a:xfrm>
            <a:off x="7072330" y="928670"/>
            <a:ext cx="1571636" cy="500066"/>
          </a:xfrm>
          <a:prstGeom prst="roundRect">
            <a:avLst>
              <a:gd name="adj" fmla="val 2144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200" b="1" i="1" dirty="0">
                <a:solidFill>
                  <a:schemeClr val="tx1"/>
                </a:solidFill>
                <a:latin typeface="Century Gothic" pitchFamily="34" charset="0"/>
              </a:rPr>
              <a:t>_:</a:t>
            </a:r>
            <a:r>
              <a:rPr lang="fr-FR" sz="1200" b="1" i="1" dirty="0" err="1">
                <a:solidFill>
                  <a:schemeClr val="tx1"/>
                </a:solidFill>
                <a:latin typeface="Century Gothic" pitchFamily="34" charset="0"/>
              </a:rPr>
              <a:t>blank</a:t>
            </a:r>
            <a:r>
              <a:rPr lang="fr-FR" sz="1200" b="1" i="1" dirty="0">
                <a:solidFill>
                  <a:schemeClr val="tx1"/>
                </a:solidFill>
                <a:latin typeface="Century Gothic" pitchFamily="34" charset="0"/>
              </a:rPr>
              <a:t> </a:t>
            </a:r>
            <a:r>
              <a:rPr lang="fr-FR" sz="1200" b="1" i="1" dirty="0" err="1">
                <a:solidFill>
                  <a:schemeClr val="tx1"/>
                </a:solidFill>
                <a:latin typeface="Century Gothic" pitchFamily="34" charset="0"/>
              </a:rPr>
              <a:t>node</a:t>
            </a:r>
            <a:r>
              <a:rPr lang="fr-FR" sz="1200" b="1" i="1" dirty="0">
                <a:solidFill>
                  <a:schemeClr val="tx1"/>
                </a:solidFill>
                <a:latin typeface="Century Gothic" pitchFamily="34" charset="0"/>
              </a:rPr>
              <a:t> </a:t>
            </a:r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bf:ClassificationUdc</a:t>
            </a:r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</p:txBody>
      </p:sp>
      <p:cxnSp>
        <p:nvCxnSpPr>
          <p:cNvPr id="200" name="Forme 69"/>
          <p:cNvCxnSpPr>
            <a:stCxn id="199" idx="0"/>
            <a:endCxn id="203" idx="2"/>
          </p:cNvCxnSpPr>
          <p:nvPr/>
        </p:nvCxnSpPr>
        <p:spPr>
          <a:xfrm rot="5400000" flipH="1" flipV="1">
            <a:off x="7911726" y="589340"/>
            <a:ext cx="285752" cy="392909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ZoneTexte 201"/>
          <p:cNvSpPr txBox="1"/>
          <p:nvPr/>
        </p:nvSpPr>
        <p:spPr>
          <a:xfrm>
            <a:off x="8286776" y="642918"/>
            <a:ext cx="857224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rdf:value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203" name="Rectangle à coins arrondis 202"/>
          <p:cNvSpPr/>
          <p:nvPr/>
        </p:nvSpPr>
        <p:spPr>
          <a:xfrm>
            <a:off x="8001024" y="500042"/>
            <a:ext cx="500066" cy="142876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200" b="1" dirty="0">
                <a:solidFill>
                  <a:prstClr val="black"/>
                </a:solidFill>
                <a:latin typeface="Century Gothic" pitchFamily="34" charset="0"/>
              </a:rPr>
              <a:t>"…"</a:t>
            </a:r>
          </a:p>
        </p:txBody>
      </p:sp>
      <p:cxnSp>
        <p:nvCxnSpPr>
          <p:cNvPr id="214" name="Forme 69"/>
          <p:cNvCxnSpPr>
            <a:stCxn id="47" idx="0"/>
            <a:endCxn id="199" idx="1"/>
          </p:cNvCxnSpPr>
          <p:nvPr/>
        </p:nvCxnSpPr>
        <p:spPr>
          <a:xfrm rot="5400000" flipH="1" flipV="1">
            <a:off x="5661430" y="1589472"/>
            <a:ext cx="1821669" cy="1000132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ZoneTexte 216"/>
          <p:cNvSpPr txBox="1"/>
          <p:nvPr/>
        </p:nvSpPr>
        <p:spPr>
          <a:xfrm>
            <a:off x="5715008" y="809936"/>
            <a:ext cx="135732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/>
            <a:r>
              <a:rPr lang="fr-FR" sz="1100" dirty="0" err="1">
                <a:latin typeface="Century Gothic" pitchFamily="34" charset="0"/>
              </a:rPr>
              <a:t>bf:classification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36" name="Rectangle à coins arrondis 135"/>
          <p:cNvSpPr/>
          <p:nvPr/>
        </p:nvSpPr>
        <p:spPr>
          <a:xfrm>
            <a:off x="285720" y="2071678"/>
            <a:ext cx="1143008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/>
            <a:r>
              <a:rPr lang="fr-FR" sz="1200" dirty="0">
                <a:solidFill>
                  <a:prstClr val="black"/>
                </a:solidFill>
                <a:latin typeface="Century Gothic" pitchFamily="34" charset="0"/>
              </a:rPr>
              <a:t>"</a:t>
            </a:r>
            <a:r>
              <a:rPr lang="fr-FR" sz="1200" i="1" dirty="0" err="1">
                <a:solidFill>
                  <a:prstClr val="black"/>
                </a:solidFill>
                <a:latin typeface="Century Gothic" pitchFamily="34" charset="0"/>
              </a:rPr>
              <a:t>Other</a:t>
            </a:r>
            <a:r>
              <a:rPr lang="fr-FR" sz="1200" i="1" dirty="0">
                <a:solidFill>
                  <a:prstClr val="black"/>
                </a:solidFill>
                <a:latin typeface="Century Gothic" pitchFamily="34" charset="0"/>
              </a:rPr>
              <a:t> </a:t>
            </a:r>
            <a:r>
              <a:rPr lang="fr-FR" sz="1200" i="1" dirty="0" err="1">
                <a:solidFill>
                  <a:prstClr val="black"/>
                </a:solidFill>
                <a:latin typeface="Century Gothic" pitchFamily="34" charset="0"/>
              </a:rPr>
              <a:t>title</a:t>
            </a:r>
            <a:r>
              <a:rPr lang="fr-FR" sz="1200" i="1" dirty="0">
                <a:solidFill>
                  <a:prstClr val="black"/>
                </a:solidFill>
                <a:latin typeface="Century Gothic" pitchFamily="34" charset="0"/>
              </a:rPr>
              <a:t>**</a:t>
            </a:r>
            <a:r>
              <a:rPr lang="fr-FR" sz="1200" dirty="0">
                <a:solidFill>
                  <a:prstClr val="black"/>
                </a:solidFill>
                <a:latin typeface="Century Gothic" pitchFamily="34" charset="0"/>
              </a:rPr>
              <a:t>"</a:t>
            </a:r>
            <a:endParaRPr lang="fr-FR" sz="1200" b="1" dirty="0">
              <a:solidFill>
                <a:prstClr val="black"/>
              </a:solidFill>
              <a:latin typeface="Century Gothic" pitchFamily="34" charset="0"/>
            </a:endParaRPr>
          </a:p>
        </p:txBody>
      </p:sp>
      <p:sp>
        <p:nvSpPr>
          <p:cNvPr id="138" name="Rectangle à coins arrondis 137"/>
          <p:cNvSpPr/>
          <p:nvPr/>
        </p:nvSpPr>
        <p:spPr>
          <a:xfrm>
            <a:off x="71406" y="5572116"/>
            <a:ext cx="4286280" cy="928718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fr-FR" sz="1000" i="1" dirty="0">
                <a:solidFill>
                  <a:prstClr val="black"/>
                </a:solidFill>
                <a:latin typeface="Century Gothic" pitchFamily="34" charset="0"/>
              </a:rPr>
              <a:t>*: the </a:t>
            </a:r>
            <a:r>
              <a:rPr lang="fr-FR" sz="1000" i="1" dirty="0" err="1">
                <a:solidFill>
                  <a:prstClr val="black"/>
                </a:solidFill>
                <a:latin typeface="Century Gothic" pitchFamily="34" charset="0"/>
              </a:rPr>
              <a:t>key</a:t>
            </a:r>
            <a:r>
              <a:rPr lang="fr-FR" sz="1000" i="1" dirty="0">
                <a:solidFill>
                  <a:prstClr val="black"/>
                </a:solidFill>
                <a:latin typeface="Century Gothic" pitchFamily="34" charset="0"/>
              </a:rPr>
              <a:t> </a:t>
            </a:r>
            <a:r>
              <a:rPr lang="fr-FR" sz="1000" i="1" dirty="0" err="1">
                <a:solidFill>
                  <a:prstClr val="black"/>
                </a:solidFill>
                <a:latin typeface="Century Gothic" pitchFamily="34" charset="0"/>
              </a:rPr>
              <a:t>title</a:t>
            </a:r>
            <a:r>
              <a:rPr lang="fr-FR" sz="1000" i="1" dirty="0">
                <a:solidFill>
                  <a:prstClr val="black"/>
                </a:solidFill>
                <a:latin typeface="Century Gothic" pitchFamily="34" charset="0"/>
              </a:rPr>
              <a:t> </a:t>
            </a:r>
            <a:r>
              <a:rPr lang="fr-FR" sz="1000" i="1" dirty="0" err="1">
                <a:solidFill>
                  <a:prstClr val="black"/>
                </a:solidFill>
                <a:latin typeface="Century Gothic" pitchFamily="34" charset="0"/>
              </a:rPr>
              <a:t>is</a:t>
            </a:r>
            <a:r>
              <a:rPr lang="fr-FR" sz="1000" i="1" dirty="0">
                <a:solidFill>
                  <a:prstClr val="black"/>
                </a:solidFill>
                <a:latin typeface="Century Gothic" pitchFamily="34" charset="0"/>
              </a:rPr>
              <a:t> </a:t>
            </a:r>
            <a:r>
              <a:rPr lang="fr-FR" sz="1000" i="1" dirty="0" err="1">
                <a:solidFill>
                  <a:prstClr val="black"/>
                </a:solidFill>
                <a:latin typeface="Century Gothic" pitchFamily="34" charset="0"/>
              </a:rPr>
              <a:t>both</a:t>
            </a:r>
            <a:r>
              <a:rPr lang="fr-FR" sz="1000" i="1" dirty="0">
                <a:solidFill>
                  <a:prstClr val="black"/>
                </a:solidFill>
                <a:latin typeface="Century Gothic" pitchFamily="34" charset="0"/>
              </a:rPr>
              <a:t> in </a:t>
            </a:r>
            <a:r>
              <a:rPr lang="fr-FR" sz="1000" i="1" dirty="0" err="1">
                <a:solidFill>
                  <a:prstClr val="black"/>
                </a:solidFill>
                <a:latin typeface="Century Gothic" pitchFamily="34" charset="0"/>
              </a:rPr>
              <a:t>schema:name</a:t>
            </a:r>
            <a:r>
              <a:rPr lang="fr-FR" sz="1000" i="1" dirty="0">
                <a:solidFill>
                  <a:prstClr val="black"/>
                </a:solidFill>
                <a:latin typeface="Century Gothic" pitchFamily="34" charset="0"/>
              </a:rPr>
              <a:t> and in the #</a:t>
            </a:r>
            <a:r>
              <a:rPr lang="fr-FR" sz="1000" i="1" dirty="0" err="1">
                <a:solidFill>
                  <a:prstClr val="black"/>
                </a:solidFill>
                <a:latin typeface="Century Gothic" pitchFamily="34" charset="0"/>
              </a:rPr>
              <a:t>KeyTitle</a:t>
            </a:r>
            <a:r>
              <a:rPr lang="fr-FR" sz="1000" i="1" dirty="0">
                <a:solidFill>
                  <a:prstClr val="black"/>
                </a:solidFill>
                <a:latin typeface="Century Gothic" pitchFamily="34" charset="0"/>
              </a:rPr>
              <a:t> </a:t>
            </a:r>
            <a:r>
              <a:rPr lang="fr-FR" sz="1000" i="1" dirty="0" err="1">
                <a:solidFill>
                  <a:prstClr val="black"/>
                </a:solidFill>
                <a:latin typeface="Century Gothic" pitchFamily="34" charset="0"/>
              </a:rPr>
              <a:t>entity</a:t>
            </a:r>
            <a:endParaRPr lang="fr-FR" sz="1000" i="1" dirty="0">
              <a:solidFill>
                <a:prstClr val="black"/>
              </a:solidFill>
              <a:latin typeface="Century Gothic" pitchFamily="34" charset="0"/>
            </a:endParaRPr>
          </a:p>
          <a:p>
            <a:pPr>
              <a:buFont typeface="Arial" charset="0"/>
              <a:buChar char="•"/>
            </a:pPr>
            <a:endParaRPr lang="fr-FR" sz="1000" i="1" dirty="0">
              <a:solidFill>
                <a:prstClr val="black"/>
              </a:solidFill>
              <a:latin typeface="Century Gothic" pitchFamily="34" charset="0"/>
            </a:endParaRPr>
          </a:p>
          <a:p>
            <a:r>
              <a:rPr lang="fr-FR" sz="1000" i="1" dirty="0">
                <a:solidFill>
                  <a:prstClr val="black"/>
                </a:solidFill>
                <a:latin typeface="Century Gothic" pitchFamily="34" charset="0"/>
              </a:rPr>
              <a:t>** : </a:t>
            </a:r>
            <a:r>
              <a:rPr lang="fr-FR" sz="1000" i="1" dirty="0" err="1">
                <a:solidFill>
                  <a:prstClr val="black"/>
                </a:solidFill>
                <a:latin typeface="Century Gothic" pitchFamily="34" charset="0"/>
              </a:rPr>
              <a:t>abbreviated</a:t>
            </a:r>
            <a:r>
              <a:rPr lang="fr-FR" sz="1000" i="1" dirty="0">
                <a:solidFill>
                  <a:prstClr val="black"/>
                </a:solidFill>
                <a:latin typeface="Century Gothic" pitchFamily="34" charset="0"/>
              </a:rPr>
              <a:t> </a:t>
            </a:r>
            <a:r>
              <a:rPr lang="fr-FR" sz="1000" i="1" dirty="0" err="1">
                <a:solidFill>
                  <a:prstClr val="black"/>
                </a:solidFill>
                <a:latin typeface="Century Gothic" pitchFamily="34" charset="0"/>
              </a:rPr>
              <a:t>key</a:t>
            </a:r>
            <a:r>
              <a:rPr lang="fr-FR" sz="1000" i="1" dirty="0">
                <a:solidFill>
                  <a:prstClr val="black"/>
                </a:solidFill>
                <a:latin typeface="Century Gothic" pitchFamily="34" charset="0"/>
              </a:rPr>
              <a:t> </a:t>
            </a:r>
            <a:r>
              <a:rPr lang="fr-FR" sz="1000" i="1" dirty="0" err="1">
                <a:solidFill>
                  <a:prstClr val="black"/>
                </a:solidFill>
                <a:latin typeface="Century Gothic" pitchFamily="34" charset="0"/>
              </a:rPr>
              <a:t>title</a:t>
            </a:r>
            <a:r>
              <a:rPr lang="fr-FR" sz="1000" i="1" dirty="0">
                <a:solidFill>
                  <a:prstClr val="black"/>
                </a:solidFill>
                <a:latin typeface="Century Gothic" pitchFamily="34" charset="0"/>
              </a:rPr>
              <a:t>, </a:t>
            </a:r>
            <a:r>
              <a:rPr lang="fr-FR" sz="1000" i="1" dirty="0" err="1">
                <a:solidFill>
                  <a:prstClr val="black"/>
                </a:solidFill>
                <a:latin typeface="Century Gothic" pitchFamily="34" charset="0"/>
              </a:rPr>
              <a:t>parallel</a:t>
            </a:r>
            <a:r>
              <a:rPr lang="fr-FR" sz="1000" i="1" dirty="0">
                <a:solidFill>
                  <a:prstClr val="black"/>
                </a:solidFill>
                <a:latin typeface="Century Gothic" pitchFamily="34" charset="0"/>
              </a:rPr>
              <a:t> and variant </a:t>
            </a:r>
            <a:r>
              <a:rPr lang="fr-FR" sz="1000" i="1" dirty="0" err="1">
                <a:solidFill>
                  <a:prstClr val="black"/>
                </a:solidFill>
                <a:latin typeface="Century Gothic" pitchFamily="34" charset="0"/>
              </a:rPr>
              <a:t>titles</a:t>
            </a:r>
            <a:r>
              <a:rPr lang="fr-FR" sz="1000" i="1" dirty="0">
                <a:solidFill>
                  <a:prstClr val="black"/>
                </a:solidFill>
                <a:latin typeface="Century Gothic" pitchFamily="34" charset="0"/>
              </a:rPr>
              <a:t> are </a:t>
            </a:r>
            <a:r>
              <a:rPr lang="fr-FR" sz="1000" i="1" dirty="0" err="1">
                <a:solidFill>
                  <a:prstClr val="black"/>
                </a:solidFill>
                <a:latin typeface="Century Gothic" pitchFamily="34" charset="0"/>
              </a:rPr>
              <a:t>both</a:t>
            </a:r>
            <a:r>
              <a:rPr lang="fr-FR" sz="1000" i="1" dirty="0">
                <a:solidFill>
                  <a:prstClr val="black"/>
                </a:solidFill>
                <a:latin typeface="Century Gothic" pitchFamily="34" charset="0"/>
              </a:rPr>
              <a:t> in </a:t>
            </a:r>
            <a:r>
              <a:rPr lang="fr-FR" sz="1000" i="1" dirty="0" err="1">
                <a:solidFill>
                  <a:prstClr val="black"/>
                </a:solidFill>
                <a:latin typeface="Century Gothic" pitchFamily="34" charset="0"/>
              </a:rPr>
              <a:t>schema:alternateNames</a:t>
            </a:r>
            <a:r>
              <a:rPr lang="fr-FR" sz="1000" i="1" dirty="0">
                <a:solidFill>
                  <a:prstClr val="black"/>
                </a:solidFill>
                <a:latin typeface="Century Gothic" pitchFamily="34" charset="0"/>
              </a:rPr>
              <a:t> and in </a:t>
            </a:r>
            <a:r>
              <a:rPr lang="fr-FR" sz="1000" i="1" dirty="0" err="1">
                <a:solidFill>
                  <a:prstClr val="black"/>
                </a:solidFill>
                <a:latin typeface="Century Gothic" pitchFamily="34" charset="0"/>
              </a:rPr>
              <a:t>bf:AbbreviatedTitle</a:t>
            </a:r>
            <a:r>
              <a:rPr lang="fr-FR" sz="1000" i="1" dirty="0">
                <a:solidFill>
                  <a:prstClr val="black"/>
                </a:solidFill>
                <a:latin typeface="Century Gothic" pitchFamily="34" charset="0"/>
              </a:rPr>
              <a:t>, </a:t>
            </a:r>
            <a:r>
              <a:rPr lang="fr-FR" sz="1000" i="1" dirty="0" err="1">
                <a:solidFill>
                  <a:prstClr val="black"/>
                </a:solidFill>
                <a:latin typeface="Century Gothic" pitchFamily="34" charset="0"/>
              </a:rPr>
              <a:t>bf:ParallelTitle</a:t>
            </a:r>
            <a:r>
              <a:rPr lang="fr-FR" sz="1000" i="1" dirty="0">
                <a:solidFill>
                  <a:prstClr val="black"/>
                </a:solidFill>
                <a:latin typeface="Century Gothic" pitchFamily="34" charset="0"/>
              </a:rPr>
              <a:t> and </a:t>
            </a:r>
            <a:r>
              <a:rPr lang="fr-FR" sz="1000" i="1" dirty="0" err="1">
                <a:solidFill>
                  <a:prstClr val="black"/>
                </a:solidFill>
                <a:latin typeface="Century Gothic" pitchFamily="34" charset="0"/>
              </a:rPr>
              <a:t>bf:VariantTitle</a:t>
            </a:r>
            <a:r>
              <a:rPr lang="fr-FR" sz="1000" i="1" dirty="0">
                <a:solidFill>
                  <a:prstClr val="black"/>
                </a:solidFill>
                <a:latin typeface="Century Gothic" pitchFamily="34" charset="0"/>
              </a:rPr>
              <a:t> </a:t>
            </a:r>
            <a:r>
              <a:rPr lang="fr-FR" sz="1000" i="1" dirty="0" err="1">
                <a:solidFill>
                  <a:prstClr val="black"/>
                </a:solidFill>
                <a:latin typeface="Century Gothic" pitchFamily="34" charset="0"/>
              </a:rPr>
              <a:t>entities</a:t>
            </a:r>
            <a:r>
              <a:rPr lang="fr-FR" sz="1000" i="1" dirty="0">
                <a:solidFill>
                  <a:prstClr val="black"/>
                </a:solidFill>
                <a:latin typeface="Century Gothic" pitchFamily="34" charset="0"/>
              </a:rPr>
              <a:t>.</a:t>
            </a:r>
          </a:p>
        </p:txBody>
      </p:sp>
      <p:cxnSp>
        <p:nvCxnSpPr>
          <p:cNvPr id="83" name="Forme 69"/>
          <p:cNvCxnSpPr>
            <a:stCxn id="146" idx="2"/>
            <a:endCxn id="88" idx="1"/>
          </p:cNvCxnSpPr>
          <p:nvPr/>
        </p:nvCxnSpPr>
        <p:spPr>
          <a:xfrm rot="16200000" flipH="1">
            <a:off x="6357950" y="4071942"/>
            <a:ext cx="1000132" cy="428628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à coins arrondis 87"/>
          <p:cNvSpPr/>
          <p:nvPr/>
        </p:nvSpPr>
        <p:spPr>
          <a:xfrm>
            <a:off x="7072330" y="4643446"/>
            <a:ext cx="1643074" cy="285752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"UDC </a:t>
            </a:r>
            <a:r>
              <a:rPr lang="fr-FR" sz="1100" i="1" dirty="0" err="1">
                <a:solidFill>
                  <a:prstClr val="black"/>
                </a:solidFill>
                <a:latin typeface="Century Gothic" pitchFamily="34" charset="0"/>
              </a:rPr>
              <a:t>summary</a:t>
            </a:r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 label"</a:t>
            </a:r>
          </a:p>
        </p:txBody>
      </p:sp>
      <p:sp>
        <p:nvSpPr>
          <p:cNvPr id="98" name="ZoneTexte 97"/>
          <p:cNvSpPr txBox="1"/>
          <p:nvPr/>
        </p:nvSpPr>
        <p:spPr>
          <a:xfrm>
            <a:off x="5429256" y="4524712"/>
            <a:ext cx="150019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/>
            <a:r>
              <a:rPr lang="fr-FR" sz="1100" dirty="0" err="1">
                <a:latin typeface="Century Gothic" pitchFamily="34" charset="0"/>
              </a:rPr>
              <a:t>schema:keywords</a:t>
            </a:r>
            <a:endParaRPr lang="en-US" sz="1100" dirty="0">
              <a:latin typeface="Century Gothic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ZoneTexte 17"/>
          <p:cNvSpPr txBox="1"/>
          <p:nvPr/>
        </p:nvSpPr>
        <p:spPr>
          <a:xfrm>
            <a:off x="0" y="6572272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Relative </a:t>
            </a:r>
            <a:r>
              <a:rPr lang="fr-FR" sz="1200" i="1" dirty="0" err="1"/>
              <a:t>URIs</a:t>
            </a:r>
            <a:r>
              <a:rPr lang="fr-FR" sz="1200" i="1" dirty="0"/>
              <a:t> (</a:t>
            </a:r>
            <a:r>
              <a:rPr lang="fr-FR" sz="1200" i="1" dirty="0" err="1"/>
              <a:t>beginning</a:t>
            </a:r>
            <a:r>
              <a:rPr lang="fr-FR" sz="1200" i="1" dirty="0"/>
              <a:t> </a:t>
            </a:r>
            <a:r>
              <a:rPr lang="fr-FR" sz="1200" i="1" dirty="0" err="1"/>
              <a:t>with</a:t>
            </a:r>
            <a:r>
              <a:rPr lang="fr-FR" sz="1200" i="1" dirty="0"/>
              <a:t> #) are relative to the ISSN </a:t>
            </a:r>
            <a:r>
              <a:rPr lang="fr-FR" sz="1200" i="1" dirty="0" err="1"/>
              <a:t>resource</a:t>
            </a:r>
            <a:r>
              <a:rPr lang="fr-FR" sz="1200" i="1" dirty="0"/>
              <a:t> URI : http://issn.org/resource/ISSN/{ISSN}</a:t>
            </a:r>
            <a:endParaRPr lang="en-US" sz="1200" i="1" dirty="0"/>
          </a:p>
        </p:txBody>
      </p:sp>
      <p:sp>
        <p:nvSpPr>
          <p:cNvPr id="47" name="Rectangle à coins arrondis 46"/>
          <p:cNvSpPr/>
          <p:nvPr/>
        </p:nvSpPr>
        <p:spPr>
          <a:xfrm>
            <a:off x="142844" y="357166"/>
            <a:ext cx="2714644" cy="785818"/>
          </a:xfrm>
          <a:prstGeom prst="roundRect">
            <a:avLst>
              <a:gd name="adj" fmla="val 19856"/>
            </a:avLst>
          </a:prstGeom>
          <a:solidFill>
            <a:srgbClr val="F5E4E3"/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050" b="1" dirty="0">
                <a:solidFill>
                  <a:schemeClr val="tx1"/>
                </a:solidFill>
                <a:latin typeface="Century Gothic" pitchFamily="34" charset="0"/>
              </a:rPr>
              <a:t>http://issn.org/resource/ISSN/</a:t>
            </a:r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{ISSN}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bf:Work</a:t>
            </a:r>
            <a:r>
              <a:rPr lang="fr-FR" sz="1050" dirty="0">
                <a:solidFill>
                  <a:prstClr val="black"/>
                </a:solidFill>
                <a:latin typeface="Century Gothic" pitchFamily="34" charset="0"/>
              </a:rPr>
              <a:t>,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bf:Instance</a:t>
            </a:r>
            <a:r>
              <a:rPr lang="fr-FR" sz="1050" dirty="0">
                <a:solidFill>
                  <a:prstClr val="black"/>
                </a:solidFill>
                <a:latin typeface="Century Gothic" pitchFamily="34" charset="0"/>
              </a:rPr>
              <a:t>, 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schema:Periodical</a:t>
            </a:r>
            <a:endParaRPr lang="en-US" sz="12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sp>
        <p:nvSpPr>
          <p:cNvPr id="83" name="Rectangle à coins arrondis 82"/>
          <p:cNvSpPr/>
          <p:nvPr/>
        </p:nvSpPr>
        <p:spPr>
          <a:xfrm>
            <a:off x="5572132" y="357166"/>
            <a:ext cx="3429024" cy="785818"/>
          </a:xfrm>
          <a:prstGeom prst="roundRect">
            <a:avLst>
              <a:gd name="adj" fmla="val 26908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050" b="1" dirty="0">
                <a:solidFill>
                  <a:schemeClr val="tx1"/>
                </a:solidFill>
                <a:latin typeface="Century Gothic" pitchFamily="34" charset="0"/>
              </a:rPr>
              <a:t>http://issn.org/resource/ISSN/</a:t>
            </a:r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{another_ISSN}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bf:Work</a:t>
            </a:r>
            <a:r>
              <a:rPr lang="fr-FR" sz="1050" dirty="0">
                <a:solidFill>
                  <a:prstClr val="black"/>
                </a:solidFill>
                <a:latin typeface="Century Gothic" pitchFamily="34" charset="0"/>
              </a:rPr>
              <a:t>,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bf:Instance</a:t>
            </a:r>
            <a:r>
              <a:rPr lang="fr-FR" sz="1050" dirty="0">
                <a:solidFill>
                  <a:prstClr val="black"/>
                </a:solidFill>
                <a:latin typeface="Century Gothic" pitchFamily="34" charset="0"/>
              </a:rPr>
              <a:t>, 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schema:Periodical</a:t>
            </a:r>
            <a:endParaRPr lang="en-US" sz="12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sp>
        <p:nvSpPr>
          <p:cNvPr id="104" name="ZoneTexte 103"/>
          <p:cNvSpPr txBox="1"/>
          <p:nvPr/>
        </p:nvSpPr>
        <p:spPr>
          <a:xfrm>
            <a:off x="3428992" y="1428736"/>
            <a:ext cx="4929222" cy="5170646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dc:relation</a:t>
            </a:r>
            <a:endParaRPr lang="fr-FR" sz="1100" dirty="0">
              <a:latin typeface="Century Gothic" pitchFamily="34" charset="0"/>
            </a:endParaRPr>
          </a:p>
          <a:p>
            <a:r>
              <a:rPr lang="fr-FR" sz="1100" dirty="0" err="1">
                <a:latin typeface="Century Gothic" pitchFamily="34" charset="0"/>
              </a:rPr>
              <a:t>schema:citation</a:t>
            </a:r>
            <a:endParaRPr lang="fr-FR" sz="1100" dirty="0">
              <a:latin typeface="Century Gothic" pitchFamily="34" charset="0"/>
            </a:endParaRPr>
          </a:p>
          <a:p>
            <a:r>
              <a:rPr lang="en-US" sz="1100" dirty="0" err="1">
                <a:latin typeface="Century Gothic" pitchFamily="34" charset="0"/>
              </a:rPr>
              <a:t>schema:isPartOf</a:t>
            </a:r>
            <a:endParaRPr lang="en-US" sz="1100" dirty="0">
              <a:latin typeface="Century Gothic" pitchFamily="34" charset="0"/>
            </a:endParaRPr>
          </a:p>
          <a:p>
            <a:r>
              <a:rPr lang="en-US" sz="1100" dirty="0" err="1">
                <a:latin typeface="Century Gothic" pitchFamily="34" charset="0"/>
              </a:rPr>
              <a:t>schema:hasPart</a:t>
            </a:r>
            <a:endParaRPr lang="en-US" sz="1100" dirty="0">
              <a:latin typeface="Century Gothic" pitchFamily="34" charset="0"/>
            </a:endParaRPr>
          </a:p>
          <a:p>
            <a:r>
              <a:rPr lang="en-US" sz="1100" dirty="0" err="1">
                <a:latin typeface="Century Gothic" pitchFamily="34" charset="0"/>
              </a:rPr>
              <a:t>bf:hasSubseries</a:t>
            </a:r>
            <a:endParaRPr lang="en-US" sz="1100" dirty="0">
              <a:latin typeface="Century Gothic" pitchFamily="34" charset="0"/>
            </a:endParaRPr>
          </a:p>
          <a:p>
            <a:r>
              <a:rPr lang="en-US" sz="1100" dirty="0" err="1">
                <a:latin typeface="Century Gothic" pitchFamily="34" charset="0"/>
              </a:rPr>
              <a:t>bf:subseriesOf</a:t>
            </a:r>
            <a:r>
              <a:rPr lang="en-US" sz="1100" dirty="0">
                <a:latin typeface="Century Gothic" pitchFamily="34" charset="0"/>
              </a:rPr>
              <a:t> </a:t>
            </a:r>
          </a:p>
          <a:p>
            <a:r>
              <a:rPr lang="en-US" sz="1100" dirty="0" err="1">
                <a:latin typeface="Century Gothic" pitchFamily="34" charset="0"/>
              </a:rPr>
              <a:t>bibschema:translationOfWork</a:t>
            </a:r>
            <a:endParaRPr lang="en-US" sz="1100" dirty="0">
              <a:latin typeface="Century Gothic" pitchFamily="34" charset="0"/>
            </a:endParaRPr>
          </a:p>
          <a:p>
            <a:r>
              <a:rPr lang="en-US" sz="1100" dirty="0" err="1">
                <a:latin typeface="Century Gothic" pitchFamily="34" charset="0"/>
              </a:rPr>
              <a:t>bibschema:workTranslation</a:t>
            </a:r>
            <a:endParaRPr lang="en-US" sz="1100" dirty="0">
              <a:latin typeface="Century Gothic" pitchFamily="34" charset="0"/>
            </a:endParaRPr>
          </a:p>
          <a:p>
            <a:r>
              <a:rPr lang="en-US" sz="1100" dirty="0" err="1">
                <a:latin typeface="Century Gothic" pitchFamily="34" charset="0"/>
              </a:rPr>
              <a:t>bf:translationOf</a:t>
            </a:r>
            <a:endParaRPr lang="en-US" sz="1100" dirty="0">
              <a:latin typeface="Century Gothic" pitchFamily="34" charset="0"/>
            </a:endParaRPr>
          </a:p>
          <a:p>
            <a:r>
              <a:rPr lang="en-US" sz="1100" dirty="0" err="1">
                <a:latin typeface="Century Gothic" pitchFamily="34" charset="0"/>
              </a:rPr>
              <a:t>bf:translation</a:t>
            </a:r>
            <a:endParaRPr lang="en-US" sz="1100" dirty="0">
              <a:latin typeface="Century Gothic" pitchFamily="34" charset="0"/>
            </a:endParaRPr>
          </a:p>
          <a:p>
            <a:r>
              <a:rPr lang="en-US" sz="1100" dirty="0" err="1">
                <a:latin typeface="Century Gothic" pitchFamily="34" charset="0"/>
              </a:rPr>
              <a:t>bf:supplementTo</a:t>
            </a:r>
            <a:endParaRPr lang="en-US" sz="1100" dirty="0">
              <a:latin typeface="Century Gothic" pitchFamily="34" charset="0"/>
            </a:endParaRPr>
          </a:p>
          <a:p>
            <a:r>
              <a:rPr lang="en-US" sz="1100" dirty="0" err="1">
                <a:latin typeface="Century Gothic" pitchFamily="34" charset="0"/>
              </a:rPr>
              <a:t>bf:supplement</a:t>
            </a:r>
            <a:r>
              <a:rPr lang="en-US" sz="1100" dirty="0">
                <a:latin typeface="Century Gothic" pitchFamily="34" charset="0"/>
              </a:rPr>
              <a:t> </a:t>
            </a:r>
          </a:p>
          <a:p>
            <a:r>
              <a:rPr lang="en-US" sz="1100" dirty="0" err="1">
                <a:latin typeface="Century Gothic" pitchFamily="34" charset="0"/>
              </a:rPr>
              <a:t>dct:isVersionOf</a:t>
            </a:r>
            <a:r>
              <a:rPr lang="en-US" sz="1100" dirty="0">
                <a:latin typeface="Century Gothic" pitchFamily="34" charset="0"/>
              </a:rPr>
              <a:t> </a:t>
            </a:r>
          </a:p>
          <a:p>
            <a:r>
              <a:rPr lang="en-US" sz="1100" dirty="0" err="1">
                <a:latin typeface="Century Gothic" pitchFamily="34" charset="0"/>
              </a:rPr>
              <a:t>bf:otherEdition</a:t>
            </a:r>
            <a:r>
              <a:rPr lang="en-US" sz="1100" dirty="0">
                <a:latin typeface="Century Gothic" pitchFamily="34" charset="0"/>
              </a:rPr>
              <a:t> </a:t>
            </a:r>
          </a:p>
          <a:p>
            <a:r>
              <a:rPr lang="en-US" sz="1100" dirty="0" err="1">
                <a:latin typeface="Century Gothic" pitchFamily="34" charset="0"/>
              </a:rPr>
              <a:t>dct:isFormatOf</a:t>
            </a:r>
            <a:r>
              <a:rPr lang="en-US" sz="1100" dirty="0">
                <a:latin typeface="Century Gothic" pitchFamily="34" charset="0"/>
              </a:rPr>
              <a:t> </a:t>
            </a:r>
          </a:p>
          <a:p>
            <a:r>
              <a:rPr lang="en-US" sz="1100" dirty="0" err="1">
                <a:latin typeface="Century Gothic" pitchFamily="34" charset="0"/>
              </a:rPr>
              <a:t>bf:otherPhysicalFormat</a:t>
            </a:r>
            <a:r>
              <a:rPr lang="en-US" sz="1100" dirty="0">
                <a:latin typeface="Century Gothic" pitchFamily="34" charset="0"/>
              </a:rPr>
              <a:t> </a:t>
            </a:r>
          </a:p>
          <a:p>
            <a:r>
              <a:rPr lang="en-US" sz="1100" dirty="0" err="1">
                <a:latin typeface="Century Gothic" pitchFamily="34" charset="0"/>
              </a:rPr>
              <a:t>bf:issuedWith</a:t>
            </a:r>
            <a:r>
              <a:rPr lang="en-US" sz="1100" dirty="0">
                <a:latin typeface="Century Gothic" pitchFamily="34" charset="0"/>
              </a:rPr>
              <a:t> </a:t>
            </a:r>
          </a:p>
          <a:p>
            <a:r>
              <a:rPr lang="en-US" sz="1100" dirty="0" err="1">
                <a:latin typeface="Century Gothic" pitchFamily="34" charset="0"/>
              </a:rPr>
              <a:t>bf:precededBy</a:t>
            </a:r>
            <a:endParaRPr lang="en-US" sz="1100" dirty="0">
              <a:latin typeface="Century Gothic" pitchFamily="34" charset="0"/>
            </a:endParaRPr>
          </a:p>
          <a:p>
            <a:r>
              <a:rPr lang="en-US" sz="1100" dirty="0" err="1">
                <a:latin typeface="Century Gothic" pitchFamily="34" charset="0"/>
              </a:rPr>
              <a:t>bf:continues</a:t>
            </a:r>
            <a:endParaRPr lang="en-US" sz="1100" dirty="0">
              <a:latin typeface="Century Gothic" pitchFamily="34" charset="0"/>
            </a:endParaRPr>
          </a:p>
          <a:p>
            <a:r>
              <a:rPr lang="en-US" sz="1100" dirty="0" err="1">
                <a:latin typeface="Century Gothic" pitchFamily="34" charset="0"/>
              </a:rPr>
              <a:t>bf:continuedBy</a:t>
            </a:r>
            <a:r>
              <a:rPr lang="en-US" sz="1100" dirty="0">
                <a:latin typeface="Century Gothic" pitchFamily="34" charset="0"/>
              </a:rPr>
              <a:t> </a:t>
            </a:r>
          </a:p>
          <a:p>
            <a:r>
              <a:rPr lang="en-US" sz="1100" dirty="0" err="1">
                <a:latin typeface="Century Gothic" pitchFamily="34" charset="0"/>
              </a:rPr>
              <a:t>bf:continuesInPart</a:t>
            </a:r>
            <a:endParaRPr lang="en-US" sz="1100" dirty="0">
              <a:latin typeface="Century Gothic" pitchFamily="34" charset="0"/>
            </a:endParaRPr>
          </a:p>
          <a:p>
            <a:r>
              <a:rPr lang="en-US" sz="1100" dirty="0" err="1">
                <a:latin typeface="Century Gothic" pitchFamily="34" charset="0"/>
              </a:rPr>
              <a:t>bf:continuedInPartBy</a:t>
            </a:r>
            <a:r>
              <a:rPr lang="en-US" sz="1100" dirty="0">
                <a:latin typeface="Century Gothic" pitchFamily="34" charset="0"/>
              </a:rPr>
              <a:t> </a:t>
            </a:r>
          </a:p>
          <a:p>
            <a:r>
              <a:rPr lang="en-US" sz="1100" dirty="0" err="1">
                <a:latin typeface="Century Gothic" pitchFamily="34" charset="0"/>
              </a:rPr>
              <a:t>bf:replacementOf</a:t>
            </a:r>
            <a:r>
              <a:rPr lang="en-US" sz="1100" dirty="0">
                <a:latin typeface="Century Gothic" pitchFamily="34" charset="0"/>
              </a:rPr>
              <a:t> </a:t>
            </a:r>
          </a:p>
          <a:p>
            <a:r>
              <a:rPr lang="en-US" sz="1100" dirty="0" err="1">
                <a:latin typeface="Century Gothic" pitchFamily="34" charset="0"/>
              </a:rPr>
              <a:t>bf:mergerOf</a:t>
            </a:r>
            <a:r>
              <a:rPr lang="en-US" sz="1100" dirty="0">
                <a:latin typeface="Century Gothic" pitchFamily="34" charset="0"/>
              </a:rPr>
              <a:t> </a:t>
            </a:r>
          </a:p>
          <a:p>
            <a:r>
              <a:rPr lang="en-US" sz="1100" dirty="0" err="1">
                <a:latin typeface="Century Gothic" pitchFamily="34" charset="0"/>
              </a:rPr>
              <a:t>bf:absorbed</a:t>
            </a:r>
            <a:endParaRPr lang="en-US" sz="1100" dirty="0">
              <a:latin typeface="Century Gothic" pitchFamily="34" charset="0"/>
            </a:endParaRPr>
          </a:p>
          <a:p>
            <a:r>
              <a:rPr lang="en-US" sz="1100" dirty="0" err="1">
                <a:latin typeface="Century Gothic" pitchFamily="34" charset="0"/>
              </a:rPr>
              <a:t>bf:absorbedBy</a:t>
            </a:r>
            <a:endParaRPr lang="en-US" sz="1100" dirty="0">
              <a:latin typeface="Century Gothic" pitchFamily="34" charset="0"/>
            </a:endParaRPr>
          </a:p>
          <a:p>
            <a:r>
              <a:rPr lang="en-US" sz="1100" dirty="0" err="1">
                <a:latin typeface="Century Gothic" pitchFamily="34" charset="0"/>
              </a:rPr>
              <a:t>bf:separatedFrom</a:t>
            </a:r>
            <a:r>
              <a:rPr lang="en-US" sz="1100" dirty="0">
                <a:latin typeface="Century Gothic" pitchFamily="34" charset="0"/>
              </a:rPr>
              <a:t> </a:t>
            </a:r>
          </a:p>
          <a:p>
            <a:r>
              <a:rPr lang="en-US" sz="1100" dirty="0" err="1">
                <a:latin typeface="Century Gothic" pitchFamily="34" charset="0"/>
              </a:rPr>
              <a:t>bf:replacedBy</a:t>
            </a:r>
            <a:r>
              <a:rPr lang="en-US" sz="1100" dirty="0">
                <a:latin typeface="Century Gothic" pitchFamily="34" charset="0"/>
              </a:rPr>
              <a:t> </a:t>
            </a:r>
          </a:p>
          <a:p>
            <a:r>
              <a:rPr lang="en-US" sz="1100" dirty="0" err="1">
                <a:latin typeface="Century Gothic" pitchFamily="34" charset="0"/>
              </a:rPr>
              <a:t>bf:splitInto</a:t>
            </a:r>
            <a:r>
              <a:rPr lang="en-US" sz="1100" dirty="0">
                <a:latin typeface="Century Gothic" pitchFamily="34" charset="0"/>
              </a:rPr>
              <a:t> </a:t>
            </a:r>
          </a:p>
          <a:p>
            <a:r>
              <a:rPr lang="en-US" sz="1100" dirty="0" err="1">
                <a:latin typeface="Century Gothic" pitchFamily="34" charset="0"/>
              </a:rPr>
              <a:t>bf:mergedToForm</a:t>
            </a:r>
            <a:endParaRPr lang="en-US" sz="1100" dirty="0">
              <a:latin typeface="Century Gothic" pitchFamily="34" charset="0"/>
            </a:endParaRPr>
          </a:p>
        </p:txBody>
      </p:sp>
      <p:cxnSp>
        <p:nvCxnSpPr>
          <p:cNvPr id="21" name="Forme 20"/>
          <p:cNvCxnSpPr>
            <a:stCxn id="47" idx="2"/>
            <a:endCxn id="83" idx="2"/>
          </p:cNvCxnSpPr>
          <p:nvPr/>
        </p:nvCxnSpPr>
        <p:spPr>
          <a:xfrm rot="16200000" flipH="1">
            <a:off x="4393405" y="-1750255"/>
            <a:ext cx="1588" cy="5786478"/>
          </a:xfrm>
          <a:prstGeom prst="bentConnector3">
            <a:avLst>
              <a:gd name="adj1" fmla="val 14395466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à coins arrondis 1"/>
          <p:cNvSpPr/>
          <p:nvPr/>
        </p:nvSpPr>
        <p:spPr>
          <a:xfrm>
            <a:off x="4643438" y="2261850"/>
            <a:ext cx="2786082" cy="785818"/>
          </a:xfrm>
          <a:prstGeom prst="roundRect">
            <a:avLst>
              <a:gd name="adj" fmla="val 26908"/>
            </a:avLst>
          </a:prstGeom>
          <a:solidFill>
            <a:srgbClr val="F5E4E3"/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050" b="1" dirty="0">
                <a:solidFill>
                  <a:schemeClr val="tx1"/>
                </a:solidFill>
                <a:latin typeface="Century Gothic" pitchFamily="34" charset="0"/>
              </a:rPr>
              <a:t>http://issn.org/resource/ISSN/</a:t>
            </a:r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{ISSN}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bf:Work</a:t>
            </a:r>
            <a:r>
              <a:rPr lang="fr-FR" sz="1050" dirty="0">
                <a:solidFill>
                  <a:prstClr val="black"/>
                </a:solidFill>
                <a:latin typeface="Century Gothic" pitchFamily="34" charset="0"/>
              </a:rPr>
              <a:t>,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bf:Instance</a:t>
            </a:r>
            <a:r>
              <a:rPr lang="fr-FR" sz="1050" dirty="0">
                <a:solidFill>
                  <a:prstClr val="black"/>
                </a:solidFill>
                <a:latin typeface="Century Gothic" pitchFamily="34" charset="0"/>
              </a:rPr>
              <a:t>, 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schema:Periodical</a:t>
            </a:r>
            <a:endParaRPr lang="en-US" sz="12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860032" y="2904792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à coins arrondis 3"/>
          <p:cNvSpPr/>
          <p:nvPr/>
        </p:nvSpPr>
        <p:spPr>
          <a:xfrm>
            <a:off x="5500694" y="928670"/>
            <a:ext cx="2786082" cy="500066"/>
          </a:xfrm>
          <a:prstGeom prst="roundRect">
            <a:avLst>
              <a:gd name="adj" fmla="val 17044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000" b="1" dirty="0">
                <a:solidFill>
                  <a:schemeClr val="tx1"/>
                </a:solidFill>
                <a:latin typeface="Century Gothic" pitchFamily="34" charset="0"/>
              </a:rPr>
              <a:t>http://issn.org/resource/ISSN-L/{ISSN-L} :</a:t>
            </a:r>
            <a:r>
              <a:rPr lang="fr-FR" sz="1050" dirty="0">
                <a:solidFill>
                  <a:prstClr val="black"/>
                </a:solidFill>
                <a:latin typeface="Century Gothic" pitchFamily="34" charset="0"/>
              </a:rPr>
              <a:t>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schema:CreativeWork</a:t>
            </a:r>
            <a:endParaRPr lang="en-US" sz="12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cxnSp>
        <p:nvCxnSpPr>
          <p:cNvPr id="5" name="Forme 69"/>
          <p:cNvCxnSpPr>
            <a:stCxn id="20" idx="0"/>
            <a:endCxn id="19" idx="2"/>
          </p:cNvCxnSpPr>
          <p:nvPr/>
        </p:nvCxnSpPr>
        <p:spPr>
          <a:xfrm rot="5400000" flipH="1" flipV="1">
            <a:off x="6155739" y="1845293"/>
            <a:ext cx="833114" cy="1588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/>
          <p:cNvSpPr txBox="1"/>
          <p:nvPr/>
        </p:nvSpPr>
        <p:spPr>
          <a:xfrm>
            <a:off x="6000760" y="3690610"/>
            <a:ext cx="1071570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 err="1">
                <a:latin typeface="Century Gothic" pitchFamily="34" charset="0"/>
              </a:rPr>
              <a:t>schema:issn</a:t>
            </a:r>
            <a:endParaRPr lang="en-US" sz="1100" dirty="0">
              <a:latin typeface="Century Gothic" pitchFamily="34" charset="0"/>
            </a:endParaRPr>
          </a:p>
        </p:txBody>
      </p:sp>
      <p:cxnSp>
        <p:nvCxnSpPr>
          <p:cNvPr id="8" name="Forme 69"/>
          <p:cNvCxnSpPr>
            <a:stCxn id="50" idx="2"/>
            <a:endCxn id="11" idx="0"/>
          </p:cNvCxnSpPr>
          <p:nvPr/>
        </p:nvCxnSpPr>
        <p:spPr>
          <a:xfrm rot="5400000">
            <a:off x="6328020" y="3184756"/>
            <a:ext cx="952836" cy="67866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Forme 69"/>
          <p:cNvCxnSpPr>
            <a:stCxn id="50" idx="2"/>
            <a:endCxn id="13" idx="0"/>
          </p:cNvCxnSpPr>
          <p:nvPr/>
        </p:nvCxnSpPr>
        <p:spPr>
          <a:xfrm rot="16200000" flipH="1">
            <a:off x="6685209" y="3506226"/>
            <a:ext cx="952836" cy="3571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/>
          <p:cNvSpPr txBox="1"/>
          <p:nvPr/>
        </p:nvSpPr>
        <p:spPr>
          <a:xfrm>
            <a:off x="5929322" y="1595754"/>
            <a:ext cx="150016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schema:isPartOf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1" name="Rectangle à coins arrondis 10"/>
          <p:cNvSpPr/>
          <p:nvPr/>
        </p:nvSpPr>
        <p:spPr>
          <a:xfrm>
            <a:off x="6072198" y="4000504"/>
            <a:ext cx="785818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"the ISSN"</a:t>
            </a:r>
          </a:p>
        </p:txBody>
      </p:sp>
      <p:sp>
        <p:nvSpPr>
          <p:cNvPr id="13" name="Rectangle à coins arrondis 12"/>
          <p:cNvSpPr/>
          <p:nvPr/>
        </p:nvSpPr>
        <p:spPr>
          <a:xfrm>
            <a:off x="6786578" y="4000504"/>
            <a:ext cx="785818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"the ISSN"</a:t>
            </a:r>
          </a:p>
        </p:txBody>
      </p:sp>
      <p:sp>
        <p:nvSpPr>
          <p:cNvPr id="14" name="Rectangle à coins arrondis 13"/>
          <p:cNvSpPr/>
          <p:nvPr/>
        </p:nvSpPr>
        <p:spPr>
          <a:xfrm>
            <a:off x="7572396" y="4000504"/>
            <a:ext cx="785818" cy="214314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"the ISSN"</a:t>
            </a:r>
          </a:p>
        </p:txBody>
      </p:sp>
      <p:cxnSp>
        <p:nvCxnSpPr>
          <p:cNvPr id="15" name="Forme 69"/>
          <p:cNvCxnSpPr>
            <a:stCxn id="50" idx="2"/>
            <a:endCxn id="14" idx="0"/>
          </p:cNvCxnSpPr>
          <p:nvPr/>
        </p:nvCxnSpPr>
        <p:spPr>
          <a:xfrm rot="16200000" flipH="1">
            <a:off x="7078118" y="3113317"/>
            <a:ext cx="952836" cy="82153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6643702" y="3524580"/>
            <a:ext cx="1071570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 err="1">
                <a:latin typeface="Century Gothic" pitchFamily="34" charset="0"/>
              </a:rPr>
              <a:t>bibo:issn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7429520" y="3690610"/>
            <a:ext cx="1071570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 err="1">
                <a:latin typeface="Century Gothic" pitchFamily="34" charset="0"/>
              </a:rPr>
              <a:t>dc:identifier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143768" y="1285860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6500858" y="1285860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6500858" y="2261850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7143768" y="2261850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2" name="Forme 69"/>
          <p:cNvCxnSpPr>
            <a:stCxn id="18" idx="2"/>
            <a:endCxn id="21" idx="0"/>
          </p:cNvCxnSpPr>
          <p:nvPr/>
        </p:nvCxnSpPr>
        <p:spPr>
          <a:xfrm rot="5400000">
            <a:off x="6798649" y="1845293"/>
            <a:ext cx="833114" cy="1588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/>
          <p:cNvSpPr txBox="1"/>
          <p:nvPr/>
        </p:nvSpPr>
        <p:spPr>
          <a:xfrm>
            <a:off x="6643734" y="1881506"/>
            <a:ext cx="150016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schema:hasPart</a:t>
            </a:r>
            <a:endParaRPr lang="en-US" sz="1100" dirty="0">
              <a:latin typeface="Century Gothic" pitchFamily="34" charset="0"/>
            </a:endParaRPr>
          </a:p>
        </p:txBody>
      </p:sp>
      <p:cxnSp>
        <p:nvCxnSpPr>
          <p:cNvPr id="24" name="Forme 69"/>
          <p:cNvCxnSpPr>
            <a:stCxn id="2" idx="3"/>
          </p:cNvCxnSpPr>
          <p:nvPr/>
        </p:nvCxnSpPr>
        <p:spPr>
          <a:xfrm>
            <a:off x="7429520" y="2654759"/>
            <a:ext cx="928694" cy="535785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ZoneTexte 26"/>
          <p:cNvSpPr txBox="1"/>
          <p:nvPr/>
        </p:nvSpPr>
        <p:spPr>
          <a:xfrm>
            <a:off x="7429520" y="2833354"/>
            <a:ext cx="1071570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 err="1">
                <a:latin typeface="Century Gothic" pitchFamily="34" charset="0"/>
              </a:rPr>
              <a:t>dc:format</a:t>
            </a:r>
            <a:endParaRPr lang="en-US" sz="1100" dirty="0">
              <a:latin typeface="Century Gothic" pitchFamily="34" charset="0"/>
            </a:endParaRPr>
          </a:p>
        </p:txBody>
      </p:sp>
      <p:cxnSp>
        <p:nvCxnSpPr>
          <p:cNvPr id="29" name="Forme 69"/>
          <p:cNvCxnSpPr>
            <a:stCxn id="2" idx="1"/>
            <a:endCxn id="31" idx="3"/>
          </p:cNvCxnSpPr>
          <p:nvPr/>
        </p:nvCxnSpPr>
        <p:spPr>
          <a:xfrm rot="10800000">
            <a:off x="3786182" y="2404727"/>
            <a:ext cx="857256" cy="250033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ZoneTexte 29"/>
          <p:cNvSpPr txBox="1"/>
          <p:nvPr/>
        </p:nvSpPr>
        <p:spPr>
          <a:xfrm>
            <a:off x="3795706" y="2118974"/>
            <a:ext cx="1133484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dct:spatial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31" name="Rectangle à coins arrondis 30"/>
          <p:cNvSpPr/>
          <p:nvPr/>
        </p:nvSpPr>
        <p:spPr>
          <a:xfrm>
            <a:off x="2276460" y="2261850"/>
            <a:ext cx="1509722" cy="285752"/>
          </a:xfrm>
          <a:prstGeom prst="roundRect">
            <a:avLst>
              <a:gd name="adj" fmla="val 2144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100" b="1" dirty="0">
                <a:solidFill>
                  <a:schemeClr val="tx1"/>
                </a:solidFill>
                <a:latin typeface="Century Gothic" pitchFamily="34" charset="0"/>
              </a:rPr>
              <a:t>MARC Country URI</a:t>
            </a:r>
            <a:endParaRPr lang="fr-FR" sz="1000" dirty="0">
              <a:solidFill>
                <a:prstClr val="black"/>
              </a:solidFill>
              <a:latin typeface="Century Gothic" pitchFamily="34" charset="0"/>
            </a:endParaRPr>
          </a:p>
        </p:txBody>
      </p:sp>
      <p:sp>
        <p:nvSpPr>
          <p:cNvPr id="32" name="Rectangle à coins arrondis 31"/>
          <p:cNvSpPr/>
          <p:nvPr/>
        </p:nvSpPr>
        <p:spPr>
          <a:xfrm>
            <a:off x="2276460" y="2690478"/>
            <a:ext cx="1509722" cy="285752"/>
          </a:xfrm>
          <a:prstGeom prst="roundRect">
            <a:avLst>
              <a:gd name="adj" fmla="val 2144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100" b="1" dirty="0">
                <a:solidFill>
                  <a:schemeClr val="tx1"/>
                </a:solidFill>
                <a:latin typeface="Century Gothic" pitchFamily="34" charset="0"/>
              </a:rPr>
              <a:t>ISO Country URI</a:t>
            </a:r>
            <a:endParaRPr lang="fr-FR" sz="1000" dirty="0">
              <a:solidFill>
                <a:prstClr val="black"/>
              </a:solidFill>
              <a:latin typeface="Century Gothic" pitchFamily="34" charset="0"/>
            </a:endParaRPr>
          </a:p>
        </p:txBody>
      </p:sp>
      <p:cxnSp>
        <p:nvCxnSpPr>
          <p:cNvPr id="33" name="Forme 69"/>
          <p:cNvCxnSpPr>
            <a:stCxn id="2" idx="1"/>
            <a:endCxn id="32" idx="3"/>
          </p:cNvCxnSpPr>
          <p:nvPr/>
        </p:nvCxnSpPr>
        <p:spPr>
          <a:xfrm rot="10800000" flipV="1">
            <a:off x="3786182" y="2654758"/>
            <a:ext cx="857256" cy="178595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ZoneTexte 33"/>
          <p:cNvSpPr txBox="1"/>
          <p:nvPr/>
        </p:nvSpPr>
        <p:spPr>
          <a:xfrm>
            <a:off x="3795706" y="2833354"/>
            <a:ext cx="1133484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dct:spatial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40" name="Rectangle à coins arrondis 39"/>
          <p:cNvSpPr/>
          <p:nvPr/>
        </p:nvSpPr>
        <p:spPr>
          <a:xfrm>
            <a:off x="714348" y="3261982"/>
            <a:ext cx="2500330" cy="571504"/>
          </a:xfrm>
          <a:prstGeom prst="roundRect">
            <a:avLst>
              <a:gd name="adj" fmla="val 2144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#</a:t>
            </a:r>
            <a:r>
              <a:rPr lang="fr-FR" sz="1200" b="1" dirty="0" err="1">
                <a:solidFill>
                  <a:schemeClr val="tx1"/>
                </a:solidFill>
                <a:latin typeface="Century Gothic" pitchFamily="34" charset="0"/>
              </a:rPr>
              <a:t>ReferencePublicationEvent</a:t>
            </a:r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schema:PublicationEvent</a:t>
            </a:r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</p:txBody>
      </p:sp>
      <p:cxnSp>
        <p:nvCxnSpPr>
          <p:cNvPr id="41" name="Forme 69"/>
          <p:cNvCxnSpPr>
            <a:stCxn id="3" idx="2"/>
            <a:endCxn id="40" idx="3"/>
          </p:cNvCxnSpPr>
          <p:nvPr/>
        </p:nvCxnSpPr>
        <p:spPr>
          <a:xfrm rot="5400000">
            <a:off x="3823041" y="2439305"/>
            <a:ext cx="500066" cy="1716792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ZoneTexte 41"/>
          <p:cNvSpPr txBox="1"/>
          <p:nvPr/>
        </p:nvSpPr>
        <p:spPr>
          <a:xfrm>
            <a:off x="3347864" y="3286124"/>
            <a:ext cx="157163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/>
            <a:r>
              <a:rPr lang="fr-FR" sz="1100" dirty="0" err="1">
                <a:latin typeface="Century Gothic" pitchFamily="34" charset="0"/>
              </a:rPr>
              <a:t>schema:publication</a:t>
            </a:r>
            <a:endParaRPr lang="en-US" sz="1100" dirty="0">
              <a:latin typeface="Century Gothic" pitchFamily="34" charset="0"/>
            </a:endParaRPr>
          </a:p>
        </p:txBody>
      </p:sp>
      <p:cxnSp>
        <p:nvCxnSpPr>
          <p:cNvPr id="43" name="Forme 69"/>
          <p:cNvCxnSpPr>
            <a:stCxn id="40" idx="0"/>
            <a:endCxn id="32" idx="1"/>
          </p:cNvCxnSpPr>
          <p:nvPr/>
        </p:nvCxnSpPr>
        <p:spPr>
          <a:xfrm rot="5400000" flipH="1" flipV="1">
            <a:off x="1906172" y="2891695"/>
            <a:ext cx="428628" cy="311947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Forme 69"/>
          <p:cNvCxnSpPr>
            <a:stCxn id="40" idx="0"/>
            <a:endCxn id="31" idx="1"/>
          </p:cNvCxnSpPr>
          <p:nvPr/>
        </p:nvCxnSpPr>
        <p:spPr>
          <a:xfrm rot="5400000" flipH="1" flipV="1">
            <a:off x="1691858" y="2677381"/>
            <a:ext cx="857256" cy="311947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ZoneTexte 44"/>
          <p:cNvSpPr txBox="1"/>
          <p:nvPr/>
        </p:nvSpPr>
        <p:spPr>
          <a:xfrm>
            <a:off x="785818" y="2118974"/>
            <a:ext cx="1357290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/>
            <a:r>
              <a:rPr lang="fr-FR" sz="1100" dirty="0" err="1">
                <a:latin typeface="Century Gothic" pitchFamily="34" charset="0"/>
              </a:rPr>
              <a:t>schema:location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46" name="ZoneTexte 45"/>
          <p:cNvSpPr txBox="1"/>
          <p:nvPr/>
        </p:nvSpPr>
        <p:spPr>
          <a:xfrm>
            <a:off x="785818" y="2547602"/>
            <a:ext cx="1357290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/>
            <a:r>
              <a:rPr lang="fr-FR" sz="1100" dirty="0" err="1">
                <a:latin typeface="Century Gothic" pitchFamily="34" charset="0"/>
              </a:rPr>
              <a:t>schema:location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7072330" y="2904792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à coins arrondis 55"/>
          <p:cNvSpPr/>
          <p:nvPr/>
        </p:nvSpPr>
        <p:spPr>
          <a:xfrm>
            <a:off x="1285852" y="1284273"/>
            <a:ext cx="2500330" cy="357190"/>
          </a:xfrm>
          <a:prstGeom prst="roundRect">
            <a:avLst>
              <a:gd name="adj" fmla="val 32405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#ISSN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bf:Issn</a:t>
            </a:r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cxnSp>
        <p:nvCxnSpPr>
          <p:cNvPr id="57" name="Forme 69"/>
          <p:cNvCxnSpPr>
            <a:stCxn id="89" idx="0"/>
            <a:endCxn id="56" idx="3"/>
          </p:cNvCxnSpPr>
          <p:nvPr/>
        </p:nvCxnSpPr>
        <p:spPr>
          <a:xfrm rot="16200000" flipV="1">
            <a:off x="3922476" y="1326574"/>
            <a:ext cx="798982" cy="1071570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ZoneTexte 57"/>
          <p:cNvSpPr txBox="1"/>
          <p:nvPr/>
        </p:nvSpPr>
        <p:spPr>
          <a:xfrm>
            <a:off x="3857620" y="1167126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bf:identifiedBy</a:t>
            </a:r>
            <a:endParaRPr lang="en-US" sz="1100" dirty="0">
              <a:latin typeface="Century Gothic" pitchFamily="34" charset="0"/>
            </a:endParaRPr>
          </a:p>
        </p:txBody>
      </p:sp>
      <p:cxnSp>
        <p:nvCxnSpPr>
          <p:cNvPr id="59" name="Forme 69"/>
          <p:cNvCxnSpPr>
            <a:stCxn id="56" idx="0"/>
            <a:endCxn id="61" idx="3"/>
          </p:cNvCxnSpPr>
          <p:nvPr/>
        </p:nvCxnSpPr>
        <p:spPr>
          <a:xfrm rot="16200000" flipV="1">
            <a:off x="2357423" y="1105678"/>
            <a:ext cx="178595" cy="178595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ZoneTexte 59"/>
          <p:cNvSpPr txBox="1"/>
          <p:nvPr/>
        </p:nvSpPr>
        <p:spPr>
          <a:xfrm>
            <a:off x="2500298" y="998520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rdf:value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61" name="Rectangle à coins arrondis 60"/>
          <p:cNvSpPr/>
          <p:nvPr/>
        </p:nvSpPr>
        <p:spPr>
          <a:xfrm>
            <a:off x="1214414" y="998521"/>
            <a:ext cx="1143008" cy="214313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/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"the ISSN"</a:t>
            </a:r>
          </a:p>
        </p:txBody>
      </p:sp>
      <p:cxnSp>
        <p:nvCxnSpPr>
          <p:cNvPr id="62" name="Forme 69"/>
          <p:cNvCxnSpPr>
            <a:stCxn id="56" idx="2"/>
          </p:cNvCxnSpPr>
          <p:nvPr/>
        </p:nvCxnSpPr>
        <p:spPr>
          <a:xfrm rot="5400000">
            <a:off x="2321704" y="1605744"/>
            <a:ext cx="178595" cy="250032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ZoneTexte 62"/>
          <p:cNvSpPr txBox="1"/>
          <p:nvPr/>
        </p:nvSpPr>
        <p:spPr>
          <a:xfrm>
            <a:off x="2571736" y="1665604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bf:status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1357290" y="1284272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ectangle 67"/>
          <p:cNvSpPr/>
          <p:nvPr/>
        </p:nvSpPr>
        <p:spPr>
          <a:xfrm>
            <a:off x="1571604" y="1284272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9" name="Forme 69"/>
          <p:cNvCxnSpPr>
            <a:stCxn id="67" idx="0"/>
          </p:cNvCxnSpPr>
          <p:nvPr/>
        </p:nvCxnSpPr>
        <p:spPr>
          <a:xfrm rot="5400000" flipH="1" flipV="1">
            <a:off x="929456" y="785000"/>
            <a:ext cx="998544" cy="1588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ZoneTexte 71"/>
          <p:cNvSpPr txBox="1"/>
          <p:nvPr/>
        </p:nvSpPr>
        <p:spPr>
          <a:xfrm>
            <a:off x="-32" y="571480"/>
            <a:ext cx="2000264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/>
            <a:r>
              <a:rPr lang="fr-FR" sz="1100" dirty="0" err="1">
                <a:latin typeface="Century Gothic" pitchFamily="34" charset="0"/>
              </a:rPr>
              <a:t>issnprop:hasCancelledISSN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73" name="ZoneTexte 72"/>
          <p:cNvSpPr txBox="1"/>
          <p:nvPr/>
        </p:nvSpPr>
        <p:spPr>
          <a:xfrm>
            <a:off x="1643042" y="142852"/>
            <a:ext cx="221457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issnprop:cancelledInFavorOf</a:t>
            </a:r>
            <a:endParaRPr lang="en-US" sz="1100" dirty="0">
              <a:latin typeface="Century Gothic" pitchFamily="34" charset="0"/>
            </a:endParaRPr>
          </a:p>
        </p:txBody>
      </p:sp>
      <p:cxnSp>
        <p:nvCxnSpPr>
          <p:cNvPr id="74" name="Forme 69"/>
          <p:cNvCxnSpPr>
            <a:endCxn id="68" idx="0"/>
          </p:cNvCxnSpPr>
          <p:nvPr/>
        </p:nvCxnSpPr>
        <p:spPr>
          <a:xfrm rot="5400000">
            <a:off x="1143770" y="785000"/>
            <a:ext cx="998544" cy="1588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Forme 69"/>
          <p:cNvCxnSpPr>
            <a:stCxn id="2" idx="3"/>
            <a:endCxn id="125" idx="1"/>
          </p:cNvCxnSpPr>
          <p:nvPr/>
        </p:nvCxnSpPr>
        <p:spPr>
          <a:xfrm flipV="1">
            <a:off x="7429520" y="2261850"/>
            <a:ext cx="928694" cy="392909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ZoneTexte 83"/>
          <p:cNvSpPr txBox="1"/>
          <p:nvPr/>
        </p:nvSpPr>
        <p:spPr>
          <a:xfrm>
            <a:off x="7429520" y="2333288"/>
            <a:ext cx="1071570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 err="1">
                <a:latin typeface="Century Gothic" pitchFamily="34" charset="0"/>
              </a:rPr>
              <a:t>schema:url</a:t>
            </a:r>
            <a:endParaRPr lang="en-US" sz="1100" dirty="0">
              <a:latin typeface="Century Gothic" pitchFamily="34" charset="0"/>
            </a:endParaRPr>
          </a:p>
        </p:txBody>
      </p:sp>
      <p:cxnSp>
        <p:nvCxnSpPr>
          <p:cNvPr id="85" name="Forme 69"/>
          <p:cNvCxnSpPr>
            <a:stCxn id="97" idx="2"/>
            <a:endCxn id="86" idx="3"/>
          </p:cNvCxnSpPr>
          <p:nvPr/>
        </p:nvCxnSpPr>
        <p:spPr>
          <a:xfrm rot="5400000">
            <a:off x="4261716" y="3279452"/>
            <a:ext cx="1606608" cy="1143040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à coins arrondis 85"/>
          <p:cNvSpPr/>
          <p:nvPr/>
        </p:nvSpPr>
        <p:spPr>
          <a:xfrm>
            <a:off x="3421962" y="4511400"/>
            <a:ext cx="1071538" cy="285752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/>
            <a:r>
              <a:rPr lang="fr-FR" sz="1100" dirty="0">
                <a:solidFill>
                  <a:prstClr val="black"/>
                </a:solidFill>
                <a:latin typeface="Century Gothic" pitchFamily="34" charset="0"/>
              </a:rPr>
              <a:t>"</a:t>
            </a:r>
            <a:r>
              <a:rPr lang="fr-FR" sz="1100" i="1" dirty="0" err="1">
                <a:solidFill>
                  <a:prstClr val="black"/>
                </a:solidFill>
                <a:latin typeface="Century Gothic" pitchFamily="34" charset="0"/>
              </a:rPr>
              <a:t>Title</a:t>
            </a:r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 </a:t>
            </a:r>
            <a:r>
              <a:rPr lang="fr-FR" sz="1100" i="1" dirty="0" err="1">
                <a:solidFill>
                  <a:prstClr val="black"/>
                </a:solidFill>
                <a:latin typeface="Century Gothic" pitchFamily="34" charset="0"/>
              </a:rPr>
              <a:t>proper</a:t>
            </a:r>
            <a:r>
              <a:rPr lang="fr-FR" sz="1100" dirty="0">
                <a:solidFill>
                  <a:prstClr val="black"/>
                </a:solidFill>
                <a:latin typeface="Century Gothic" pitchFamily="34" charset="0"/>
              </a:rPr>
              <a:t>"</a:t>
            </a:r>
          </a:p>
        </p:txBody>
      </p:sp>
      <p:cxnSp>
        <p:nvCxnSpPr>
          <p:cNvPr id="87" name="Forme 69"/>
          <p:cNvCxnSpPr>
            <a:stCxn id="97" idx="2"/>
            <a:endCxn id="88" idx="3"/>
          </p:cNvCxnSpPr>
          <p:nvPr/>
        </p:nvCxnSpPr>
        <p:spPr>
          <a:xfrm rot="5400000">
            <a:off x="4081712" y="3459488"/>
            <a:ext cx="1966648" cy="1143008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à coins arrondis 87"/>
          <p:cNvSpPr/>
          <p:nvPr/>
        </p:nvSpPr>
        <p:spPr>
          <a:xfrm>
            <a:off x="3421994" y="4871440"/>
            <a:ext cx="1071538" cy="285752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/>
            <a:r>
              <a:rPr lang="fr-FR" sz="1100" dirty="0">
                <a:solidFill>
                  <a:prstClr val="black"/>
                </a:solidFill>
                <a:latin typeface="Century Gothic" pitchFamily="34" charset="0"/>
              </a:rPr>
              <a:t>"</a:t>
            </a:r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Key </a:t>
            </a:r>
            <a:r>
              <a:rPr lang="fr-FR" sz="1100" i="1" dirty="0" err="1">
                <a:solidFill>
                  <a:prstClr val="black"/>
                </a:solidFill>
                <a:latin typeface="Century Gothic" pitchFamily="34" charset="0"/>
              </a:rPr>
              <a:t>title</a:t>
            </a:r>
            <a:r>
              <a:rPr lang="fr-FR" sz="1100" dirty="0">
                <a:solidFill>
                  <a:prstClr val="black"/>
                </a:solidFill>
                <a:latin typeface="Century Gothic" pitchFamily="34" charset="0"/>
              </a:rPr>
              <a:t>"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786314" y="2261850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ZoneTexte 93"/>
          <p:cNvSpPr txBox="1"/>
          <p:nvPr/>
        </p:nvSpPr>
        <p:spPr>
          <a:xfrm>
            <a:off x="4564970" y="4392666"/>
            <a:ext cx="135732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/>
            <a:r>
              <a:rPr lang="fr-FR" sz="1100" dirty="0" err="1">
                <a:latin typeface="Century Gothic" pitchFamily="34" charset="0"/>
              </a:rPr>
              <a:t>schema:name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95" name="ZoneTexte 94"/>
          <p:cNvSpPr txBox="1"/>
          <p:nvPr/>
        </p:nvSpPr>
        <p:spPr>
          <a:xfrm>
            <a:off x="4582830" y="4731902"/>
            <a:ext cx="135732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/>
            <a:r>
              <a:rPr lang="fr-FR" sz="1100" dirty="0" err="1">
                <a:latin typeface="Century Gothic" pitchFamily="34" charset="0"/>
              </a:rPr>
              <a:t>schema:name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5565102" y="2904792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Rectangle à coins arrondis 99"/>
          <p:cNvSpPr/>
          <p:nvPr/>
        </p:nvSpPr>
        <p:spPr>
          <a:xfrm>
            <a:off x="4143372" y="5404768"/>
            <a:ext cx="2286016" cy="571504"/>
          </a:xfrm>
          <a:prstGeom prst="roundRect">
            <a:avLst>
              <a:gd name="adj" fmla="val 23608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#Record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schema:CreativeWork</a:t>
            </a:r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cxnSp>
        <p:nvCxnSpPr>
          <p:cNvPr id="101" name="Forme 69"/>
          <p:cNvCxnSpPr>
            <a:cxnSpLocks/>
            <a:stCxn id="103" idx="0"/>
            <a:endCxn id="2" idx="2"/>
          </p:cNvCxnSpPr>
          <p:nvPr/>
        </p:nvCxnSpPr>
        <p:spPr>
          <a:xfrm flipH="1" flipV="1">
            <a:off x="6036479" y="3047668"/>
            <a:ext cx="35719" cy="2368138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ZoneTexte 101"/>
          <p:cNvSpPr txBox="1"/>
          <p:nvPr/>
        </p:nvSpPr>
        <p:spPr>
          <a:xfrm>
            <a:off x="6131662" y="4928844"/>
            <a:ext cx="150016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schema:mainEntity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6000760" y="5415806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5" name="Forme 69"/>
          <p:cNvCxnSpPr>
            <a:stCxn id="100" idx="3"/>
            <a:endCxn id="108" idx="1"/>
          </p:cNvCxnSpPr>
          <p:nvPr/>
        </p:nvCxnSpPr>
        <p:spPr>
          <a:xfrm>
            <a:off x="6429388" y="5690520"/>
            <a:ext cx="1214446" cy="1588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 à coins arrondis 107"/>
          <p:cNvSpPr/>
          <p:nvPr/>
        </p:nvSpPr>
        <p:spPr>
          <a:xfrm>
            <a:off x="7643834" y="5619082"/>
            <a:ext cx="500066" cy="142876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200" b="1" dirty="0">
                <a:solidFill>
                  <a:prstClr val="black"/>
                </a:solidFill>
                <a:latin typeface="Century Gothic" pitchFamily="34" charset="0"/>
              </a:rPr>
              <a:t>"…"</a:t>
            </a:r>
          </a:p>
        </p:txBody>
      </p:sp>
      <p:sp>
        <p:nvSpPr>
          <p:cNvPr id="110" name="ZoneTexte 109"/>
          <p:cNvSpPr txBox="1"/>
          <p:nvPr/>
        </p:nvSpPr>
        <p:spPr>
          <a:xfrm>
            <a:off x="6429388" y="5428910"/>
            <a:ext cx="1071570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 err="1">
                <a:latin typeface="Century Gothic" pitchFamily="34" charset="0"/>
              </a:rPr>
              <a:t>dc:modified</a:t>
            </a:r>
            <a:endParaRPr lang="en-US" sz="1100" dirty="0">
              <a:latin typeface="Century Gothic" pitchFamily="34" charset="0"/>
            </a:endParaRPr>
          </a:p>
        </p:txBody>
      </p:sp>
      <p:cxnSp>
        <p:nvCxnSpPr>
          <p:cNvPr id="111" name="Forme 69"/>
          <p:cNvCxnSpPr>
            <a:stCxn id="100" idx="2"/>
          </p:cNvCxnSpPr>
          <p:nvPr/>
        </p:nvCxnSpPr>
        <p:spPr>
          <a:xfrm rot="5400000">
            <a:off x="4959121" y="5874903"/>
            <a:ext cx="225891" cy="428628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ZoneTexte 111"/>
          <p:cNvSpPr txBox="1"/>
          <p:nvPr/>
        </p:nvSpPr>
        <p:spPr>
          <a:xfrm>
            <a:off x="5357818" y="6047710"/>
            <a:ext cx="100013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bf:status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15" name="Rectangle à coins arrondis 114"/>
          <p:cNvSpPr/>
          <p:nvPr/>
        </p:nvSpPr>
        <p:spPr>
          <a:xfrm>
            <a:off x="214282" y="5292015"/>
            <a:ext cx="2143140" cy="785818"/>
          </a:xfrm>
          <a:prstGeom prst="roundRect">
            <a:avLst>
              <a:gd name="adj" fmla="val 27207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100" b="1" dirty="0">
                <a:solidFill>
                  <a:schemeClr val="tx1"/>
                </a:solidFill>
                <a:latin typeface="Century Gothic" pitchFamily="34" charset="0"/>
              </a:rPr>
              <a:t>http://issn.org/organization/ISSNCenter#</a:t>
            </a:r>
            <a:r>
              <a:rPr lang="fr-FR" sz="1400" b="1" dirty="0">
                <a:solidFill>
                  <a:schemeClr val="tx1"/>
                </a:solidFill>
                <a:latin typeface="Century Gothic" pitchFamily="34" charset="0"/>
              </a:rPr>
              <a:t>{CCID}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schema:Organization</a:t>
            </a:r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cxnSp>
        <p:nvCxnSpPr>
          <p:cNvPr id="116" name="Forme 69"/>
          <p:cNvCxnSpPr>
            <a:stCxn id="100" idx="1"/>
            <a:endCxn id="115" idx="3"/>
          </p:cNvCxnSpPr>
          <p:nvPr/>
        </p:nvCxnSpPr>
        <p:spPr>
          <a:xfrm rot="10800000">
            <a:off x="2357422" y="5684924"/>
            <a:ext cx="1785950" cy="559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ZoneTexte 116"/>
          <p:cNvSpPr txBox="1"/>
          <p:nvPr/>
        </p:nvSpPr>
        <p:spPr>
          <a:xfrm>
            <a:off x="2428860" y="5333330"/>
            <a:ext cx="1714512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prov:wasAttributedTo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25" name="Rectangle à coins arrondis 124"/>
          <p:cNvSpPr/>
          <p:nvPr/>
        </p:nvSpPr>
        <p:spPr>
          <a:xfrm>
            <a:off x="8358214" y="2190412"/>
            <a:ext cx="500066" cy="142876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200" b="1" dirty="0">
                <a:solidFill>
                  <a:prstClr val="black"/>
                </a:solidFill>
                <a:latin typeface="Century Gothic" pitchFamily="34" charset="0"/>
              </a:rPr>
              <a:t>"…"</a:t>
            </a:r>
          </a:p>
        </p:txBody>
      </p:sp>
      <p:sp>
        <p:nvSpPr>
          <p:cNvPr id="128" name="ZoneTexte 127"/>
          <p:cNvSpPr txBox="1"/>
          <p:nvPr/>
        </p:nvSpPr>
        <p:spPr>
          <a:xfrm>
            <a:off x="10830" y="6554025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Relative </a:t>
            </a:r>
            <a:r>
              <a:rPr lang="fr-FR" sz="1200" i="1" dirty="0" err="1"/>
              <a:t>URIs</a:t>
            </a:r>
            <a:r>
              <a:rPr lang="fr-FR" sz="1200" i="1" dirty="0"/>
              <a:t> (</a:t>
            </a:r>
            <a:r>
              <a:rPr lang="fr-FR" sz="1200" i="1" dirty="0" err="1"/>
              <a:t>beginning</a:t>
            </a:r>
            <a:r>
              <a:rPr lang="fr-FR" sz="1200" i="1" dirty="0"/>
              <a:t> </a:t>
            </a:r>
            <a:r>
              <a:rPr lang="fr-FR" sz="1200" i="1" dirty="0" err="1"/>
              <a:t>with</a:t>
            </a:r>
            <a:r>
              <a:rPr lang="fr-FR" sz="1200" i="1" dirty="0"/>
              <a:t> #) are relative to the ISSN </a:t>
            </a:r>
            <a:r>
              <a:rPr lang="fr-FR" sz="1200" i="1" dirty="0" err="1"/>
              <a:t>resource</a:t>
            </a:r>
            <a:r>
              <a:rPr lang="fr-FR" sz="1200" i="1" dirty="0"/>
              <a:t> URI : http://issn.org/resource/ISSN/{ISSN}</a:t>
            </a:r>
            <a:endParaRPr lang="en-US" sz="1200" i="1" dirty="0"/>
          </a:p>
        </p:txBody>
      </p:sp>
      <p:sp>
        <p:nvSpPr>
          <p:cNvPr id="81" name="Rectangle 80"/>
          <p:cNvSpPr/>
          <p:nvPr/>
        </p:nvSpPr>
        <p:spPr>
          <a:xfrm>
            <a:off x="5143504" y="2285992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2" name="Forme 69"/>
          <p:cNvCxnSpPr>
            <a:stCxn id="81" idx="0"/>
            <a:endCxn id="90" idx="2"/>
          </p:cNvCxnSpPr>
          <p:nvPr/>
        </p:nvCxnSpPr>
        <p:spPr>
          <a:xfrm rot="5400000" flipH="1" flipV="1">
            <a:off x="4589859" y="1053687"/>
            <a:ext cx="1857388" cy="607223"/>
          </a:xfrm>
          <a:prstGeom prst="bentConnector3">
            <a:avLst>
              <a:gd name="adj1" fmla="val 80256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Forme 69"/>
          <p:cNvCxnSpPr>
            <a:stCxn id="81" idx="0"/>
            <a:endCxn id="91" idx="2"/>
          </p:cNvCxnSpPr>
          <p:nvPr/>
        </p:nvCxnSpPr>
        <p:spPr>
          <a:xfrm rot="16200000" flipV="1">
            <a:off x="4000496" y="1071546"/>
            <a:ext cx="1857388" cy="571504"/>
          </a:xfrm>
          <a:prstGeom prst="bentConnector3">
            <a:avLst>
              <a:gd name="adj1" fmla="val 80256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à coins arrondis 89"/>
          <p:cNvSpPr/>
          <p:nvPr/>
        </p:nvSpPr>
        <p:spPr>
          <a:xfrm>
            <a:off x="5143504" y="142852"/>
            <a:ext cx="1357322" cy="285752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"</a:t>
            </a:r>
            <a:r>
              <a:rPr lang="fr-FR" sz="1050" i="1" dirty="0" err="1">
                <a:solidFill>
                  <a:prstClr val="black"/>
                </a:solidFill>
                <a:latin typeface="Century Gothic" pitchFamily="34" charset="0"/>
              </a:rPr>
              <a:t>cancelled</a:t>
            </a:r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 ISSN-L"</a:t>
            </a:r>
          </a:p>
        </p:txBody>
      </p:sp>
      <p:sp>
        <p:nvSpPr>
          <p:cNvPr id="91" name="Rectangle à coins arrondis 90"/>
          <p:cNvSpPr/>
          <p:nvPr/>
        </p:nvSpPr>
        <p:spPr>
          <a:xfrm>
            <a:off x="4000496" y="142852"/>
            <a:ext cx="1285884" cy="285752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"incorrect ISSN"</a:t>
            </a:r>
          </a:p>
        </p:txBody>
      </p:sp>
      <p:sp>
        <p:nvSpPr>
          <p:cNvPr id="92" name="ZoneTexte 91"/>
          <p:cNvSpPr txBox="1"/>
          <p:nvPr/>
        </p:nvSpPr>
        <p:spPr>
          <a:xfrm>
            <a:off x="2643174" y="500042"/>
            <a:ext cx="2000264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/>
            <a:r>
              <a:rPr lang="fr-FR" sz="1100" dirty="0" err="1">
                <a:latin typeface="Century Gothic" pitchFamily="34" charset="0"/>
              </a:rPr>
              <a:t>issnprop:hasIncorrectISSN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93" name="ZoneTexte 92"/>
          <p:cNvSpPr txBox="1"/>
          <p:nvPr/>
        </p:nvSpPr>
        <p:spPr>
          <a:xfrm>
            <a:off x="5857884" y="500042"/>
            <a:ext cx="221457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issnprop:hasCancelledISSN-L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96" name="Rectangle à coins arrondis 99">
            <a:extLst>
              <a:ext uri="{FF2B5EF4-FFF2-40B4-BE49-F238E27FC236}">
                <a16:creationId xmlns:a16="http://schemas.microsoft.com/office/drawing/2014/main" id="{293402B1-88A9-44A6-A4FB-43A4192D8794}"/>
              </a:ext>
            </a:extLst>
          </p:cNvPr>
          <p:cNvSpPr/>
          <p:nvPr/>
        </p:nvSpPr>
        <p:spPr>
          <a:xfrm>
            <a:off x="714348" y="4008400"/>
            <a:ext cx="2500330" cy="571504"/>
          </a:xfrm>
          <a:prstGeom prst="roundRect">
            <a:avLst>
              <a:gd name="adj" fmla="val 21440"/>
            </a:avLst>
          </a:prstGeom>
          <a:noFill/>
          <a:ln w="222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_:</a:t>
            </a:r>
            <a:r>
              <a:rPr lang="fr-FR" sz="1200" b="1" dirty="0" err="1">
                <a:solidFill>
                  <a:schemeClr val="tx1"/>
                </a:solidFill>
                <a:latin typeface="Century Gothic" pitchFamily="34" charset="0"/>
              </a:rPr>
              <a:t>blank</a:t>
            </a:r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 </a:t>
            </a:r>
            <a:r>
              <a:rPr lang="fr-FR" sz="1200" b="1" dirty="0" err="1">
                <a:solidFill>
                  <a:schemeClr val="tx1"/>
                </a:solidFill>
                <a:latin typeface="Century Gothic" pitchFamily="34" charset="0"/>
              </a:rPr>
              <a:t>node</a:t>
            </a:r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schema:ArchiveComponent</a:t>
            </a:r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CB9A794-794A-4F96-A0ED-ECB44BF02BB1}"/>
              </a:ext>
            </a:extLst>
          </p:cNvPr>
          <p:cNvSpPr/>
          <p:nvPr/>
        </p:nvSpPr>
        <p:spPr>
          <a:xfrm>
            <a:off x="5168320" y="2890116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9" name="Forme 69">
            <a:extLst>
              <a:ext uri="{FF2B5EF4-FFF2-40B4-BE49-F238E27FC236}">
                <a16:creationId xmlns:a16="http://schemas.microsoft.com/office/drawing/2014/main" id="{FA3E8633-4FE5-4B6A-B39B-492F6D61129D}"/>
              </a:ext>
            </a:extLst>
          </p:cNvPr>
          <p:cNvCxnSpPr>
            <a:cxnSpLocks/>
            <a:stCxn id="98" idx="2"/>
            <a:endCxn id="96" idx="3"/>
          </p:cNvCxnSpPr>
          <p:nvPr/>
        </p:nvCxnSpPr>
        <p:spPr>
          <a:xfrm rot="5400000">
            <a:off x="3596638" y="2651032"/>
            <a:ext cx="1261160" cy="2025080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ZoneTexte 103">
            <a:extLst>
              <a:ext uri="{FF2B5EF4-FFF2-40B4-BE49-F238E27FC236}">
                <a16:creationId xmlns:a16="http://schemas.microsoft.com/office/drawing/2014/main" id="{49F7F3BB-EF38-4493-9590-22164393F553}"/>
              </a:ext>
            </a:extLst>
          </p:cNvPr>
          <p:cNvSpPr txBox="1"/>
          <p:nvPr/>
        </p:nvSpPr>
        <p:spPr>
          <a:xfrm>
            <a:off x="3323640" y="3989489"/>
            <a:ext cx="1571636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/>
            <a:r>
              <a:rPr lang="fr-FR" sz="1100" dirty="0" err="1">
                <a:latin typeface="Century Gothic" pitchFamily="34" charset="0"/>
              </a:rPr>
              <a:t>schema:subjectOf</a:t>
            </a:r>
            <a:endParaRPr lang="en-US" sz="1100" dirty="0">
              <a:latin typeface="Century Gothic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à coins arrondis 114"/>
          <p:cNvSpPr/>
          <p:nvPr/>
        </p:nvSpPr>
        <p:spPr>
          <a:xfrm>
            <a:off x="899592" y="1484784"/>
            <a:ext cx="2143140" cy="785818"/>
          </a:xfrm>
          <a:prstGeom prst="roundRect">
            <a:avLst>
              <a:gd name="adj" fmla="val 27207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100" b="1" dirty="0">
                <a:solidFill>
                  <a:schemeClr val="tx1"/>
                </a:solidFill>
                <a:latin typeface="Century Gothic" pitchFamily="34" charset="0"/>
              </a:rPr>
              <a:t>http://issn.org/organization/ISSNCenter#</a:t>
            </a:r>
            <a:r>
              <a:rPr lang="fr-FR" sz="1400" b="1" dirty="0">
                <a:solidFill>
                  <a:schemeClr val="tx1"/>
                </a:solidFill>
                <a:latin typeface="Century Gothic" pitchFamily="34" charset="0"/>
              </a:rPr>
              <a:t>{CCID}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schema:Organization</a:t>
            </a:r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sp>
        <p:nvSpPr>
          <p:cNvPr id="6" name="Rectangle à coins arrondis 13">
            <a:extLst>
              <a:ext uri="{FF2B5EF4-FFF2-40B4-BE49-F238E27FC236}">
                <a16:creationId xmlns:a16="http://schemas.microsoft.com/office/drawing/2014/main" id="{FA431FF1-0662-407B-9858-61494B28469D}"/>
              </a:ext>
            </a:extLst>
          </p:cNvPr>
          <p:cNvSpPr/>
          <p:nvPr/>
        </p:nvSpPr>
        <p:spPr>
          <a:xfrm>
            <a:off x="5076056" y="548679"/>
            <a:ext cx="2016224" cy="276999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"Name of the ISSN Centre"</a:t>
            </a:r>
          </a:p>
        </p:txBody>
      </p:sp>
      <p:sp>
        <p:nvSpPr>
          <p:cNvPr id="7" name="Rectangle à coins arrondis 13">
            <a:extLst>
              <a:ext uri="{FF2B5EF4-FFF2-40B4-BE49-F238E27FC236}">
                <a16:creationId xmlns:a16="http://schemas.microsoft.com/office/drawing/2014/main" id="{1BCB04BD-0751-4CCC-BD9F-3A6EA8D5F9D2}"/>
              </a:ext>
            </a:extLst>
          </p:cNvPr>
          <p:cNvSpPr/>
          <p:nvPr/>
        </p:nvSpPr>
        <p:spPr>
          <a:xfrm>
            <a:off x="5076056" y="908719"/>
            <a:ext cx="1368152" cy="276999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&lt;http://logo.png&gt;</a:t>
            </a:r>
          </a:p>
        </p:txBody>
      </p:sp>
      <p:sp>
        <p:nvSpPr>
          <p:cNvPr id="8" name="Rectangle à coins arrondis 13">
            <a:extLst>
              <a:ext uri="{FF2B5EF4-FFF2-40B4-BE49-F238E27FC236}">
                <a16:creationId xmlns:a16="http://schemas.microsoft.com/office/drawing/2014/main" id="{1EA88FC0-C81A-4D27-B086-67F592D325A8}"/>
              </a:ext>
            </a:extLst>
          </p:cNvPr>
          <p:cNvSpPr/>
          <p:nvPr/>
        </p:nvSpPr>
        <p:spPr>
          <a:xfrm>
            <a:off x="5076056" y="1268759"/>
            <a:ext cx="2016224" cy="276999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"ISSN Centre code"</a:t>
            </a:r>
          </a:p>
        </p:txBody>
      </p:sp>
      <p:sp>
        <p:nvSpPr>
          <p:cNvPr id="9" name="Rectangle à coins arrondis 13">
            <a:extLst>
              <a:ext uri="{FF2B5EF4-FFF2-40B4-BE49-F238E27FC236}">
                <a16:creationId xmlns:a16="http://schemas.microsoft.com/office/drawing/2014/main" id="{390AE11A-FC60-477C-8B11-1C243A0C7C8E}"/>
              </a:ext>
            </a:extLst>
          </p:cNvPr>
          <p:cNvSpPr/>
          <p:nvPr/>
        </p:nvSpPr>
        <p:spPr>
          <a:xfrm>
            <a:off x="5071445" y="2365397"/>
            <a:ext cx="2016224" cy="276999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"</a:t>
            </a:r>
            <a:r>
              <a:rPr lang="fr-FR" sz="1050" i="1" dirty="0" err="1">
                <a:solidFill>
                  <a:prstClr val="black"/>
                </a:solidFill>
                <a:latin typeface="Century Gothic" pitchFamily="34" charset="0"/>
              </a:rPr>
              <a:t>telephone</a:t>
            </a:r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"</a:t>
            </a:r>
          </a:p>
        </p:txBody>
      </p:sp>
      <p:sp>
        <p:nvSpPr>
          <p:cNvPr id="10" name="Rectangle à coins arrondis 13">
            <a:extLst>
              <a:ext uri="{FF2B5EF4-FFF2-40B4-BE49-F238E27FC236}">
                <a16:creationId xmlns:a16="http://schemas.microsoft.com/office/drawing/2014/main" id="{AD33CA79-119B-4DBE-9FE8-F86B09F5AB0A}"/>
              </a:ext>
            </a:extLst>
          </p:cNvPr>
          <p:cNvSpPr/>
          <p:nvPr/>
        </p:nvSpPr>
        <p:spPr>
          <a:xfrm>
            <a:off x="5076056" y="1621768"/>
            <a:ext cx="2016224" cy="276999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"</a:t>
            </a:r>
            <a:r>
              <a:rPr lang="fr-FR" sz="1050" i="1" dirty="0" err="1">
                <a:solidFill>
                  <a:prstClr val="black"/>
                </a:solidFill>
                <a:latin typeface="Century Gothic" pitchFamily="34" charset="0"/>
              </a:rPr>
              <a:t>website</a:t>
            </a:r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"</a:t>
            </a:r>
          </a:p>
        </p:txBody>
      </p:sp>
      <p:sp>
        <p:nvSpPr>
          <p:cNvPr id="11" name="Rectangle à coins arrondis 13">
            <a:extLst>
              <a:ext uri="{FF2B5EF4-FFF2-40B4-BE49-F238E27FC236}">
                <a16:creationId xmlns:a16="http://schemas.microsoft.com/office/drawing/2014/main" id="{834833A8-E4EC-401C-A8D6-5209DECBC5C5}"/>
              </a:ext>
            </a:extLst>
          </p:cNvPr>
          <p:cNvSpPr/>
          <p:nvPr/>
        </p:nvSpPr>
        <p:spPr>
          <a:xfrm>
            <a:off x="5066835" y="1986096"/>
            <a:ext cx="2016224" cy="276999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"e-mail"</a:t>
            </a:r>
          </a:p>
        </p:txBody>
      </p:sp>
      <p:sp>
        <p:nvSpPr>
          <p:cNvPr id="12" name="Rectangle à coins arrondis 13">
            <a:extLst>
              <a:ext uri="{FF2B5EF4-FFF2-40B4-BE49-F238E27FC236}">
                <a16:creationId xmlns:a16="http://schemas.microsoft.com/office/drawing/2014/main" id="{DDA6D253-6EF7-49C9-8BB6-52A59F7E9ED0}"/>
              </a:ext>
            </a:extLst>
          </p:cNvPr>
          <p:cNvSpPr/>
          <p:nvPr/>
        </p:nvSpPr>
        <p:spPr>
          <a:xfrm>
            <a:off x="5079564" y="2734730"/>
            <a:ext cx="2016224" cy="276999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"fax"</a:t>
            </a:r>
          </a:p>
        </p:txBody>
      </p:sp>
      <p:sp>
        <p:nvSpPr>
          <p:cNvPr id="13" name="Rectangle à coins arrondis 45">
            <a:extLst>
              <a:ext uri="{FF2B5EF4-FFF2-40B4-BE49-F238E27FC236}">
                <a16:creationId xmlns:a16="http://schemas.microsoft.com/office/drawing/2014/main" id="{EB915517-5716-4939-9884-FC7A25645DBB}"/>
              </a:ext>
            </a:extLst>
          </p:cNvPr>
          <p:cNvSpPr/>
          <p:nvPr/>
        </p:nvSpPr>
        <p:spPr>
          <a:xfrm>
            <a:off x="5076056" y="3107147"/>
            <a:ext cx="1728192" cy="554745"/>
          </a:xfrm>
          <a:prstGeom prst="roundRect">
            <a:avLst>
              <a:gd name="adj" fmla="val 22142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100" b="1" i="1" dirty="0">
                <a:solidFill>
                  <a:schemeClr val="tx1"/>
                </a:solidFill>
                <a:latin typeface="Century Gothic" pitchFamily="34" charset="0"/>
              </a:rPr>
              <a:t>_:</a:t>
            </a:r>
            <a:r>
              <a:rPr lang="fr-FR" sz="1100" b="1" i="1" dirty="0" err="1">
                <a:solidFill>
                  <a:schemeClr val="tx1"/>
                </a:solidFill>
                <a:latin typeface="Century Gothic" pitchFamily="34" charset="0"/>
              </a:rPr>
              <a:t>blank</a:t>
            </a:r>
            <a:r>
              <a:rPr lang="fr-FR" sz="1100" b="1" i="1" dirty="0">
                <a:solidFill>
                  <a:schemeClr val="tx1"/>
                </a:solidFill>
                <a:latin typeface="Century Gothic" pitchFamily="34" charset="0"/>
              </a:rPr>
              <a:t> </a:t>
            </a:r>
            <a:r>
              <a:rPr lang="fr-FR" sz="1100" b="1" i="1" dirty="0" err="1">
                <a:solidFill>
                  <a:schemeClr val="tx1"/>
                </a:solidFill>
                <a:latin typeface="Century Gothic" pitchFamily="34" charset="0"/>
              </a:rPr>
              <a:t>node</a:t>
            </a:r>
            <a:r>
              <a:rPr lang="fr-FR" sz="1100" b="1" i="1" dirty="0">
                <a:solidFill>
                  <a:schemeClr val="tx1"/>
                </a:solidFill>
                <a:latin typeface="Century Gothic" pitchFamily="34" charset="0"/>
              </a:rPr>
              <a:t>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schema:PostalAddress</a:t>
            </a:r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sp>
        <p:nvSpPr>
          <p:cNvPr id="14" name="Rectangle à coins arrondis 31">
            <a:extLst>
              <a:ext uri="{FF2B5EF4-FFF2-40B4-BE49-F238E27FC236}">
                <a16:creationId xmlns:a16="http://schemas.microsoft.com/office/drawing/2014/main" id="{3B1405D8-E77E-456D-91D4-755E403DE2BE}"/>
              </a:ext>
            </a:extLst>
          </p:cNvPr>
          <p:cNvSpPr/>
          <p:nvPr/>
        </p:nvSpPr>
        <p:spPr>
          <a:xfrm>
            <a:off x="5076056" y="3824378"/>
            <a:ext cx="1728192" cy="285752"/>
          </a:xfrm>
          <a:prstGeom prst="roundRect">
            <a:avLst>
              <a:gd name="adj" fmla="val 2144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100" b="1" dirty="0">
                <a:solidFill>
                  <a:schemeClr val="tx1"/>
                </a:solidFill>
                <a:latin typeface="Century Gothic" pitchFamily="34" charset="0"/>
              </a:rPr>
              <a:t>ISO Country URI</a:t>
            </a:r>
            <a:endParaRPr lang="fr-FR" sz="1000" dirty="0">
              <a:solidFill>
                <a:prstClr val="black"/>
              </a:solidFill>
              <a:latin typeface="Century Gothic" pitchFamily="34" charset="0"/>
            </a:endParaRPr>
          </a:p>
        </p:txBody>
      </p:sp>
      <p:sp>
        <p:nvSpPr>
          <p:cNvPr id="15" name="Rectangle à coins arrondis 13">
            <a:extLst>
              <a:ext uri="{FF2B5EF4-FFF2-40B4-BE49-F238E27FC236}">
                <a16:creationId xmlns:a16="http://schemas.microsoft.com/office/drawing/2014/main" id="{CEEE3FE2-131E-4501-B7D9-4AEEA70ED9D7}"/>
              </a:ext>
            </a:extLst>
          </p:cNvPr>
          <p:cNvSpPr/>
          <p:nvPr/>
        </p:nvSpPr>
        <p:spPr>
          <a:xfrm>
            <a:off x="8135888" y="2627017"/>
            <a:ext cx="1008112" cy="276999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"</a:t>
            </a:r>
            <a:r>
              <a:rPr lang="fr-FR" sz="1050" i="1" dirty="0" err="1">
                <a:solidFill>
                  <a:prstClr val="black"/>
                </a:solidFill>
                <a:latin typeface="Century Gothic" pitchFamily="34" charset="0"/>
              </a:rPr>
              <a:t>street</a:t>
            </a:r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 </a:t>
            </a:r>
            <a:r>
              <a:rPr lang="fr-FR" sz="1050" i="1" dirty="0" err="1">
                <a:solidFill>
                  <a:prstClr val="black"/>
                </a:solidFill>
                <a:latin typeface="Century Gothic" pitchFamily="34" charset="0"/>
              </a:rPr>
              <a:t>address</a:t>
            </a:r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"</a:t>
            </a:r>
          </a:p>
        </p:txBody>
      </p:sp>
      <p:sp>
        <p:nvSpPr>
          <p:cNvPr id="16" name="Rectangle à coins arrondis 13">
            <a:extLst>
              <a:ext uri="{FF2B5EF4-FFF2-40B4-BE49-F238E27FC236}">
                <a16:creationId xmlns:a16="http://schemas.microsoft.com/office/drawing/2014/main" id="{D4455B5E-D4B7-4D74-9FE8-EA77AAF46668}"/>
              </a:ext>
            </a:extLst>
          </p:cNvPr>
          <p:cNvSpPr/>
          <p:nvPr/>
        </p:nvSpPr>
        <p:spPr>
          <a:xfrm>
            <a:off x="8122496" y="3250246"/>
            <a:ext cx="1008112" cy="276999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"city </a:t>
            </a:r>
            <a:r>
              <a:rPr lang="fr-FR" sz="1050" i="1" dirty="0" err="1">
                <a:solidFill>
                  <a:prstClr val="black"/>
                </a:solidFill>
                <a:latin typeface="Century Gothic" pitchFamily="34" charset="0"/>
              </a:rPr>
              <a:t>name</a:t>
            </a:r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"</a:t>
            </a:r>
          </a:p>
        </p:txBody>
      </p:sp>
      <p:sp>
        <p:nvSpPr>
          <p:cNvPr id="17" name="Rectangle à coins arrondis 13">
            <a:extLst>
              <a:ext uri="{FF2B5EF4-FFF2-40B4-BE49-F238E27FC236}">
                <a16:creationId xmlns:a16="http://schemas.microsoft.com/office/drawing/2014/main" id="{8F81E08F-3C02-4699-A822-C5D77A75525B}"/>
              </a:ext>
            </a:extLst>
          </p:cNvPr>
          <p:cNvSpPr/>
          <p:nvPr/>
        </p:nvSpPr>
        <p:spPr>
          <a:xfrm>
            <a:off x="8135888" y="3964725"/>
            <a:ext cx="1008112" cy="276999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"country code"</a:t>
            </a:r>
          </a:p>
        </p:txBody>
      </p:sp>
      <p:sp>
        <p:nvSpPr>
          <p:cNvPr id="18" name="Rectangle à coins arrondis 45">
            <a:extLst>
              <a:ext uri="{FF2B5EF4-FFF2-40B4-BE49-F238E27FC236}">
                <a16:creationId xmlns:a16="http://schemas.microsoft.com/office/drawing/2014/main" id="{EE03404B-A2CC-427B-B449-3B2A1DBFAA79}"/>
              </a:ext>
            </a:extLst>
          </p:cNvPr>
          <p:cNvSpPr/>
          <p:nvPr/>
        </p:nvSpPr>
        <p:spPr>
          <a:xfrm>
            <a:off x="899592" y="5102845"/>
            <a:ext cx="2143140" cy="554745"/>
          </a:xfrm>
          <a:prstGeom prst="roundRect">
            <a:avLst>
              <a:gd name="adj" fmla="val 22142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100" b="1" i="1" dirty="0">
                <a:solidFill>
                  <a:schemeClr val="tx1"/>
                </a:solidFill>
                <a:latin typeface="Century Gothic" pitchFamily="34" charset="0"/>
              </a:rPr>
              <a:t>_:</a:t>
            </a:r>
            <a:r>
              <a:rPr lang="fr-FR" sz="1100" b="1" i="1" dirty="0" err="1">
                <a:solidFill>
                  <a:schemeClr val="tx1"/>
                </a:solidFill>
                <a:latin typeface="Century Gothic" pitchFamily="34" charset="0"/>
              </a:rPr>
              <a:t>blank</a:t>
            </a:r>
            <a:r>
              <a:rPr lang="fr-FR" sz="1100" b="1" i="1" dirty="0">
                <a:solidFill>
                  <a:schemeClr val="tx1"/>
                </a:solidFill>
                <a:latin typeface="Century Gothic" pitchFamily="34" charset="0"/>
              </a:rPr>
              <a:t> </a:t>
            </a:r>
            <a:r>
              <a:rPr lang="fr-FR" sz="1100" b="1" i="1" dirty="0" err="1">
                <a:solidFill>
                  <a:schemeClr val="tx1"/>
                </a:solidFill>
                <a:latin typeface="Century Gothic" pitchFamily="34" charset="0"/>
              </a:rPr>
              <a:t>node</a:t>
            </a:r>
            <a:r>
              <a:rPr lang="fr-FR" sz="1100" b="1" i="1" dirty="0">
                <a:solidFill>
                  <a:schemeClr val="tx1"/>
                </a:solidFill>
                <a:latin typeface="Century Gothic" pitchFamily="34" charset="0"/>
              </a:rPr>
              <a:t>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schema:ContactPoint</a:t>
            </a:r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cxnSp>
        <p:nvCxnSpPr>
          <p:cNvPr id="19" name="Forme 69">
            <a:extLst>
              <a:ext uri="{FF2B5EF4-FFF2-40B4-BE49-F238E27FC236}">
                <a16:creationId xmlns:a16="http://schemas.microsoft.com/office/drawing/2014/main" id="{286117B9-DA14-4499-A07D-D1BAD6FDB987}"/>
              </a:ext>
            </a:extLst>
          </p:cNvPr>
          <p:cNvCxnSpPr>
            <a:cxnSpLocks/>
            <a:stCxn id="115" idx="3"/>
            <a:endCxn id="6" idx="1"/>
          </p:cNvCxnSpPr>
          <p:nvPr/>
        </p:nvCxnSpPr>
        <p:spPr>
          <a:xfrm flipV="1">
            <a:off x="3042732" y="687179"/>
            <a:ext cx="2033324" cy="119051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Forme 69">
            <a:extLst>
              <a:ext uri="{FF2B5EF4-FFF2-40B4-BE49-F238E27FC236}">
                <a16:creationId xmlns:a16="http://schemas.microsoft.com/office/drawing/2014/main" id="{1D2FECAB-1D4D-4D05-BD08-C43657F9D99D}"/>
              </a:ext>
            </a:extLst>
          </p:cNvPr>
          <p:cNvCxnSpPr>
            <a:cxnSpLocks/>
            <a:stCxn id="115" idx="3"/>
            <a:endCxn id="7" idx="1"/>
          </p:cNvCxnSpPr>
          <p:nvPr/>
        </p:nvCxnSpPr>
        <p:spPr>
          <a:xfrm flipV="1">
            <a:off x="3042732" y="1047219"/>
            <a:ext cx="2033324" cy="83047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Forme 69">
            <a:extLst>
              <a:ext uri="{FF2B5EF4-FFF2-40B4-BE49-F238E27FC236}">
                <a16:creationId xmlns:a16="http://schemas.microsoft.com/office/drawing/2014/main" id="{E00B7B61-7CCF-4C73-970A-AD7F739C9891}"/>
              </a:ext>
            </a:extLst>
          </p:cNvPr>
          <p:cNvCxnSpPr>
            <a:cxnSpLocks/>
            <a:stCxn id="115" idx="3"/>
            <a:endCxn id="8" idx="1"/>
          </p:cNvCxnSpPr>
          <p:nvPr/>
        </p:nvCxnSpPr>
        <p:spPr>
          <a:xfrm flipV="1">
            <a:off x="3042732" y="1407259"/>
            <a:ext cx="2033324" cy="47043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Forme 69">
            <a:extLst>
              <a:ext uri="{FF2B5EF4-FFF2-40B4-BE49-F238E27FC236}">
                <a16:creationId xmlns:a16="http://schemas.microsoft.com/office/drawing/2014/main" id="{9344FDCB-373C-4307-9B35-49DA5AE1BBCB}"/>
              </a:ext>
            </a:extLst>
          </p:cNvPr>
          <p:cNvCxnSpPr>
            <a:cxnSpLocks/>
            <a:stCxn id="115" idx="3"/>
            <a:endCxn id="9" idx="1"/>
          </p:cNvCxnSpPr>
          <p:nvPr/>
        </p:nvCxnSpPr>
        <p:spPr>
          <a:xfrm>
            <a:off x="3042732" y="1877693"/>
            <a:ext cx="2028713" cy="62620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Forme 69">
            <a:extLst>
              <a:ext uri="{FF2B5EF4-FFF2-40B4-BE49-F238E27FC236}">
                <a16:creationId xmlns:a16="http://schemas.microsoft.com/office/drawing/2014/main" id="{3CFBFF2D-99C8-44AE-A65E-48A12F489945}"/>
              </a:ext>
            </a:extLst>
          </p:cNvPr>
          <p:cNvCxnSpPr>
            <a:cxnSpLocks/>
            <a:stCxn id="115" idx="3"/>
            <a:endCxn id="10" idx="1"/>
          </p:cNvCxnSpPr>
          <p:nvPr/>
        </p:nvCxnSpPr>
        <p:spPr>
          <a:xfrm flipV="1">
            <a:off x="3042732" y="1760268"/>
            <a:ext cx="2033324" cy="11742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Forme 69">
            <a:extLst>
              <a:ext uri="{FF2B5EF4-FFF2-40B4-BE49-F238E27FC236}">
                <a16:creationId xmlns:a16="http://schemas.microsoft.com/office/drawing/2014/main" id="{13DAA5EB-9E68-4ED8-B110-0617B8D63A2C}"/>
              </a:ext>
            </a:extLst>
          </p:cNvPr>
          <p:cNvCxnSpPr>
            <a:cxnSpLocks/>
            <a:stCxn id="115" idx="3"/>
            <a:endCxn id="11" idx="1"/>
          </p:cNvCxnSpPr>
          <p:nvPr/>
        </p:nvCxnSpPr>
        <p:spPr>
          <a:xfrm>
            <a:off x="3042732" y="1877693"/>
            <a:ext cx="2024103" cy="24690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Forme 69">
            <a:extLst>
              <a:ext uri="{FF2B5EF4-FFF2-40B4-BE49-F238E27FC236}">
                <a16:creationId xmlns:a16="http://schemas.microsoft.com/office/drawing/2014/main" id="{DB5A2417-DA5B-4FE9-BB02-00817F69B27D}"/>
              </a:ext>
            </a:extLst>
          </p:cNvPr>
          <p:cNvCxnSpPr>
            <a:cxnSpLocks/>
            <a:stCxn id="115" idx="3"/>
            <a:endCxn id="12" idx="1"/>
          </p:cNvCxnSpPr>
          <p:nvPr/>
        </p:nvCxnSpPr>
        <p:spPr>
          <a:xfrm>
            <a:off x="3042732" y="1877693"/>
            <a:ext cx="2036832" cy="99553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Forme 69">
            <a:extLst>
              <a:ext uri="{FF2B5EF4-FFF2-40B4-BE49-F238E27FC236}">
                <a16:creationId xmlns:a16="http://schemas.microsoft.com/office/drawing/2014/main" id="{BCAF3F8F-2C18-40B4-BD3C-700C438616E8}"/>
              </a:ext>
            </a:extLst>
          </p:cNvPr>
          <p:cNvCxnSpPr>
            <a:cxnSpLocks/>
            <a:stCxn id="115" idx="3"/>
            <a:endCxn id="13" idx="1"/>
          </p:cNvCxnSpPr>
          <p:nvPr/>
        </p:nvCxnSpPr>
        <p:spPr>
          <a:xfrm>
            <a:off x="3042732" y="1877693"/>
            <a:ext cx="2033324" cy="150682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Forme 69">
            <a:extLst>
              <a:ext uri="{FF2B5EF4-FFF2-40B4-BE49-F238E27FC236}">
                <a16:creationId xmlns:a16="http://schemas.microsoft.com/office/drawing/2014/main" id="{5538CA84-6B72-45B5-9F51-D81A03ECF8B4}"/>
              </a:ext>
            </a:extLst>
          </p:cNvPr>
          <p:cNvCxnSpPr>
            <a:cxnSpLocks/>
            <a:stCxn id="115" idx="3"/>
            <a:endCxn id="14" idx="1"/>
          </p:cNvCxnSpPr>
          <p:nvPr/>
        </p:nvCxnSpPr>
        <p:spPr>
          <a:xfrm>
            <a:off x="3042732" y="1877693"/>
            <a:ext cx="2033324" cy="208956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Forme 69">
            <a:extLst>
              <a:ext uri="{FF2B5EF4-FFF2-40B4-BE49-F238E27FC236}">
                <a16:creationId xmlns:a16="http://schemas.microsoft.com/office/drawing/2014/main" id="{AEEEFC17-7D53-46D2-9BAB-74B9A2EF3953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 flipV="1">
            <a:off x="6804248" y="2765517"/>
            <a:ext cx="1331640" cy="61900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Forme 69">
            <a:extLst>
              <a:ext uri="{FF2B5EF4-FFF2-40B4-BE49-F238E27FC236}">
                <a16:creationId xmlns:a16="http://schemas.microsoft.com/office/drawing/2014/main" id="{601CF1D8-1B22-4282-AD25-EDFCD8885362}"/>
              </a:ext>
            </a:extLst>
          </p:cNvPr>
          <p:cNvCxnSpPr>
            <a:cxnSpLocks/>
            <a:stCxn id="13" idx="3"/>
            <a:endCxn id="16" idx="1"/>
          </p:cNvCxnSpPr>
          <p:nvPr/>
        </p:nvCxnSpPr>
        <p:spPr>
          <a:xfrm>
            <a:off x="6804248" y="3384520"/>
            <a:ext cx="1318248" cy="422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Forme 69">
            <a:extLst>
              <a:ext uri="{FF2B5EF4-FFF2-40B4-BE49-F238E27FC236}">
                <a16:creationId xmlns:a16="http://schemas.microsoft.com/office/drawing/2014/main" id="{3B8D7945-A646-405C-AD95-8E0C46FCC9CB}"/>
              </a:ext>
            </a:extLst>
          </p:cNvPr>
          <p:cNvCxnSpPr>
            <a:cxnSpLocks/>
            <a:stCxn id="13" idx="3"/>
            <a:endCxn id="17" idx="1"/>
          </p:cNvCxnSpPr>
          <p:nvPr/>
        </p:nvCxnSpPr>
        <p:spPr>
          <a:xfrm>
            <a:off x="6804248" y="3384520"/>
            <a:ext cx="1331640" cy="71870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Forme 69">
            <a:extLst>
              <a:ext uri="{FF2B5EF4-FFF2-40B4-BE49-F238E27FC236}">
                <a16:creationId xmlns:a16="http://schemas.microsoft.com/office/drawing/2014/main" id="{3B27DF67-8A92-4FAD-85D7-3D3057DCC170}"/>
              </a:ext>
            </a:extLst>
          </p:cNvPr>
          <p:cNvCxnSpPr>
            <a:cxnSpLocks/>
            <a:stCxn id="115" idx="2"/>
            <a:endCxn id="18" idx="0"/>
          </p:cNvCxnSpPr>
          <p:nvPr/>
        </p:nvCxnSpPr>
        <p:spPr>
          <a:xfrm rot="5400000">
            <a:off x="555041" y="3686723"/>
            <a:ext cx="2832243" cy="1270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à coins arrondis 13">
            <a:extLst>
              <a:ext uri="{FF2B5EF4-FFF2-40B4-BE49-F238E27FC236}">
                <a16:creationId xmlns:a16="http://schemas.microsoft.com/office/drawing/2014/main" id="{76E921C5-A3F2-48FA-8D34-D6EE1C8F512F}"/>
              </a:ext>
            </a:extLst>
          </p:cNvPr>
          <p:cNvSpPr/>
          <p:nvPr/>
        </p:nvSpPr>
        <p:spPr>
          <a:xfrm>
            <a:off x="5076056" y="4605386"/>
            <a:ext cx="2016224" cy="276999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"Mr John Doe, </a:t>
            </a:r>
            <a:r>
              <a:rPr lang="fr-FR" sz="1050" i="1" dirty="0" err="1">
                <a:solidFill>
                  <a:prstClr val="black"/>
                </a:solidFill>
                <a:latin typeface="Century Gothic" pitchFamily="34" charset="0"/>
              </a:rPr>
              <a:t>Librarian</a:t>
            </a:r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"</a:t>
            </a:r>
          </a:p>
        </p:txBody>
      </p:sp>
      <p:sp>
        <p:nvSpPr>
          <p:cNvPr id="66" name="Rectangle à coins arrondis 13">
            <a:extLst>
              <a:ext uri="{FF2B5EF4-FFF2-40B4-BE49-F238E27FC236}">
                <a16:creationId xmlns:a16="http://schemas.microsoft.com/office/drawing/2014/main" id="{B4DF5EDE-F1ED-4D50-90E3-5D5042720A46}"/>
              </a:ext>
            </a:extLst>
          </p:cNvPr>
          <p:cNvSpPr/>
          <p:nvPr/>
        </p:nvSpPr>
        <p:spPr>
          <a:xfrm>
            <a:off x="5066835" y="4952202"/>
            <a:ext cx="2016224" cy="276999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"Main contact point" (</a:t>
            </a:r>
            <a:r>
              <a:rPr lang="fr-FR" sz="1050" i="1" dirty="0" err="1">
                <a:solidFill>
                  <a:prstClr val="black"/>
                </a:solidFill>
                <a:latin typeface="Century Gothic" pitchFamily="34" charset="0"/>
              </a:rPr>
              <a:t>only</a:t>
            </a:r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 for the first contact point)</a:t>
            </a:r>
          </a:p>
        </p:txBody>
      </p:sp>
      <p:sp>
        <p:nvSpPr>
          <p:cNvPr id="74" name="Rectangle à coins arrondis 13">
            <a:extLst>
              <a:ext uri="{FF2B5EF4-FFF2-40B4-BE49-F238E27FC236}">
                <a16:creationId xmlns:a16="http://schemas.microsoft.com/office/drawing/2014/main" id="{4DF2AB26-F3F0-4C31-B859-30A73A5B8794}"/>
              </a:ext>
            </a:extLst>
          </p:cNvPr>
          <p:cNvSpPr/>
          <p:nvPr/>
        </p:nvSpPr>
        <p:spPr>
          <a:xfrm>
            <a:off x="5064918" y="5691543"/>
            <a:ext cx="2016224" cy="276999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"</a:t>
            </a:r>
            <a:r>
              <a:rPr lang="fr-FR" sz="1050" i="1" dirty="0" err="1">
                <a:solidFill>
                  <a:prstClr val="black"/>
                </a:solidFill>
                <a:latin typeface="Century Gothic" pitchFamily="34" charset="0"/>
              </a:rPr>
              <a:t>telephone</a:t>
            </a:r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"</a:t>
            </a:r>
          </a:p>
        </p:txBody>
      </p:sp>
      <p:sp>
        <p:nvSpPr>
          <p:cNvPr id="75" name="Rectangle à coins arrondis 13">
            <a:extLst>
              <a:ext uri="{FF2B5EF4-FFF2-40B4-BE49-F238E27FC236}">
                <a16:creationId xmlns:a16="http://schemas.microsoft.com/office/drawing/2014/main" id="{DF536E20-36B0-43BE-9043-A100FC6F4207}"/>
              </a:ext>
            </a:extLst>
          </p:cNvPr>
          <p:cNvSpPr/>
          <p:nvPr/>
        </p:nvSpPr>
        <p:spPr>
          <a:xfrm>
            <a:off x="5060308" y="5312242"/>
            <a:ext cx="2016224" cy="276999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"e-mail"</a:t>
            </a:r>
          </a:p>
        </p:txBody>
      </p:sp>
      <p:sp>
        <p:nvSpPr>
          <p:cNvPr id="76" name="Rectangle à coins arrondis 13">
            <a:extLst>
              <a:ext uri="{FF2B5EF4-FFF2-40B4-BE49-F238E27FC236}">
                <a16:creationId xmlns:a16="http://schemas.microsoft.com/office/drawing/2014/main" id="{E9873D87-6464-41D3-BF12-D2AE2195ED46}"/>
              </a:ext>
            </a:extLst>
          </p:cNvPr>
          <p:cNvSpPr/>
          <p:nvPr/>
        </p:nvSpPr>
        <p:spPr>
          <a:xfrm>
            <a:off x="5073037" y="6060876"/>
            <a:ext cx="2016224" cy="276999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"fax"</a:t>
            </a:r>
          </a:p>
        </p:txBody>
      </p:sp>
      <p:cxnSp>
        <p:nvCxnSpPr>
          <p:cNvPr id="82" name="Forme 69">
            <a:extLst>
              <a:ext uri="{FF2B5EF4-FFF2-40B4-BE49-F238E27FC236}">
                <a16:creationId xmlns:a16="http://schemas.microsoft.com/office/drawing/2014/main" id="{51AA254E-CF0F-4EDD-BD07-0552CCF5906E}"/>
              </a:ext>
            </a:extLst>
          </p:cNvPr>
          <p:cNvCxnSpPr>
            <a:cxnSpLocks/>
            <a:stCxn id="18" idx="3"/>
            <a:endCxn id="65" idx="1"/>
          </p:cNvCxnSpPr>
          <p:nvPr/>
        </p:nvCxnSpPr>
        <p:spPr>
          <a:xfrm flipV="1">
            <a:off x="3042732" y="4743886"/>
            <a:ext cx="2033324" cy="63633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Forme 69">
            <a:extLst>
              <a:ext uri="{FF2B5EF4-FFF2-40B4-BE49-F238E27FC236}">
                <a16:creationId xmlns:a16="http://schemas.microsoft.com/office/drawing/2014/main" id="{30947598-D03B-4D11-829A-A9C3617C3964}"/>
              </a:ext>
            </a:extLst>
          </p:cNvPr>
          <p:cNvCxnSpPr>
            <a:cxnSpLocks/>
            <a:stCxn id="18" idx="3"/>
            <a:endCxn id="66" idx="1"/>
          </p:cNvCxnSpPr>
          <p:nvPr/>
        </p:nvCxnSpPr>
        <p:spPr>
          <a:xfrm flipV="1">
            <a:off x="3042732" y="5090702"/>
            <a:ext cx="2024103" cy="28951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Forme 69">
            <a:extLst>
              <a:ext uri="{FF2B5EF4-FFF2-40B4-BE49-F238E27FC236}">
                <a16:creationId xmlns:a16="http://schemas.microsoft.com/office/drawing/2014/main" id="{1A043457-371D-4524-812C-9A30BFC10746}"/>
              </a:ext>
            </a:extLst>
          </p:cNvPr>
          <p:cNvCxnSpPr>
            <a:cxnSpLocks/>
            <a:stCxn id="18" idx="3"/>
            <a:endCxn id="75" idx="1"/>
          </p:cNvCxnSpPr>
          <p:nvPr/>
        </p:nvCxnSpPr>
        <p:spPr>
          <a:xfrm>
            <a:off x="3042732" y="5380218"/>
            <a:ext cx="2017576" cy="7052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Forme 69">
            <a:extLst>
              <a:ext uri="{FF2B5EF4-FFF2-40B4-BE49-F238E27FC236}">
                <a16:creationId xmlns:a16="http://schemas.microsoft.com/office/drawing/2014/main" id="{126BDF2E-A8A4-471B-B3BE-D063E904F35C}"/>
              </a:ext>
            </a:extLst>
          </p:cNvPr>
          <p:cNvCxnSpPr>
            <a:cxnSpLocks/>
            <a:stCxn id="18" idx="3"/>
            <a:endCxn id="74" idx="1"/>
          </p:cNvCxnSpPr>
          <p:nvPr/>
        </p:nvCxnSpPr>
        <p:spPr>
          <a:xfrm>
            <a:off x="3042732" y="5380218"/>
            <a:ext cx="2022186" cy="44982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Forme 69">
            <a:extLst>
              <a:ext uri="{FF2B5EF4-FFF2-40B4-BE49-F238E27FC236}">
                <a16:creationId xmlns:a16="http://schemas.microsoft.com/office/drawing/2014/main" id="{DC97F1BA-324A-44A5-A791-7F7C47864983}"/>
              </a:ext>
            </a:extLst>
          </p:cNvPr>
          <p:cNvCxnSpPr>
            <a:cxnSpLocks/>
            <a:stCxn id="18" idx="3"/>
            <a:endCxn id="76" idx="1"/>
          </p:cNvCxnSpPr>
          <p:nvPr/>
        </p:nvCxnSpPr>
        <p:spPr>
          <a:xfrm>
            <a:off x="3042732" y="5380218"/>
            <a:ext cx="2030305" cy="81915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ZoneTexte 96">
            <a:extLst>
              <a:ext uri="{FF2B5EF4-FFF2-40B4-BE49-F238E27FC236}">
                <a16:creationId xmlns:a16="http://schemas.microsoft.com/office/drawing/2014/main" id="{D448F5DE-3B63-430A-B380-13C2E4E262EE}"/>
              </a:ext>
            </a:extLst>
          </p:cNvPr>
          <p:cNvSpPr txBox="1"/>
          <p:nvPr/>
        </p:nvSpPr>
        <p:spPr>
          <a:xfrm>
            <a:off x="3491880" y="369149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schema:name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3A27D682-0184-40E1-A649-CB5FD3C560E5}"/>
              </a:ext>
            </a:extLst>
          </p:cNvPr>
          <p:cNvSpPr txBox="1"/>
          <p:nvPr/>
        </p:nvSpPr>
        <p:spPr>
          <a:xfrm>
            <a:off x="3491880" y="748382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schema:logo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2471511D-CE13-4D9F-ABB5-4E6929C83F49}"/>
              </a:ext>
            </a:extLst>
          </p:cNvPr>
          <p:cNvSpPr txBox="1"/>
          <p:nvPr/>
        </p:nvSpPr>
        <p:spPr>
          <a:xfrm>
            <a:off x="3491880" y="3671750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dct:spatial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80795BCC-9BBC-4FB4-9234-A344ED7F40B9}"/>
              </a:ext>
            </a:extLst>
          </p:cNvPr>
          <p:cNvSpPr txBox="1"/>
          <p:nvPr/>
        </p:nvSpPr>
        <p:spPr>
          <a:xfrm>
            <a:off x="3492737" y="1125883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schema:identifier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01" name="ZoneTexte 100">
            <a:extLst>
              <a:ext uri="{FF2B5EF4-FFF2-40B4-BE49-F238E27FC236}">
                <a16:creationId xmlns:a16="http://schemas.microsoft.com/office/drawing/2014/main" id="{BF58957B-0D12-4AE4-8224-CD53004A8DFD}"/>
              </a:ext>
            </a:extLst>
          </p:cNvPr>
          <p:cNvSpPr txBox="1"/>
          <p:nvPr/>
        </p:nvSpPr>
        <p:spPr>
          <a:xfrm>
            <a:off x="3502855" y="1477389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schema:url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BA601E71-897C-4E23-87B1-8C5E009B9340}"/>
              </a:ext>
            </a:extLst>
          </p:cNvPr>
          <p:cNvSpPr txBox="1"/>
          <p:nvPr/>
        </p:nvSpPr>
        <p:spPr>
          <a:xfrm>
            <a:off x="3496822" y="1875609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schema:email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CC5FF596-5888-4D99-9819-E35B5E79C7E5}"/>
              </a:ext>
            </a:extLst>
          </p:cNvPr>
          <p:cNvSpPr txBox="1"/>
          <p:nvPr/>
        </p:nvSpPr>
        <p:spPr>
          <a:xfrm>
            <a:off x="3491880" y="2235234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schema:telephone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B7693278-05FC-4D45-A5CB-49377290B1B9}"/>
              </a:ext>
            </a:extLst>
          </p:cNvPr>
          <p:cNvSpPr txBox="1"/>
          <p:nvPr/>
        </p:nvSpPr>
        <p:spPr>
          <a:xfrm>
            <a:off x="3495001" y="2572728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schema:faxNumber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B7A7DE29-3135-419A-9D1D-C4BD11310B0F}"/>
              </a:ext>
            </a:extLst>
          </p:cNvPr>
          <p:cNvSpPr txBox="1"/>
          <p:nvPr/>
        </p:nvSpPr>
        <p:spPr>
          <a:xfrm>
            <a:off x="3491880" y="3061355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schema:address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8E3484E5-60B5-4765-AF2B-3EA97BAAC6BA}"/>
              </a:ext>
            </a:extLst>
          </p:cNvPr>
          <p:cNvSpPr txBox="1"/>
          <p:nvPr/>
        </p:nvSpPr>
        <p:spPr>
          <a:xfrm>
            <a:off x="6782556" y="2290130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schema:streetAddress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07" name="ZoneTexte 106">
            <a:extLst>
              <a:ext uri="{FF2B5EF4-FFF2-40B4-BE49-F238E27FC236}">
                <a16:creationId xmlns:a16="http://schemas.microsoft.com/office/drawing/2014/main" id="{0013685C-87A1-4DB1-8D2D-CC9BC0AB5290}"/>
              </a:ext>
            </a:extLst>
          </p:cNvPr>
          <p:cNvSpPr txBox="1"/>
          <p:nvPr/>
        </p:nvSpPr>
        <p:spPr>
          <a:xfrm>
            <a:off x="6787817" y="2992077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schema:addressLocality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08" name="ZoneTexte 107">
            <a:extLst>
              <a:ext uri="{FF2B5EF4-FFF2-40B4-BE49-F238E27FC236}">
                <a16:creationId xmlns:a16="http://schemas.microsoft.com/office/drawing/2014/main" id="{7181647E-584D-4F7F-9B78-DFE244FBC017}"/>
              </a:ext>
            </a:extLst>
          </p:cNvPr>
          <p:cNvSpPr txBox="1"/>
          <p:nvPr/>
        </p:nvSpPr>
        <p:spPr>
          <a:xfrm>
            <a:off x="6804248" y="3685314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schema:addressCountry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09" name="ZoneTexte 108">
            <a:extLst>
              <a:ext uri="{FF2B5EF4-FFF2-40B4-BE49-F238E27FC236}">
                <a16:creationId xmlns:a16="http://schemas.microsoft.com/office/drawing/2014/main" id="{C9CA09F4-3EA0-4987-A770-46462F470353}"/>
              </a:ext>
            </a:extLst>
          </p:cNvPr>
          <p:cNvSpPr txBox="1"/>
          <p:nvPr/>
        </p:nvSpPr>
        <p:spPr>
          <a:xfrm>
            <a:off x="3491880" y="5196873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schema:email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10" name="ZoneTexte 109">
            <a:extLst>
              <a:ext uri="{FF2B5EF4-FFF2-40B4-BE49-F238E27FC236}">
                <a16:creationId xmlns:a16="http://schemas.microsoft.com/office/drawing/2014/main" id="{FCF79555-EE62-4ED1-A788-12E71D65C69E}"/>
              </a:ext>
            </a:extLst>
          </p:cNvPr>
          <p:cNvSpPr txBox="1"/>
          <p:nvPr/>
        </p:nvSpPr>
        <p:spPr>
          <a:xfrm>
            <a:off x="3486938" y="5556498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schema:telephone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11" name="ZoneTexte 110">
            <a:extLst>
              <a:ext uri="{FF2B5EF4-FFF2-40B4-BE49-F238E27FC236}">
                <a16:creationId xmlns:a16="http://schemas.microsoft.com/office/drawing/2014/main" id="{42C9F41F-6FE0-48C3-8E79-2DD52DB4E4B6}"/>
              </a:ext>
            </a:extLst>
          </p:cNvPr>
          <p:cNvSpPr txBox="1"/>
          <p:nvPr/>
        </p:nvSpPr>
        <p:spPr>
          <a:xfrm>
            <a:off x="3490059" y="5893992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schema:faxNumber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12" name="ZoneTexte 111">
            <a:extLst>
              <a:ext uri="{FF2B5EF4-FFF2-40B4-BE49-F238E27FC236}">
                <a16:creationId xmlns:a16="http://schemas.microsoft.com/office/drawing/2014/main" id="{009BDA78-77CE-4504-8BB5-6018932008D2}"/>
              </a:ext>
            </a:extLst>
          </p:cNvPr>
          <p:cNvSpPr txBox="1"/>
          <p:nvPr/>
        </p:nvSpPr>
        <p:spPr>
          <a:xfrm>
            <a:off x="3486938" y="4404995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schema:name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13" name="ZoneTexte 112">
            <a:extLst>
              <a:ext uri="{FF2B5EF4-FFF2-40B4-BE49-F238E27FC236}">
                <a16:creationId xmlns:a16="http://schemas.microsoft.com/office/drawing/2014/main" id="{647CA17D-2716-497B-A48E-CF0941276366}"/>
              </a:ext>
            </a:extLst>
          </p:cNvPr>
          <p:cNvSpPr txBox="1"/>
          <p:nvPr/>
        </p:nvSpPr>
        <p:spPr>
          <a:xfrm>
            <a:off x="3502855" y="4784027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schema:contactType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14" name="ZoneTexte 113">
            <a:extLst>
              <a:ext uri="{FF2B5EF4-FFF2-40B4-BE49-F238E27FC236}">
                <a16:creationId xmlns:a16="http://schemas.microsoft.com/office/drawing/2014/main" id="{7197CA31-81ED-41BE-B4D8-9FBB48DB0971}"/>
              </a:ext>
            </a:extLst>
          </p:cNvPr>
          <p:cNvSpPr txBox="1"/>
          <p:nvPr/>
        </p:nvSpPr>
        <p:spPr>
          <a:xfrm>
            <a:off x="302852" y="3437221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schema:contactPoint</a:t>
            </a:r>
            <a:endParaRPr lang="en-US" sz="1100" dirty="0">
              <a:latin typeface="Century Gothic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2805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77DF34C-73F7-49EA-A7A7-04F2A8E7B9E1}"/>
              </a:ext>
            </a:extLst>
          </p:cNvPr>
          <p:cNvSpPr txBox="1"/>
          <p:nvPr/>
        </p:nvSpPr>
        <p:spPr>
          <a:xfrm>
            <a:off x="1043608" y="5877272"/>
            <a:ext cx="6246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latin typeface="Consolas" panose="020B0609020204030204" pitchFamily="49" charset="0"/>
              </a:rPr>
              <a:t>https://www.issn.org/centre/romania-roumanie/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EB3B2C3-A4CA-412E-8F39-489BD8FB1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404664"/>
            <a:ext cx="5748684" cy="5325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276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à coins arrondis 58">
            <a:extLst>
              <a:ext uri="{FF2B5EF4-FFF2-40B4-BE49-F238E27FC236}">
                <a16:creationId xmlns:a16="http://schemas.microsoft.com/office/drawing/2014/main" id="{5FCC0AF4-B9F1-4212-B5F2-FE32B1EE0F23}"/>
              </a:ext>
            </a:extLst>
          </p:cNvPr>
          <p:cNvSpPr/>
          <p:nvPr/>
        </p:nvSpPr>
        <p:spPr>
          <a:xfrm>
            <a:off x="158493" y="2207168"/>
            <a:ext cx="6518639" cy="446219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25000"/>
            </a:schemeClr>
          </a:solidFill>
          <a:ln w="22225">
            <a:solidFill>
              <a:schemeClr val="bg1">
                <a:lumMod val="65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fr-FR" sz="1050" i="1" dirty="0" err="1">
                <a:solidFill>
                  <a:prstClr val="black"/>
                </a:solidFill>
                <a:latin typeface="Century Gothic" pitchFamily="34" charset="0"/>
              </a:rPr>
              <a:t>Repeated</a:t>
            </a:r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 for </a:t>
            </a:r>
            <a:r>
              <a:rPr lang="fr-FR" sz="1050" i="1" dirty="0" err="1">
                <a:solidFill>
                  <a:prstClr val="black"/>
                </a:solidFill>
                <a:latin typeface="Century Gothic" pitchFamily="34" charset="0"/>
              </a:rPr>
              <a:t>each</a:t>
            </a:r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 archive of the </a:t>
            </a:r>
            <a:r>
              <a:rPr lang="fr-FR" sz="1050" i="1" dirty="0" err="1">
                <a:solidFill>
                  <a:prstClr val="black"/>
                </a:solidFill>
                <a:latin typeface="Century Gothic" pitchFamily="34" charset="0"/>
              </a:rPr>
              <a:t>same</a:t>
            </a:r>
            <a:r>
              <a:rPr lang="fr-FR" sz="1050" i="1" dirty="0">
                <a:solidFill>
                  <a:prstClr val="black"/>
                </a:solidFill>
                <a:latin typeface="Century Gothic" pitchFamily="34" charset="0"/>
              </a:rPr>
              <a:t> serial</a:t>
            </a:r>
          </a:p>
        </p:txBody>
      </p:sp>
      <p:sp>
        <p:nvSpPr>
          <p:cNvPr id="8" name="Rectangle à coins arrondis 99">
            <a:extLst>
              <a:ext uri="{FF2B5EF4-FFF2-40B4-BE49-F238E27FC236}">
                <a16:creationId xmlns:a16="http://schemas.microsoft.com/office/drawing/2014/main" id="{756AC061-2B8E-4F53-AAC9-DFAD6265164E}"/>
              </a:ext>
            </a:extLst>
          </p:cNvPr>
          <p:cNvSpPr/>
          <p:nvPr/>
        </p:nvSpPr>
        <p:spPr>
          <a:xfrm>
            <a:off x="1669574" y="2494625"/>
            <a:ext cx="2786082" cy="571504"/>
          </a:xfrm>
          <a:prstGeom prst="roundRect">
            <a:avLst>
              <a:gd name="adj" fmla="val 21440"/>
            </a:avLst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_:</a:t>
            </a:r>
            <a:r>
              <a:rPr lang="fr-FR" sz="1200" b="1" dirty="0" err="1">
                <a:solidFill>
                  <a:schemeClr val="tx1"/>
                </a:solidFill>
                <a:latin typeface="Century Gothic" pitchFamily="34" charset="0"/>
              </a:rPr>
              <a:t>blank</a:t>
            </a:r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 </a:t>
            </a:r>
            <a:r>
              <a:rPr lang="fr-FR" sz="1200" b="1" dirty="0" err="1">
                <a:solidFill>
                  <a:schemeClr val="tx1"/>
                </a:solidFill>
                <a:latin typeface="Century Gothic" pitchFamily="34" charset="0"/>
              </a:rPr>
              <a:t>node</a:t>
            </a:r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schema:ArchiveComponent</a:t>
            </a:r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</p:txBody>
      </p:sp>
      <p:cxnSp>
        <p:nvCxnSpPr>
          <p:cNvPr id="9" name="Forme 69">
            <a:extLst>
              <a:ext uri="{FF2B5EF4-FFF2-40B4-BE49-F238E27FC236}">
                <a16:creationId xmlns:a16="http://schemas.microsoft.com/office/drawing/2014/main" id="{278DAB9B-7B3A-490C-A162-25B50B7F33E8}"/>
              </a:ext>
            </a:extLst>
          </p:cNvPr>
          <p:cNvCxnSpPr>
            <a:cxnSpLocks/>
            <a:endCxn id="8" idx="0"/>
          </p:cNvCxnSpPr>
          <p:nvPr/>
        </p:nvCxnSpPr>
        <p:spPr>
          <a:xfrm rot="16200000" flipH="1">
            <a:off x="2458896" y="1890906"/>
            <a:ext cx="1199872" cy="756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B18AA177-1305-4693-88FC-AD9DC1ACD904}"/>
              </a:ext>
            </a:extLst>
          </p:cNvPr>
          <p:cNvSpPr txBox="1"/>
          <p:nvPr/>
        </p:nvSpPr>
        <p:spPr>
          <a:xfrm>
            <a:off x="3079374" y="1651690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schema:subjectOf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6" name="Rectangle à coins arrondis 114">
            <a:extLst>
              <a:ext uri="{FF2B5EF4-FFF2-40B4-BE49-F238E27FC236}">
                <a16:creationId xmlns:a16="http://schemas.microsoft.com/office/drawing/2014/main" id="{33781D71-DCAF-4BED-BB95-AB5B127DB02A}"/>
              </a:ext>
            </a:extLst>
          </p:cNvPr>
          <p:cNvSpPr/>
          <p:nvPr/>
        </p:nvSpPr>
        <p:spPr>
          <a:xfrm>
            <a:off x="5667806" y="891106"/>
            <a:ext cx="2407177" cy="785818"/>
          </a:xfrm>
          <a:prstGeom prst="roundRect">
            <a:avLst>
              <a:gd name="adj" fmla="val 27207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100" b="1" dirty="0">
                <a:solidFill>
                  <a:schemeClr val="tx1"/>
                </a:solidFill>
                <a:latin typeface="Century Gothic" pitchFamily="34" charset="0"/>
              </a:rPr>
              <a:t>http://issn.org/organization</a:t>
            </a:r>
          </a:p>
          <a:p>
            <a:pPr algn="ctr"/>
            <a:r>
              <a:rPr lang="fr-FR" sz="1100" b="1" dirty="0">
                <a:solidFill>
                  <a:schemeClr val="tx1"/>
                </a:solidFill>
                <a:latin typeface="Century Gothic" pitchFamily="34" charset="0"/>
              </a:rPr>
              <a:t>/keepers#</a:t>
            </a:r>
            <a:r>
              <a:rPr lang="fr-FR" sz="1400" b="1" dirty="0">
                <a:solidFill>
                  <a:schemeClr val="tx1"/>
                </a:solidFill>
                <a:latin typeface="Century Gothic" pitchFamily="34" charset="0"/>
              </a:rPr>
              <a:t>{keeperCode}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schema:ArchiveOrganization</a:t>
            </a:r>
            <a:endParaRPr lang="fr-FR" sz="1050" dirty="0">
              <a:solidFill>
                <a:prstClr val="black"/>
              </a:solidFill>
              <a:latin typeface="Century Gothic" pitchFamily="34" charset="0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sp>
        <p:nvSpPr>
          <p:cNvPr id="17" name="Rectangle à coins arrondis 126">
            <a:extLst>
              <a:ext uri="{FF2B5EF4-FFF2-40B4-BE49-F238E27FC236}">
                <a16:creationId xmlns:a16="http://schemas.microsoft.com/office/drawing/2014/main" id="{B51419E1-153F-4D77-9B8E-4E779C97384B}"/>
              </a:ext>
            </a:extLst>
          </p:cNvPr>
          <p:cNvSpPr/>
          <p:nvPr/>
        </p:nvSpPr>
        <p:spPr>
          <a:xfrm>
            <a:off x="5961484" y="75109"/>
            <a:ext cx="1813310" cy="285752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fr-FR" sz="1100" dirty="0">
                <a:solidFill>
                  <a:prstClr val="black"/>
                </a:solidFill>
                <a:latin typeface="Century Gothic" pitchFamily="34" charset="0"/>
              </a:rPr>
              <a:t>"</a:t>
            </a:r>
            <a:r>
              <a:rPr lang="fr-FR" sz="1100" i="1" dirty="0" err="1">
                <a:solidFill>
                  <a:prstClr val="black"/>
                </a:solidFill>
                <a:latin typeface="Century Gothic" pitchFamily="34" charset="0"/>
              </a:rPr>
              <a:t>Organization’s</a:t>
            </a:r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 </a:t>
            </a:r>
            <a:r>
              <a:rPr lang="fr-FR" sz="1100" i="1" dirty="0" err="1">
                <a:solidFill>
                  <a:prstClr val="black"/>
                </a:solidFill>
                <a:latin typeface="Century Gothic" pitchFamily="34" charset="0"/>
              </a:rPr>
              <a:t>name</a:t>
            </a:r>
            <a:r>
              <a:rPr lang="fr-FR" sz="1100" dirty="0">
                <a:solidFill>
                  <a:prstClr val="black"/>
                </a:solidFill>
                <a:latin typeface="Century Gothic" pitchFamily="34" charset="0"/>
              </a:rPr>
              <a:t>"</a:t>
            </a:r>
          </a:p>
        </p:txBody>
      </p:sp>
      <p:sp>
        <p:nvSpPr>
          <p:cNvPr id="18" name="Rectangle à coins arrondis 126">
            <a:extLst>
              <a:ext uri="{FF2B5EF4-FFF2-40B4-BE49-F238E27FC236}">
                <a16:creationId xmlns:a16="http://schemas.microsoft.com/office/drawing/2014/main" id="{5A23C2D7-68B7-47EC-A846-4E6D75E085A6}"/>
              </a:ext>
            </a:extLst>
          </p:cNvPr>
          <p:cNvSpPr/>
          <p:nvPr/>
        </p:nvSpPr>
        <p:spPr>
          <a:xfrm>
            <a:off x="7045196" y="2412917"/>
            <a:ext cx="1813310" cy="285752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fr-FR" sz="1100" dirty="0">
                <a:solidFill>
                  <a:prstClr val="black"/>
                </a:solidFill>
                <a:latin typeface="Century Gothic" pitchFamily="34" charset="0"/>
              </a:rPr>
              <a:t>"</a:t>
            </a:r>
            <a:r>
              <a:rPr lang="fr-FR" sz="1100" i="1" dirty="0" err="1">
                <a:solidFill>
                  <a:prstClr val="black"/>
                </a:solidFill>
                <a:latin typeface="Century Gothic" pitchFamily="34" charset="0"/>
              </a:rPr>
              <a:t>Keeper’s</a:t>
            </a:r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 code</a:t>
            </a:r>
            <a:r>
              <a:rPr lang="fr-FR" sz="1100" dirty="0">
                <a:solidFill>
                  <a:prstClr val="black"/>
                </a:solidFill>
                <a:latin typeface="Century Gothic" pitchFamily="34" charset="0"/>
              </a:rPr>
              <a:t>"</a:t>
            </a:r>
          </a:p>
        </p:txBody>
      </p:sp>
      <p:cxnSp>
        <p:nvCxnSpPr>
          <p:cNvPr id="19" name="Forme 69">
            <a:extLst>
              <a:ext uri="{FF2B5EF4-FFF2-40B4-BE49-F238E27FC236}">
                <a16:creationId xmlns:a16="http://schemas.microsoft.com/office/drawing/2014/main" id="{FDED686E-6446-42E5-8075-B389B29079E0}"/>
              </a:ext>
            </a:extLst>
          </p:cNvPr>
          <p:cNvCxnSpPr>
            <a:cxnSpLocks/>
            <a:stCxn id="58" idx="3"/>
            <a:endCxn id="16" idx="1"/>
          </p:cNvCxnSpPr>
          <p:nvPr/>
        </p:nvCxnSpPr>
        <p:spPr>
          <a:xfrm flipV="1">
            <a:off x="4455657" y="1284015"/>
            <a:ext cx="1212149" cy="134854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Forme 69">
            <a:extLst>
              <a:ext uri="{FF2B5EF4-FFF2-40B4-BE49-F238E27FC236}">
                <a16:creationId xmlns:a16="http://schemas.microsoft.com/office/drawing/2014/main" id="{0E0B43B8-8AEE-40CA-A0C0-702E8131A0CC}"/>
              </a:ext>
            </a:extLst>
          </p:cNvPr>
          <p:cNvCxnSpPr>
            <a:cxnSpLocks/>
            <a:stCxn id="16" idx="0"/>
            <a:endCxn id="17" idx="2"/>
          </p:cNvCxnSpPr>
          <p:nvPr/>
        </p:nvCxnSpPr>
        <p:spPr>
          <a:xfrm rot="16200000" flipV="1">
            <a:off x="6604645" y="624356"/>
            <a:ext cx="530245" cy="325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Forme 69">
            <a:extLst>
              <a:ext uri="{FF2B5EF4-FFF2-40B4-BE49-F238E27FC236}">
                <a16:creationId xmlns:a16="http://schemas.microsoft.com/office/drawing/2014/main" id="{7BB7E77F-3448-4397-B68A-212A2594525A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 rot="16200000" flipH="1">
            <a:off x="7043627" y="1504692"/>
            <a:ext cx="735993" cy="108045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ZoneTexte 34">
            <a:extLst>
              <a:ext uri="{FF2B5EF4-FFF2-40B4-BE49-F238E27FC236}">
                <a16:creationId xmlns:a16="http://schemas.microsoft.com/office/drawing/2014/main" id="{FA13E91C-0B35-4FB9-A0D9-C1E749D8534E}"/>
              </a:ext>
            </a:extLst>
          </p:cNvPr>
          <p:cNvSpPr txBox="1"/>
          <p:nvPr/>
        </p:nvSpPr>
        <p:spPr>
          <a:xfrm>
            <a:off x="6878961" y="517635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schema:name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19C04D0C-28BA-4BCF-A8EE-355B6E809327}"/>
              </a:ext>
            </a:extLst>
          </p:cNvPr>
          <p:cNvSpPr txBox="1"/>
          <p:nvPr/>
        </p:nvSpPr>
        <p:spPr>
          <a:xfrm>
            <a:off x="6868139" y="1746193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schema:identifier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9F325723-CDDB-4E4B-A2B1-242A27519D20}"/>
              </a:ext>
            </a:extLst>
          </p:cNvPr>
          <p:cNvSpPr txBox="1"/>
          <p:nvPr/>
        </p:nvSpPr>
        <p:spPr>
          <a:xfrm>
            <a:off x="5030477" y="2273372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schema:holdingArchive</a:t>
            </a:r>
            <a:endParaRPr lang="en-US" sz="1100" dirty="0">
              <a:latin typeface="Century Gothic" pitchFamily="34" charset="0"/>
            </a:endParaRPr>
          </a:p>
        </p:txBody>
      </p:sp>
      <p:cxnSp>
        <p:nvCxnSpPr>
          <p:cNvPr id="44" name="Forme 69">
            <a:extLst>
              <a:ext uri="{FF2B5EF4-FFF2-40B4-BE49-F238E27FC236}">
                <a16:creationId xmlns:a16="http://schemas.microsoft.com/office/drawing/2014/main" id="{7BB7BC0D-340C-43CF-B10D-21555126DA62}"/>
              </a:ext>
            </a:extLst>
          </p:cNvPr>
          <p:cNvCxnSpPr>
            <a:cxnSpLocks/>
            <a:stCxn id="5" idx="2"/>
            <a:endCxn id="43" idx="1"/>
          </p:cNvCxnSpPr>
          <p:nvPr/>
        </p:nvCxnSpPr>
        <p:spPr>
          <a:xfrm rot="16200000" flipH="1">
            <a:off x="3679077" y="2895914"/>
            <a:ext cx="657982" cy="1030470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57FDBFDE-E5FE-4CDC-A909-BBCAE9B94ACC}"/>
              </a:ext>
            </a:extLst>
          </p:cNvPr>
          <p:cNvSpPr/>
          <p:nvPr/>
        </p:nvSpPr>
        <p:spPr>
          <a:xfrm>
            <a:off x="3421395" y="2939282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à coins arrondis 128">
            <a:extLst>
              <a:ext uri="{FF2B5EF4-FFF2-40B4-BE49-F238E27FC236}">
                <a16:creationId xmlns:a16="http://schemas.microsoft.com/office/drawing/2014/main" id="{ED643A65-0E9A-427D-B6AB-762FA55D0814}"/>
              </a:ext>
            </a:extLst>
          </p:cNvPr>
          <p:cNvSpPr/>
          <p:nvPr/>
        </p:nvSpPr>
        <p:spPr>
          <a:xfrm>
            <a:off x="4523303" y="3561545"/>
            <a:ext cx="1767488" cy="357190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"</a:t>
            </a:r>
            <a:r>
              <a:rPr lang="fr-FR" sz="1100" i="1" dirty="0" err="1">
                <a:solidFill>
                  <a:prstClr val="black"/>
                </a:solidFill>
                <a:latin typeface="Century Gothic" pitchFamily="34" charset="0"/>
              </a:rPr>
              <a:t>Archived</a:t>
            </a:r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" or "In Progress" or "</a:t>
            </a:r>
            <a:r>
              <a:rPr lang="fr-FR" sz="1100" i="1" dirty="0" err="1">
                <a:solidFill>
                  <a:prstClr val="black"/>
                </a:solidFill>
                <a:latin typeface="Century Gothic" pitchFamily="34" charset="0"/>
              </a:rPr>
              <a:t>Triggered</a:t>
            </a:r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"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41CDA3A0-0B90-4C35-9C18-2B86687D0827}"/>
              </a:ext>
            </a:extLst>
          </p:cNvPr>
          <p:cNvSpPr txBox="1"/>
          <p:nvPr/>
        </p:nvSpPr>
        <p:spPr>
          <a:xfrm>
            <a:off x="3472101" y="3303298"/>
            <a:ext cx="2179228" cy="430887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schema:creative</a:t>
            </a:r>
            <a:endParaRPr lang="fr-FR" sz="1100" dirty="0">
              <a:latin typeface="Century Gothic" pitchFamily="34" charset="0"/>
            </a:endParaRPr>
          </a:p>
          <a:p>
            <a:r>
              <a:rPr lang="fr-FR" sz="1100" dirty="0" err="1">
                <a:latin typeface="Century Gothic" pitchFamily="34" charset="0"/>
              </a:rPr>
              <a:t>WorkStatus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52" name="Rectangle à coins arrondis 45">
            <a:extLst>
              <a:ext uri="{FF2B5EF4-FFF2-40B4-BE49-F238E27FC236}">
                <a16:creationId xmlns:a16="http://schemas.microsoft.com/office/drawing/2014/main" id="{0C2F0773-C8B0-4E3C-B119-DAFD70865155}"/>
              </a:ext>
            </a:extLst>
          </p:cNvPr>
          <p:cNvSpPr/>
          <p:nvPr/>
        </p:nvSpPr>
        <p:spPr>
          <a:xfrm>
            <a:off x="1669574" y="5013176"/>
            <a:ext cx="2786082" cy="357190"/>
          </a:xfrm>
          <a:prstGeom prst="roundRect">
            <a:avLst>
              <a:gd name="adj" fmla="val 22142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100" b="1" i="1" dirty="0">
                <a:solidFill>
                  <a:schemeClr val="tx1"/>
                </a:solidFill>
                <a:latin typeface="Century Gothic" pitchFamily="34" charset="0"/>
              </a:rPr>
              <a:t>_:</a:t>
            </a:r>
            <a:r>
              <a:rPr lang="fr-FR" sz="1100" b="1" i="1" dirty="0" err="1">
                <a:solidFill>
                  <a:schemeClr val="tx1"/>
                </a:solidFill>
                <a:latin typeface="Century Gothic" pitchFamily="34" charset="0"/>
              </a:rPr>
              <a:t>blank</a:t>
            </a:r>
            <a:r>
              <a:rPr lang="fr-FR" sz="1100" b="1" i="1" dirty="0">
                <a:solidFill>
                  <a:schemeClr val="tx1"/>
                </a:solidFill>
                <a:latin typeface="Century Gothic" pitchFamily="34" charset="0"/>
              </a:rPr>
              <a:t> </a:t>
            </a:r>
            <a:r>
              <a:rPr lang="fr-FR" sz="1100" b="1" i="1" dirty="0" err="1">
                <a:solidFill>
                  <a:schemeClr val="tx1"/>
                </a:solidFill>
                <a:latin typeface="Century Gothic" pitchFamily="34" charset="0"/>
              </a:rPr>
              <a:t>node</a:t>
            </a:r>
            <a:r>
              <a:rPr lang="fr-FR" sz="1100" b="1" i="1" dirty="0">
                <a:solidFill>
                  <a:schemeClr val="tx1"/>
                </a:solidFill>
                <a:latin typeface="Century Gothic" pitchFamily="34" charset="0"/>
              </a:rPr>
              <a:t> : </a:t>
            </a:r>
            <a:r>
              <a:rPr lang="fr-FR" sz="1050" dirty="0">
                <a:solidFill>
                  <a:prstClr val="black"/>
                </a:solidFill>
                <a:latin typeface="Century Gothic" pitchFamily="34" charset="0"/>
              </a:rPr>
              <a:t>no class</a:t>
            </a:r>
          </a:p>
          <a:p>
            <a:pPr algn="ctr"/>
            <a:endParaRPr lang="en-US" sz="12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sp>
        <p:nvSpPr>
          <p:cNvPr id="53" name="Rectangle à coins arrondis 128">
            <a:extLst>
              <a:ext uri="{FF2B5EF4-FFF2-40B4-BE49-F238E27FC236}">
                <a16:creationId xmlns:a16="http://schemas.microsoft.com/office/drawing/2014/main" id="{A09E4D67-6DD7-41D0-ACB4-005EA6B78B15}"/>
              </a:ext>
            </a:extLst>
          </p:cNvPr>
          <p:cNvSpPr/>
          <p:nvPr/>
        </p:nvSpPr>
        <p:spPr>
          <a:xfrm>
            <a:off x="4451617" y="5559096"/>
            <a:ext cx="1839876" cy="357190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"</a:t>
            </a:r>
            <a:r>
              <a:rPr lang="fr-FR" sz="1100" i="1" dirty="0" err="1">
                <a:solidFill>
                  <a:prstClr val="black"/>
                </a:solidFill>
                <a:latin typeface="Century Gothic" pitchFamily="34" charset="0"/>
              </a:rPr>
              <a:t>Title</a:t>
            </a:r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, as </a:t>
            </a:r>
            <a:r>
              <a:rPr lang="fr-FR" sz="1100" i="1" dirty="0" err="1">
                <a:solidFill>
                  <a:prstClr val="black"/>
                </a:solidFill>
                <a:latin typeface="Century Gothic" pitchFamily="34" charset="0"/>
              </a:rPr>
              <a:t>provided</a:t>
            </a:r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 by </a:t>
            </a:r>
            <a:r>
              <a:rPr lang="fr-FR" sz="1100" i="1" dirty="0" err="1">
                <a:solidFill>
                  <a:prstClr val="black"/>
                </a:solidFill>
                <a:latin typeface="Century Gothic" pitchFamily="34" charset="0"/>
              </a:rPr>
              <a:t>keeper</a:t>
            </a:r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 </a:t>
            </a:r>
            <a:r>
              <a:rPr lang="fr-FR" sz="1100" i="1" dirty="0" err="1">
                <a:solidFill>
                  <a:prstClr val="black"/>
                </a:solidFill>
                <a:latin typeface="Century Gothic" pitchFamily="34" charset="0"/>
              </a:rPr>
              <a:t>agency</a:t>
            </a:r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"</a:t>
            </a:r>
          </a:p>
        </p:txBody>
      </p:sp>
      <p:sp>
        <p:nvSpPr>
          <p:cNvPr id="54" name="Rectangle à coins arrondis 128">
            <a:extLst>
              <a:ext uri="{FF2B5EF4-FFF2-40B4-BE49-F238E27FC236}">
                <a16:creationId xmlns:a16="http://schemas.microsoft.com/office/drawing/2014/main" id="{E5655FCA-93CE-4DA3-887E-FEF8B1C13B12}"/>
              </a:ext>
            </a:extLst>
          </p:cNvPr>
          <p:cNvSpPr/>
          <p:nvPr/>
        </p:nvSpPr>
        <p:spPr>
          <a:xfrm>
            <a:off x="4523303" y="6071558"/>
            <a:ext cx="2179228" cy="357190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"Publisher </a:t>
            </a:r>
            <a:r>
              <a:rPr lang="fr-FR" sz="1100" i="1" dirty="0" err="1">
                <a:solidFill>
                  <a:prstClr val="black"/>
                </a:solidFill>
                <a:latin typeface="Century Gothic" pitchFamily="34" charset="0"/>
              </a:rPr>
              <a:t>name</a:t>
            </a:r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, as </a:t>
            </a:r>
            <a:r>
              <a:rPr lang="fr-FR" sz="1100" i="1" dirty="0" err="1">
                <a:solidFill>
                  <a:prstClr val="black"/>
                </a:solidFill>
                <a:latin typeface="Century Gothic" pitchFamily="34" charset="0"/>
              </a:rPr>
              <a:t>provided</a:t>
            </a:r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 by </a:t>
            </a:r>
            <a:r>
              <a:rPr lang="fr-FR" sz="1100" i="1" dirty="0" err="1">
                <a:solidFill>
                  <a:prstClr val="black"/>
                </a:solidFill>
                <a:latin typeface="Century Gothic" pitchFamily="34" charset="0"/>
              </a:rPr>
              <a:t>keeper</a:t>
            </a:r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 </a:t>
            </a:r>
            <a:r>
              <a:rPr lang="fr-FR" sz="1100" i="1" dirty="0" err="1">
                <a:solidFill>
                  <a:prstClr val="black"/>
                </a:solidFill>
                <a:latin typeface="Century Gothic" pitchFamily="34" charset="0"/>
              </a:rPr>
              <a:t>agency</a:t>
            </a:r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"</a:t>
            </a:r>
          </a:p>
        </p:txBody>
      </p:sp>
      <p:sp>
        <p:nvSpPr>
          <p:cNvPr id="55" name="Rectangle à coins arrondis 128">
            <a:extLst>
              <a:ext uri="{FF2B5EF4-FFF2-40B4-BE49-F238E27FC236}">
                <a16:creationId xmlns:a16="http://schemas.microsoft.com/office/drawing/2014/main" id="{BA05358F-56DC-467E-9A55-A3F3B49951B3}"/>
              </a:ext>
            </a:extLst>
          </p:cNvPr>
          <p:cNvSpPr/>
          <p:nvPr/>
        </p:nvSpPr>
        <p:spPr>
          <a:xfrm>
            <a:off x="43672" y="6056913"/>
            <a:ext cx="1839876" cy="357190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/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"ISSN, as </a:t>
            </a:r>
            <a:r>
              <a:rPr lang="fr-FR" sz="1100" i="1" dirty="0" err="1">
                <a:solidFill>
                  <a:prstClr val="black"/>
                </a:solidFill>
                <a:latin typeface="Century Gothic" pitchFamily="34" charset="0"/>
              </a:rPr>
              <a:t>provided</a:t>
            </a:r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 by </a:t>
            </a:r>
            <a:r>
              <a:rPr lang="fr-FR" sz="1100" i="1" dirty="0" err="1">
                <a:solidFill>
                  <a:prstClr val="black"/>
                </a:solidFill>
                <a:latin typeface="Century Gothic" pitchFamily="34" charset="0"/>
              </a:rPr>
              <a:t>keeper</a:t>
            </a:r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 </a:t>
            </a:r>
            <a:r>
              <a:rPr lang="fr-FR" sz="1100" i="1" dirty="0" err="1">
                <a:solidFill>
                  <a:prstClr val="black"/>
                </a:solidFill>
                <a:latin typeface="Century Gothic" pitchFamily="34" charset="0"/>
              </a:rPr>
              <a:t>agency</a:t>
            </a:r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"</a:t>
            </a:r>
          </a:p>
        </p:txBody>
      </p:sp>
      <p:cxnSp>
        <p:nvCxnSpPr>
          <p:cNvPr id="56" name="Forme 69">
            <a:extLst>
              <a:ext uri="{FF2B5EF4-FFF2-40B4-BE49-F238E27FC236}">
                <a16:creationId xmlns:a16="http://schemas.microsoft.com/office/drawing/2014/main" id="{4C4BCA95-4EDC-451F-9581-AB9F6F37476B}"/>
              </a:ext>
            </a:extLst>
          </p:cNvPr>
          <p:cNvCxnSpPr>
            <a:cxnSpLocks/>
            <a:stCxn id="52" idx="2"/>
            <a:endCxn id="55" idx="3"/>
          </p:cNvCxnSpPr>
          <p:nvPr/>
        </p:nvCxnSpPr>
        <p:spPr>
          <a:xfrm rot="5400000">
            <a:off x="2040511" y="5213404"/>
            <a:ext cx="865142" cy="1179067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Forme 69">
            <a:extLst>
              <a:ext uri="{FF2B5EF4-FFF2-40B4-BE49-F238E27FC236}">
                <a16:creationId xmlns:a16="http://schemas.microsoft.com/office/drawing/2014/main" id="{CF68DEBC-E2E8-4D78-917C-882BE8903917}"/>
              </a:ext>
            </a:extLst>
          </p:cNvPr>
          <p:cNvCxnSpPr>
            <a:cxnSpLocks/>
            <a:stCxn id="52" idx="2"/>
            <a:endCxn id="53" idx="1"/>
          </p:cNvCxnSpPr>
          <p:nvPr/>
        </p:nvCxnSpPr>
        <p:spPr>
          <a:xfrm rot="16200000" flipH="1">
            <a:off x="3573454" y="4859527"/>
            <a:ext cx="367325" cy="1389002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Forme 69">
            <a:extLst>
              <a:ext uri="{FF2B5EF4-FFF2-40B4-BE49-F238E27FC236}">
                <a16:creationId xmlns:a16="http://schemas.microsoft.com/office/drawing/2014/main" id="{9BEBCEBA-795F-4304-8CFD-461C0EBEAD0A}"/>
              </a:ext>
            </a:extLst>
          </p:cNvPr>
          <p:cNvCxnSpPr>
            <a:cxnSpLocks/>
            <a:stCxn id="52" idx="2"/>
            <a:endCxn id="54" idx="1"/>
          </p:cNvCxnSpPr>
          <p:nvPr/>
        </p:nvCxnSpPr>
        <p:spPr>
          <a:xfrm rot="16200000" flipH="1">
            <a:off x="3353066" y="5079915"/>
            <a:ext cx="879787" cy="1460688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BB15D4F4-D70E-4555-876A-8514F762050C}"/>
              </a:ext>
            </a:extLst>
          </p:cNvPr>
          <p:cNvSpPr/>
          <p:nvPr/>
        </p:nvSpPr>
        <p:spPr>
          <a:xfrm>
            <a:off x="2798065" y="5227489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à coins arrondis 128">
            <a:extLst>
              <a:ext uri="{FF2B5EF4-FFF2-40B4-BE49-F238E27FC236}">
                <a16:creationId xmlns:a16="http://schemas.microsoft.com/office/drawing/2014/main" id="{3A3A20F8-123E-4F10-A377-98C6B81148B0}"/>
              </a:ext>
            </a:extLst>
          </p:cNvPr>
          <p:cNvSpPr/>
          <p:nvPr/>
        </p:nvSpPr>
        <p:spPr>
          <a:xfrm>
            <a:off x="648976" y="3373237"/>
            <a:ext cx="1767488" cy="357190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/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"</a:t>
            </a:r>
            <a:r>
              <a:rPr lang="fr-FR" sz="1100" i="1" dirty="0" err="1">
                <a:solidFill>
                  <a:prstClr val="black"/>
                </a:solidFill>
                <a:latin typeface="Century Gothic" pitchFamily="34" charset="0"/>
              </a:rPr>
              <a:t>begin</a:t>
            </a:r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 </a:t>
            </a:r>
            <a:r>
              <a:rPr lang="fr-FR" sz="1100" i="1" dirty="0" err="1">
                <a:solidFill>
                  <a:prstClr val="black"/>
                </a:solidFill>
                <a:latin typeface="Century Gothic" pitchFamily="34" charset="0"/>
              </a:rPr>
              <a:t>year</a:t>
            </a:r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/end </a:t>
            </a:r>
            <a:r>
              <a:rPr lang="fr-FR" sz="1100" i="1" dirty="0" err="1">
                <a:solidFill>
                  <a:prstClr val="black"/>
                </a:solidFill>
                <a:latin typeface="Century Gothic" pitchFamily="34" charset="0"/>
              </a:rPr>
              <a:t>year</a:t>
            </a:r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"</a:t>
            </a:r>
          </a:p>
        </p:txBody>
      </p:sp>
      <p:cxnSp>
        <p:nvCxnSpPr>
          <p:cNvPr id="68" name="Forme 69">
            <a:extLst>
              <a:ext uri="{FF2B5EF4-FFF2-40B4-BE49-F238E27FC236}">
                <a16:creationId xmlns:a16="http://schemas.microsoft.com/office/drawing/2014/main" id="{B2ACA146-8843-4FD5-85EB-22BC26E1CA01}"/>
              </a:ext>
            </a:extLst>
          </p:cNvPr>
          <p:cNvCxnSpPr>
            <a:cxnSpLocks/>
            <a:stCxn id="8" idx="1"/>
            <a:endCxn id="67" idx="0"/>
          </p:cNvCxnSpPr>
          <p:nvPr/>
        </p:nvCxnSpPr>
        <p:spPr>
          <a:xfrm rot="10800000" flipV="1">
            <a:off x="1532720" y="2780377"/>
            <a:ext cx="136854" cy="592860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7753C178-4FBA-43F9-B147-F9B79280E081}"/>
              </a:ext>
            </a:extLst>
          </p:cNvPr>
          <p:cNvSpPr/>
          <p:nvPr/>
        </p:nvSpPr>
        <p:spPr>
          <a:xfrm>
            <a:off x="2589032" y="2931267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à coins arrondis 128">
            <a:extLst>
              <a:ext uri="{FF2B5EF4-FFF2-40B4-BE49-F238E27FC236}">
                <a16:creationId xmlns:a16="http://schemas.microsoft.com/office/drawing/2014/main" id="{48BF9A2B-F0E8-4F8A-B86F-E937E090D52E}"/>
              </a:ext>
            </a:extLst>
          </p:cNvPr>
          <p:cNvSpPr/>
          <p:nvPr/>
        </p:nvSpPr>
        <p:spPr>
          <a:xfrm>
            <a:off x="33828" y="4109866"/>
            <a:ext cx="1767488" cy="357190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r"/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"last update date"</a:t>
            </a:r>
          </a:p>
        </p:txBody>
      </p:sp>
      <p:cxnSp>
        <p:nvCxnSpPr>
          <p:cNvPr id="78" name="Forme 69">
            <a:extLst>
              <a:ext uri="{FF2B5EF4-FFF2-40B4-BE49-F238E27FC236}">
                <a16:creationId xmlns:a16="http://schemas.microsoft.com/office/drawing/2014/main" id="{872B9B42-48A4-451F-A4AC-599F47BAD15B}"/>
              </a:ext>
            </a:extLst>
          </p:cNvPr>
          <p:cNvCxnSpPr>
            <a:cxnSpLocks/>
            <a:stCxn id="73" idx="2"/>
            <a:endCxn id="77" idx="3"/>
          </p:cNvCxnSpPr>
          <p:nvPr/>
        </p:nvCxnSpPr>
        <p:spPr>
          <a:xfrm rot="5400000">
            <a:off x="1623734" y="3251725"/>
            <a:ext cx="1214318" cy="859154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à coins arrondis 128">
            <a:extLst>
              <a:ext uri="{FF2B5EF4-FFF2-40B4-BE49-F238E27FC236}">
                <a16:creationId xmlns:a16="http://schemas.microsoft.com/office/drawing/2014/main" id="{FE40359C-2E2E-496A-B088-21E92516DFF2}"/>
              </a:ext>
            </a:extLst>
          </p:cNvPr>
          <p:cNvSpPr/>
          <p:nvPr/>
        </p:nvSpPr>
        <p:spPr>
          <a:xfrm>
            <a:off x="4523303" y="3989718"/>
            <a:ext cx="1767488" cy="357190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100" i="1">
                <a:solidFill>
                  <a:prstClr val="black"/>
                </a:solidFill>
                <a:latin typeface="Century Gothic" pitchFamily="34" charset="0"/>
              </a:rPr>
              <a:t>"Extent of archive (full)"</a:t>
            </a:r>
            <a:endParaRPr lang="fr-FR" sz="1100" i="1" dirty="0">
              <a:solidFill>
                <a:prstClr val="black"/>
              </a:solidFill>
              <a:latin typeface="Century Gothic" pitchFamily="34" charset="0"/>
            </a:endParaRPr>
          </a:p>
        </p:txBody>
      </p:sp>
      <p:sp>
        <p:nvSpPr>
          <p:cNvPr id="82" name="Rectangle à coins arrondis 128">
            <a:extLst>
              <a:ext uri="{FF2B5EF4-FFF2-40B4-BE49-F238E27FC236}">
                <a16:creationId xmlns:a16="http://schemas.microsoft.com/office/drawing/2014/main" id="{F9E71A2B-39FE-4963-AF15-E8E21F2D0689}"/>
              </a:ext>
            </a:extLst>
          </p:cNvPr>
          <p:cNvSpPr/>
          <p:nvPr/>
        </p:nvSpPr>
        <p:spPr>
          <a:xfrm>
            <a:off x="4572000" y="4384987"/>
            <a:ext cx="2031885" cy="357190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"</a:t>
            </a:r>
            <a:r>
              <a:rPr lang="fr-FR" sz="1100" i="1" dirty="0" err="1">
                <a:solidFill>
                  <a:prstClr val="black"/>
                </a:solidFill>
                <a:latin typeface="Century Gothic" pitchFamily="34" charset="0"/>
              </a:rPr>
              <a:t>Extent</a:t>
            </a:r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 of archive (short)"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D5F2CAD3-A531-4AFA-AE08-2767AB231125}"/>
              </a:ext>
            </a:extLst>
          </p:cNvPr>
          <p:cNvSpPr txBox="1"/>
          <p:nvPr/>
        </p:nvSpPr>
        <p:spPr>
          <a:xfrm>
            <a:off x="883387" y="5887924"/>
            <a:ext cx="217922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/>
            <a:r>
              <a:rPr lang="fr-FR" sz="1100" dirty="0" err="1">
                <a:latin typeface="Century Gothic" pitchFamily="34" charset="0"/>
              </a:rPr>
              <a:t>schema:issn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0A801A59-AB8B-4388-8524-D19B1FA5C3C3}"/>
              </a:ext>
            </a:extLst>
          </p:cNvPr>
          <p:cNvSpPr txBox="1"/>
          <p:nvPr/>
        </p:nvSpPr>
        <p:spPr>
          <a:xfrm>
            <a:off x="3086253" y="5423571"/>
            <a:ext cx="217922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schema:name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89" name="ZoneTexte 88">
            <a:extLst>
              <a:ext uri="{FF2B5EF4-FFF2-40B4-BE49-F238E27FC236}">
                <a16:creationId xmlns:a16="http://schemas.microsoft.com/office/drawing/2014/main" id="{D632E1A3-5C13-4181-969F-5DB1320E1F18}"/>
              </a:ext>
            </a:extLst>
          </p:cNvPr>
          <p:cNvSpPr txBox="1"/>
          <p:nvPr/>
        </p:nvSpPr>
        <p:spPr>
          <a:xfrm>
            <a:off x="3086253" y="5927627"/>
            <a:ext cx="217922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schema:publisher</a:t>
            </a:r>
            <a:endParaRPr lang="en-US" sz="1100" dirty="0">
              <a:latin typeface="Century Gothic" pitchFamily="34" charset="0"/>
            </a:endParaRPr>
          </a:p>
        </p:txBody>
      </p:sp>
      <p:cxnSp>
        <p:nvCxnSpPr>
          <p:cNvPr id="91" name="Forme 69">
            <a:extLst>
              <a:ext uri="{FF2B5EF4-FFF2-40B4-BE49-F238E27FC236}">
                <a16:creationId xmlns:a16="http://schemas.microsoft.com/office/drawing/2014/main" id="{23FFB5E9-5508-4B16-90E1-E43F46B0EE82}"/>
              </a:ext>
            </a:extLst>
          </p:cNvPr>
          <p:cNvCxnSpPr>
            <a:cxnSpLocks/>
            <a:stCxn id="5" idx="2"/>
            <a:endCxn id="81" idx="1"/>
          </p:cNvCxnSpPr>
          <p:nvPr/>
        </p:nvCxnSpPr>
        <p:spPr>
          <a:xfrm rot="16200000" flipH="1">
            <a:off x="3464991" y="3110000"/>
            <a:ext cx="1086155" cy="1030470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Forme 69">
            <a:extLst>
              <a:ext uri="{FF2B5EF4-FFF2-40B4-BE49-F238E27FC236}">
                <a16:creationId xmlns:a16="http://schemas.microsoft.com/office/drawing/2014/main" id="{644406D6-2772-4DED-80C4-7403E698D886}"/>
              </a:ext>
            </a:extLst>
          </p:cNvPr>
          <p:cNvCxnSpPr>
            <a:cxnSpLocks/>
            <a:stCxn id="5" idx="2"/>
            <a:endCxn id="82" idx="1"/>
          </p:cNvCxnSpPr>
          <p:nvPr/>
        </p:nvCxnSpPr>
        <p:spPr>
          <a:xfrm rot="16200000" flipH="1">
            <a:off x="3291704" y="3283286"/>
            <a:ext cx="1481424" cy="1079167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ZoneTexte 96">
            <a:extLst>
              <a:ext uri="{FF2B5EF4-FFF2-40B4-BE49-F238E27FC236}">
                <a16:creationId xmlns:a16="http://schemas.microsoft.com/office/drawing/2014/main" id="{731A47B3-56B2-450F-AE56-E17EC1BBEBC8}"/>
              </a:ext>
            </a:extLst>
          </p:cNvPr>
          <p:cNvSpPr txBox="1"/>
          <p:nvPr/>
        </p:nvSpPr>
        <p:spPr>
          <a:xfrm>
            <a:off x="405690" y="3038651"/>
            <a:ext cx="217922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 err="1">
                <a:latin typeface="Century Gothic" pitchFamily="34" charset="0"/>
              </a:rPr>
              <a:t>schema:temporalCoverage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F50BFF0E-D9E8-415C-AACC-09F61162CF32}"/>
              </a:ext>
            </a:extLst>
          </p:cNvPr>
          <p:cNvSpPr txBox="1"/>
          <p:nvPr/>
        </p:nvSpPr>
        <p:spPr>
          <a:xfrm>
            <a:off x="501426" y="3856270"/>
            <a:ext cx="217922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/>
            <a:r>
              <a:rPr lang="fr-FR" sz="1100" dirty="0" err="1">
                <a:latin typeface="Century Gothic" pitchFamily="34" charset="0"/>
              </a:rPr>
              <a:t>schema:dateModified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BE2B6FF-06D9-4F07-A097-A2EDDDA06476}"/>
              </a:ext>
            </a:extLst>
          </p:cNvPr>
          <p:cNvSpPr/>
          <p:nvPr/>
        </p:nvSpPr>
        <p:spPr>
          <a:xfrm>
            <a:off x="1662907" y="2693402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5" name="Forme 69">
            <a:extLst>
              <a:ext uri="{FF2B5EF4-FFF2-40B4-BE49-F238E27FC236}">
                <a16:creationId xmlns:a16="http://schemas.microsoft.com/office/drawing/2014/main" id="{A0C8663B-FF83-4344-8940-A49A79786E6D}"/>
              </a:ext>
            </a:extLst>
          </p:cNvPr>
          <p:cNvCxnSpPr>
            <a:cxnSpLocks/>
            <a:stCxn id="8" idx="2"/>
            <a:endCxn id="52" idx="0"/>
          </p:cNvCxnSpPr>
          <p:nvPr/>
        </p:nvCxnSpPr>
        <p:spPr>
          <a:xfrm rot="5400000">
            <a:off x="2089092" y="4039652"/>
            <a:ext cx="1947047" cy="1270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ZoneTexte 107">
            <a:extLst>
              <a:ext uri="{FF2B5EF4-FFF2-40B4-BE49-F238E27FC236}">
                <a16:creationId xmlns:a16="http://schemas.microsoft.com/office/drawing/2014/main" id="{E7060A2D-40E6-4C84-BD56-274099C160AD}"/>
              </a:ext>
            </a:extLst>
          </p:cNvPr>
          <p:cNvSpPr txBox="1"/>
          <p:nvPr/>
        </p:nvSpPr>
        <p:spPr>
          <a:xfrm rot="16200000">
            <a:off x="2127444" y="4120748"/>
            <a:ext cx="217922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r"/>
            <a:r>
              <a:rPr lang="fr-FR" sz="1100" dirty="0" err="1">
                <a:latin typeface="Century Gothic" pitchFamily="34" charset="0"/>
              </a:rPr>
              <a:t>schema:mainEntity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25E69715-5F34-4D60-8DF8-CC50974188B1}"/>
              </a:ext>
            </a:extLst>
          </p:cNvPr>
          <p:cNvSpPr txBox="1"/>
          <p:nvPr/>
        </p:nvSpPr>
        <p:spPr>
          <a:xfrm>
            <a:off x="3506734" y="3839485"/>
            <a:ext cx="217922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schema:description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23" name="ZoneTexte 122">
            <a:extLst>
              <a:ext uri="{FF2B5EF4-FFF2-40B4-BE49-F238E27FC236}">
                <a16:creationId xmlns:a16="http://schemas.microsoft.com/office/drawing/2014/main" id="{528AFAAC-3880-4488-8A64-918F09B372A3}"/>
              </a:ext>
            </a:extLst>
          </p:cNvPr>
          <p:cNvSpPr txBox="1"/>
          <p:nvPr/>
        </p:nvSpPr>
        <p:spPr>
          <a:xfrm>
            <a:off x="3514735" y="4238252"/>
            <a:ext cx="217922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schema:abstract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32" name="Rectangle à coins arrondis 1">
            <a:extLst>
              <a:ext uri="{FF2B5EF4-FFF2-40B4-BE49-F238E27FC236}">
                <a16:creationId xmlns:a16="http://schemas.microsoft.com/office/drawing/2014/main" id="{79A0F1D0-DA8D-47DF-BCEB-51B50541799E}"/>
              </a:ext>
            </a:extLst>
          </p:cNvPr>
          <p:cNvSpPr/>
          <p:nvPr/>
        </p:nvSpPr>
        <p:spPr>
          <a:xfrm>
            <a:off x="1662907" y="581662"/>
            <a:ext cx="2772156" cy="785818"/>
          </a:xfrm>
          <a:prstGeom prst="roundRect">
            <a:avLst>
              <a:gd name="adj" fmla="val 26908"/>
            </a:avLst>
          </a:prstGeom>
          <a:solidFill>
            <a:srgbClr val="F5E4E3"/>
          </a:solidFill>
          <a:ln w="222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fr-FR" sz="1050" b="1" dirty="0">
                <a:solidFill>
                  <a:schemeClr val="tx1"/>
                </a:solidFill>
                <a:latin typeface="Century Gothic" pitchFamily="34" charset="0"/>
              </a:rPr>
              <a:t>http://issn.org/resource/ISSN/</a:t>
            </a:r>
            <a:r>
              <a:rPr lang="fr-FR" sz="1200" b="1" dirty="0">
                <a:solidFill>
                  <a:schemeClr val="tx1"/>
                </a:solidFill>
                <a:latin typeface="Century Gothic" pitchFamily="34" charset="0"/>
              </a:rPr>
              <a:t>{ISSN} :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bf:Work</a:t>
            </a:r>
            <a:r>
              <a:rPr lang="fr-FR" sz="1050" dirty="0">
                <a:solidFill>
                  <a:prstClr val="black"/>
                </a:solidFill>
                <a:latin typeface="Century Gothic" pitchFamily="34" charset="0"/>
              </a:rPr>
              <a:t>,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bf:Instance</a:t>
            </a:r>
            <a:r>
              <a:rPr lang="fr-FR" sz="1050" dirty="0">
                <a:solidFill>
                  <a:prstClr val="black"/>
                </a:solidFill>
                <a:latin typeface="Century Gothic" pitchFamily="34" charset="0"/>
              </a:rPr>
              <a:t>,  </a:t>
            </a:r>
            <a:r>
              <a:rPr lang="fr-FR" sz="1050" dirty="0" err="1">
                <a:solidFill>
                  <a:prstClr val="black"/>
                </a:solidFill>
                <a:latin typeface="Century Gothic" pitchFamily="34" charset="0"/>
              </a:rPr>
              <a:t>schema:Periodical</a:t>
            </a:r>
            <a:endParaRPr lang="en-US" sz="12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7EBC505-8939-4BB1-A338-48B730E55B1D}"/>
              </a:ext>
            </a:extLst>
          </p:cNvPr>
          <p:cNvSpPr txBox="1"/>
          <p:nvPr/>
        </p:nvSpPr>
        <p:spPr>
          <a:xfrm>
            <a:off x="540201" y="648440"/>
            <a:ext cx="1071570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 err="1">
                <a:latin typeface="Century Gothic" pitchFamily="34" charset="0"/>
              </a:rPr>
              <a:t>dc:format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EAE3EAC9-58B8-4DD6-BF23-0F6585CA644B}"/>
              </a:ext>
            </a:extLst>
          </p:cNvPr>
          <p:cNvSpPr txBox="1"/>
          <p:nvPr/>
        </p:nvSpPr>
        <p:spPr>
          <a:xfrm>
            <a:off x="17330" y="1635165"/>
            <a:ext cx="26918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5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http://issn.org/vocabularies/Medium#Online (</a:t>
            </a:r>
            <a:r>
              <a:rPr lang="fr-FR" sz="105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most</a:t>
            </a:r>
            <a:r>
              <a:rPr lang="fr-FR" sz="105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of the time)</a:t>
            </a:r>
            <a:r>
              <a:rPr lang="fr-FR" sz="1050" dirty="0"/>
              <a:t> </a:t>
            </a:r>
          </a:p>
        </p:txBody>
      </p:sp>
      <p:cxnSp>
        <p:nvCxnSpPr>
          <p:cNvPr id="140" name="Forme 69">
            <a:extLst>
              <a:ext uri="{FF2B5EF4-FFF2-40B4-BE49-F238E27FC236}">
                <a16:creationId xmlns:a16="http://schemas.microsoft.com/office/drawing/2014/main" id="{2A138DC0-9F2E-4339-971C-E57A7803A774}"/>
              </a:ext>
            </a:extLst>
          </p:cNvPr>
          <p:cNvCxnSpPr>
            <a:cxnSpLocks/>
            <a:stCxn id="132" idx="1"/>
            <a:endCxn id="139" idx="0"/>
          </p:cNvCxnSpPr>
          <p:nvPr/>
        </p:nvCxnSpPr>
        <p:spPr>
          <a:xfrm rot="10800000" flipV="1">
            <a:off x="1363271" y="974571"/>
            <a:ext cx="299637" cy="660594"/>
          </a:xfrm>
          <a:prstGeom prst="bentConnector2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ccolade fermante 2">
            <a:extLst>
              <a:ext uri="{FF2B5EF4-FFF2-40B4-BE49-F238E27FC236}">
                <a16:creationId xmlns:a16="http://schemas.microsoft.com/office/drawing/2014/main" id="{93F4920D-90C6-4A0C-B14B-0E711E316575}"/>
              </a:ext>
            </a:extLst>
          </p:cNvPr>
          <p:cNvSpPr/>
          <p:nvPr/>
        </p:nvSpPr>
        <p:spPr>
          <a:xfrm>
            <a:off x="6586053" y="4890118"/>
            <a:ext cx="486874" cy="1607021"/>
          </a:xfrm>
          <a:prstGeom prst="rightBrace">
            <a:avLst>
              <a:gd name="adj1" fmla="val 38625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FCA8211A-15C9-48D2-8BF6-EA4E883554EA}"/>
              </a:ext>
            </a:extLst>
          </p:cNvPr>
          <p:cNvSpPr txBox="1"/>
          <p:nvPr/>
        </p:nvSpPr>
        <p:spPr>
          <a:xfrm>
            <a:off x="7072927" y="5385099"/>
            <a:ext cx="2179228" cy="600164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>
                <a:latin typeface="Century Gothic" pitchFamily="34" charset="0"/>
              </a:rPr>
              <a:t>Original </a:t>
            </a:r>
            <a:r>
              <a:rPr lang="fr-FR" sz="1100" dirty="0" err="1">
                <a:latin typeface="Century Gothic" pitchFamily="34" charset="0"/>
              </a:rPr>
              <a:t>title</a:t>
            </a:r>
            <a:r>
              <a:rPr lang="fr-FR" sz="1100" dirty="0">
                <a:latin typeface="Century Gothic" pitchFamily="34" charset="0"/>
              </a:rPr>
              <a:t>, </a:t>
            </a:r>
            <a:r>
              <a:rPr lang="fr-FR" sz="1100" dirty="0" err="1">
                <a:latin typeface="Century Gothic" pitchFamily="34" charset="0"/>
              </a:rPr>
              <a:t>publisher</a:t>
            </a:r>
            <a:r>
              <a:rPr lang="fr-FR" sz="1100" dirty="0">
                <a:latin typeface="Century Gothic" pitchFamily="34" charset="0"/>
              </a:rPr>
              <a:t> and ISSN as </a:t>
            </a:r>
            <a:r>
              <a:rPr lang="fr-FR" sz="1100" dirty="0" err="1">
                <a:latin typeface="Century Gothic" pitchFamily="34" charset="0"/>
              </a:rPr>
              <a:t>they</a:t>
            </a:r>
            <a:r>
              <a:rPr lang="fr-FR" sz="1100" dirty="0">
                <a:latin typeface="Century Gothic" pitchFamily="34" charset="0"/>
              </a:rPr>
              <a:t> are </a:t>
            </a:r>
            <a:r>
              <a:rPr lang="fr-FR" sz="1100" dirty="0" err="1">
                <a:latin typeface="Century Gothic" pitchFamily="34" charset="0"/>
              </a:rPr>
              <a:t>provided</a:t>
            </a:r>
            <a:r>
              <a:rPr lang="fr-FR" sz="1100" dirty="0">
                <a:latin typeface="Century Gothic" pitchFamily="34" charset="0"/>
              </a:rPr>
              <a:t> by the </a:t>
            </a:r>
            <a:r>
              <a:rPr lang="fr-FR" sz="1100" dirty="0" err="1">
                <a:latin typeface="Century Gothic" pitchFamily="34" charset="0"/>
              </a:rPr>
              <a:t>Keeper</a:t>
            </a:r>
            <a:r>
              <a:rPr lang="fr-FR" sz="1100" dirty="0">
                <a:latin typeface="Century Gothic" pitchFamily="34" charset="0"/>
              </a:rPr>
              <a:t> Agency.</a:t>
            </a:r>
            <a:endParaRPr lang="en-US" sz="1100" dirty="0">
              <a:latin typeface="Century Gothic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3FBE622-7E37-40C0-BBD2-AA08457CDA6A}"/>
              </a:ext>
            </a:extLst>
          </p:cNvPr>
          <p:cNvSpPr/>
          <p:nvPr/>
        </p:nvSpPr>
        <p:spPr>
          <a:xfrm>
            <a:off x="4312781" y="2561125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6F63298-6E79-4C51-8B9C-E795D529F102}"/>
              </a:ext>
            </a:extLst>
          </p:cNvPr>
          <p:cNvSpPr/>
          <p:nvPr/>
        </p:nvSpPr>
        <p:spPr>
          <a:xfrm>
            <a:off x="4325480" y="2832124"/>
            <a:ext cx="142876" cy="142876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6" name="Forme 69">
            <a:extLst>
              <a:ext uri="{FF2B5EF4-FFF2-40B4-BE49-F238E27FC236}">
                <a16:creationId xmlns:a16="http://schemas.microsoft.com/office/drawing/2014/main" id="{78B97D5E-B84E-4E75-8884-22645743FFA6}"/>
              </a:ext>
            </a:extLst>
          </p:cNvPr>
          <p:cNvCxnSpPr>
            <a:cxnSpLocks/>
            <a:stCxn id="64" idx="3"/>
            <a:endCxn id="69" idx="1"/>
          </p:cNvCxnSpPr>
          <p:nvPr/>
        </p:nvCxnSpPr>
        <p:spPr>
          <a:xfrm>
            <a:off x="4468356" y="2903562"/>
            <a:ext cx="1146202" cy="1389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à coins arrondis 128">
            <a:extLst>
              <a:ext uri="{FF2B5EF4-FFF2-40B4-BE49-F238E27FC236}">
                <a16:creationId xmlns:a16="http://schemas.microsoft.com/office/drawing/2014/main" id="{474C46A8-065C-4AA0-A80F-B96AD0B1B878}"/>
              </a:ext>
            </a:extLst>
          </p:cNvPr>
          <p:cNvSpPr/>
          <p:nvPr/>
        </p:nvSpPr>
        <p:spPr>
          <a:xfrm>
            <a:off x="5614558" y="2738861"/>
            <a:ext cx="910399" cy="357190"/>
          </a:xfrm>
          <a:prstGeom prst="roundRect">
            <a:avLst>
              <a:gd name="adj" fmla="val 0"/>
            </a:avLst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fr-FR" sz="1100" i="1" dirty="0">
                <a:solidFill>
                  <a:prstClr val="black"/>
                </a:solidFill>
                <a:latin typeface="Century Gothic" pitchFamily="34" charset="0"/>
              </a:rPr>
              <a:t>"http://..."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BC9EF65D-6D15-43A5-93FD-C14C065C0E59}"/>
              </a:ext>
            </a:extLst>
          </p:cNvPr>
          <p:cNvSpPr txBox="1"/>
          <p:nvPr/>
        </p:nvSpPr>
        <p:spPr>
          <a:xfrm>
            <a:off x="4542904" y="2936559"/>
            <a:ext cx="1857388" cy="261610"/>
          </a:xfrm>
          <a:prstGeom prst="rect">
            <a:avLst/>
          </a:prstGeom>
          <a:ln>
            <a:noFill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fr-FR" sz="1100" dirty="0" err="1">
                <a:latin typeface="Century Gothic" pitchFamily="34" charset="0"/>
              </a:rPr>
              <a:t>schema:url</a:t>
            </a:r>
            <a:endParaRPr lang="en-US" sz="1100" dirty="0">
              <a:latin typeface="Century Gothic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06844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3218</TotalTime>
  <Words>1848</Words>
  <Application>Microsoft Office PowerPoint</Application>
  <PresentationFormat>Affichage à l'écran (4:3)</PresentationFormat>
  <Paragraphs>341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Century Gothic</vt:lpstr>
      <vt:lpstr>Consolas</vt:lpstr>
      <vt:lpstr>Thème Office</vt:lpstr>
      <vt:lpstr>ISSN Model diagrams V1_2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Sparna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Legend</dc:title>
  <dc:creator>Thomas Francart</dc:creator>
  <cp:lastModifiedBy>THOMAS FRANCART</cp:lastModifiedBy>
  <cp:revision>413</cp:revision>
  <cp:lastPrinted>2017-06-19T12:02:45Z</cp:lastPrinted>
  <dcterms:created xsi:type="dcterms:W3CDTF">2017-03-16T11:13:35Z</dcterms:created>
  <dcterms:modified xsi:type="dcterms:W3CDTF">2020-07-24T07:29:54Z</dcterms:modified>
</cp:coreProperties>
</file>