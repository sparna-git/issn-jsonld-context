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08788" cy="9940925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97" d="100"/>
          <a:sy n="97" d="100"/>
        </p:scale>
        <p:origin x="2004" y="78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84FEA9-9274-8261-836B-9B44101346CC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245FE4-189B-1A71-1044-3FF13C158DFF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ABD0EE-D285-39EC-9F23-944B28EC4632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30F4CE-A81C-4A15-49F7-1D31640E8C1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921AEC-069E-55AA-A90F-0000B74C994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D24037-B726-B09D-B49F-1A0C8AE7AC85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0EE9D8-EABC-BC1C-8E98-686098E98C30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89A753-B13E-727B-B827-30FBD0C00343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D573F-E964-FB95-78A0-0FE46DDC810D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EC3AE4-C8E4-D400-69ED-C6C470C5FAB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4A3AF41-5C0E-491A-8781-6BCB049997C4}" type="datetimeFigureOut">
              <a:rPr lang="en-US"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62540F-3811-41F2-B20A-B31F7865B183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ISSN Model </a:t>
            </a:r>
            <a:r>
              <a:rPr lang="en-US"/>
              <a:t>diagrams V2</a:t>
            </a:r>
            <a:endParaRPr lang="en-US"/>
          </a:p>
        </p:txBody>
      </p:sp>
      <p:sp>
        <p:nvSpPr>
          <p:cNvPr id="6" name="ZoneTexte 5"/>
          <p:cNvSpPr txBox="1"/>
          <p:nvPr/>
        </p:nvSpPr>
        <p:spPr bwMode="auto">
          <a:xfrm>
            <a:off x="3571868" y="1357298"/>
            <a:ext cx="457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A </a:t>
            </a:r>
            <a:r>
              <a:rPr lang="fr-FR" sz="1400">
                <a:latin typeface="Century Gothic"/>
              </a:rPr>
              <a:t>node</a:t>
            </a:r>
            <a:r>
              <a:rPr lang="fr-FR" sz="1400">
                <a:latin typeface="Century Gothic"/>
              </a:rPr>
              <a:t> in the data graph, </a:t>
            </a:r>
            <a:r>
              <a:rPr lang="fr-FR" sz="1400">
                <a:latin typeface="Century Gothic"/>
              </a:rPr>
              <a:t>with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its</a:t>
            </a:r>
            <a:r>
              <a:rPr lang="fr-FR" sz="1400">
                <a:latin typeface="Century Gothic"/>
              </a:rPr>
              <a:t> class (</a:t>
            </a:r>
            <a:r>
              <a:rPr lang="fr-FR" sz="1400">
                <a:latin typeface="Century Gothic"/>
              </a:rPr>
              <a:t>possibly</a:t>
            </a:r>
            <a:r>
              <a:rPr lang="fr-FR" sz="1400">
                <a:latin typeface="Century Gothic"/>
              </a:rPr>
              <a:t> multiple classes, </a:t>
            </a:r>
            <a:r>
              <a:rPr lang="fr-FR" sz="1400">
                <a:latin typeface="Century Gothic"/>
              </a:rPr>
              <a:t>separated</a:t>
            </a:r>
            <a:r>
              <a:rPr lang="fr-FR" sz="1400">
                <a:latin typeface="Century Gothic"/>
              </a:rPr>
              <a:t> by commas)</a:t>
            </a:r>
            <a:endParaRPr lang="en-US" sz="1400">
              <a:latin typeface="Century Gothic"/>
            </a:endParaRPr>
          </a:p>
        </p:txBody>
      </p:sp>
      <p:sp>
        <p:nvSpPr>
          <p:cNvPr id="17" name="ZoneTexte 16"/>
          <p:cNvSpPr txBox="1"/>
          <p:nvPr/>
        </p:nvSpPr>
        <p:spPr bwMode="auto">
          <a:xfrm>
            <a:off x="3571868" y="4967034"/>
            <a:ext cx="450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Object </a:t>
            </a:r>
            <a:r>
              <a:rPr lang="fr-FR" sz="1400">
                <a:latin typeface="Century Gothic"/>
              </a:rPr>
              <a:t>property</a:t>
            </a:r>
            <a:r>
              <a:rPr lang="fr-FR" sz="1400">
                <a:latin typeface="Century Gothic"/>
              </a:rPr>
              <a:t> (</a:t>
            </a:r>
            <a:r>
              <a:rPr lang="fr-FR" sz="1400">
                <a:latin typeface="Century Gothic"/>
              </a:rPr>
              <a:t>linking</a:t>
            </a:r>
            <a:r>
              <a:rPr lang="fr-FR" sz="1400">
                <a:latin typeface="Century Gothic"/>
              </a:rPr>
              <a:t> 2 </a:t>
            </a:r>
            <a:r>
              <a:rPr lang="fr-FR" sz="1400">
                <a:latin typeface="Century Gothic"/>
              </a:rPr>
              <a:t>resources</a:t>
            </a:r>
            <a:r>
              <a:rPr lang="fr-FR" sz="1400">
                <a:latin typeface="Century Gothic"/>
              </a:rPr>
              <a:t> in the graph)</a:t>
            </a:r>
            <a:endParaRPr lang="en-US" sz="1400">
              <a:latin typeface="Century Gothic"/>
            </a:endParaRPr>
          </a:p>
        </p:txBody>
      </p:sp>
      <p:sp>
        <p:nvSpPr>
          <p:cNvPr id="14" name="Rectangle à coins arrondis 13"/>
          <p:cNvSpPr/>
          <p:nvPr/>
        </p:nvSpPr>
        <p:spPr bwMode="auto">
          <a:xfrm>
            <a:off x="1071538" y="1428735"/>
            <a:ext cx="2071702" cy="428628"/>
          </a:xfrm>
          <a:prstGeom prst="roundRect">
            <a:avLst>
              <a:gd name="adj" fmla="val 1528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URI pattern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class URI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1000100" y="3283300"/>
            <a:ext cx="26324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050">
                <a:latin typeface="Century Gothic"/>
              </a:rPr>
              <a:t>http://issn.org/resource/ISSN/</a:t>
            </a:r>
            <a:r>
              <a:rPr lang="fr-FR" sz="1200" b="1">
                <a:latin typeface="Century Gothic"/>
              </a:rPr>
              <a:t>{ISSN}</a:t>
            </a:r>
            <a:r>
              <a:rPr lang="fr-FR" sz="1200">
                <a:latin typeface="Century Gothic"/>
              </a:rPr>
              <a:t> </a:t>
            </a:r>
            <a:endParaRPr lang="en-US" sz="1200"/>
          </a:p>
        </p:txBody>
      </p:sp>
      <p:sp>
        <p:nvSpPr>
          <p:cNvPr id="19" name="ZoneTexte 18"/>
          <p:cNvSpPr txBox="1"/>
          <p:nvPr/>
        </p:nvSpPr>
        <p:spPr bwMode="auto">
          <a:xfrm>
            <a:off x="3571868" y="3037079"/>
            <a:ext cx="4357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Variable sections in URI patterns are </a:t>
            </a:r>
            <a:r>
              <a:rPr lang="fr-FR" sz="1400">
                <a:latin typeface="Century Gothic"/>
              </a:rPr>
              <a:t>indicated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between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curly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braces</a:t>
            </a:r>
            <a:r>
              <a:rPr lang="fr-FR" sz="1400">
                <a:latin typeface="Century Gothic"/>
              </a:rPr>
              <a:t> {…} and </a:t>
            </a:r>
            <a:r>
              <a:rPr lang="fr-FR" sz="1400">
                <a:latin typeface="Century Gothic"/>
              </a:rPr>
              <a:t>replaced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with</a:t>
            </a:r>
            <a:r>
              <a:rPr lang="fr-FR" sz="1400">
                <a:latin typeface="Century Gothic"/>
              </a:rPr>
              <a:t> the </a:t>
            </a:r>
            <a:r>
              <a:rPr lang="fr-FR" sz="1400">
                <a:latin typeface="Century Gothic"/>
              </a:rPr>
              <a:t>corresponding</a:t>
            </a:r>
            <a:r>
              <a:rPr lang="fr-FR" sz="1400">
                <a:latin typeface="Century Gothic"/>
              </a:rPr>
              <a:t> value</a:t>
            </a:r>
            <a:endParaRPr lang="en-US" sz="1400">
              <a:latin typeface="Century Gothic"/>
            </a:endParaRPr>
          </a:p>
        </p:txBody>
      </p:sp>
      <p:cxnSp>
        <p:nvCxnSpPr>
          <p:cNvPr id="21" name="Forme 69"/>
          <p:cNvCxnSpPr>
            <a:cxnSpLocks/>
          </p:cNvCxnSpPr>
          <p:nvPr/>
        </p:nvCxnSpPr>
        <p:spPr bwMode="auto">
          <a:xfrm flipV="1">
            <a:off x="1285852" y="5203373"/>
            <a:ext cx="1857388" cy="2857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 bwMode="auto">
          <a:xfrm>
            <a:off x="1428728" y="484618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cxnSp>
        <p:nvCxnSpPr>
          <p:cNvPr id="25" name="Forme 69"/>
          <p:cNvCxnSpPr>
            <a:cxnSpLocks/>
            <a:endCxn id="27" idx="1"/>
          </p:cNvCxnSpPr>
          <p:nvPr/>
        </p:nvCxnSpPr>
        <p:spPr bwMode="auto">
          <a:xfrm flipV="1">
            <a:off x="1500165" y="6179363"/>
            <a:ext cx="1000100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 bwMode="auto">
          <a:xfrm>
            <a:off x="1428728" y="5846315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schema:startDate</a:t>
            </a:r>
            <a:endParaRPr lang="en-US" sz="1100">
              <a:latin typeface="Century Gothic"/>
            </a:endParaRPr>
          </a:p>
        </p:txBody>
      </p:sp>
      <p:sp>
        <p:nvSpPr>
          <p:cNvPr id="27" name="Rectangle à coins arrondis 26"/>
          <p:cNvSpPr/>
          <p:nvPr/>
        </p:nvSpPr>
        <p:spPr bwMode="auto">
          <a:xfrm>
            <a:off x="2500266" y="6107925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28" name="ZoneTexte 27"/>
          <p:cNvSpPr txBox="1"/>
          <p:nvPr/>
        </p:nvSpPr>
        <p:spPr bwMode="auto">
          <a:xfrm>
            <a:off x="3571868" y="6000768"/>
            <a:ext cx="328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Data </a:t>
            </a:r>
            <a:r>
              <a:rPr lang="fr-FR" sz="1400">
                <a:latin typeface="Century Gothic"/>
              </a:rPr>
              <a:t>property</a:t>
            </a:r>
            <a:r>
              <a:rPr lang="fr-FR" sz="1400">
                <a:latin typeface="Century Gothic"/>
              </a:rPr>
              <a:t> (</a:t>
            </a:r>
            <a:r>
              <a:rPr lang="fr-FR" sz="1400">
                <a:latin typeface="Century Gothic"/>
              </a:rPr>
              <a:t>with</a:t>
            </a:r>
            <a:r>
              <a:rPr lang="fr-FR" sz="1400">
                <a:latin typeface="Century Gothic"/>
              </a:rPr>
              <a:t> a </a:t>
            </a:r>
            <a:r>
              <a:rPr lang="fr-FR" sz="1400">
                <a:latin typeface="Century Gothic"/>
              </a:rPr>
              <a:t>literal</a:t>
            </a:r>
            <a:r>
              <a:rPr lang="fr-FR" sz="1400">
                <a:latin typeface="Century Gothic"/>
              </a:rPr>
              <a:t> value)</a:t>
            </a:r>
            <a:endParaRPr lang="en-US" sz="1400">
              <a:latin typeface="Century Gothic"/>
            </a:endParaRPr>
          </a:p>
        </p:txBody>
      </p:sp>
      <p:sp>
        <p:nvSpPr>
          <p:cNvPr id="15" name="Rectangle à coins arrondis 14"/>
          <p:cNvSpPr/>
          <p:nvPr/>
        </p:nvSpPr>
        <p:spPr bwMode="auto">
          <a:xfrm>
            <a:off x="1000100" y="3988927"/>
            <a:ext cx="2143140" cy="571504"/>
          </a:xfrm>
          <a:prstGeom prst="roundRect">
            <a:avLst>
              <a:gd name="adj" fmla="val 2525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RecordCreation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prov:Activity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6" name="ZoneTexte 15"/>
          <p:cNvSpPr txBox="1"/>
          <p:nvPr/>
        </p:nvSpPr>
        <p:spPr bwMode="auto">
          <a:xfrm>
            <a:off x="3571868" y="4037211"/>
            <a:ext cx="4357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Relative </a:t>
            </a:r>
            <a:r>
              <a:rPr lang="fr-FR" sz="1400">
                <a:latin typeface="Century Gothic"/>
              </a:rPr>
              <a:t>URIs</a:t>
            </a:r>
            <a:r>
              <a:rPr lang="fr-FR" sz="1400">
                <a:latin typeface="Century Gothic"/>
              </a:rPr>
              <a:t> are </a:t>
            </a:r>
            <a:r>
              <a:rPr lang="fr-FR" sz="1400">
                <a:latin typeface="Century Gothic"/>
              </a:rPr>
              <a:t>always</a:t>
            </a:r>
            <a:r>
              <a:rPr lang="fr-FR" sz="1400">
                <a:latin typeface="Century Gothic"/>
              </a:rPr>
              <a:t> relative to the ISSN </a:t>
            </a:r>
            <a:r>
              <a:rPr lang="fr-FR" sz="1400">
                <a:latin typeface="Century Gothic"/>
              </a:rPr>
              <a:t>resource</a:t>
            </a:r>
            <a:r>
              <a:rPr lang="fr-FR" sz="1400">
                <a:latin typeface="Century Gothic"/>
              </a:rPr>
              <a:t> URI </a:t>
            </a:r>
            <a:r>
              <a:rPr lang="fr-FR" sz="1400" i="1"/>
              <a:t>http://issn.org/resource/ISSN/{ISSN}</a:t>
            </a:r>
            <a:endParaRPr lang="en-US" sz="1400">
              <a:latin typeface="Century Gothic"/>
            </a:endParaRPr>
          </a:p>
        </p:txBody>
      </p:sp>
      <p:sp>
        <p:nvSpPr>
          <p:cNvPr id="23" name="Rectangle à coins arrondis 22"/>
          <p:cNvSpPr/>
          <p:nvPr/>
        </p:nvSpPr>
        <p:spPr bwMode="auto">
          <a:xfrm>
            <a:off x="785786" y="2143116"/>
            <a:ext cx="2643206" cy="714380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0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0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0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0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0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0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1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4" name="ZoneTexte 23"/>
          <p:cNvSpPr txBox="1"/>
          <p:nvPr/>
        </p:nvSpPr>
        <p:spPr bwMode="auto">
          <a:xfrm>
            <a:off x="3571868" y="2214554"/>
            <a:ext cx="457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The ISSN </a:t>
            </a:r>
            <a:r>
              <a:rPr lang="fr-FR" sz="1400">
                <a:latin typeface="Century Gothic"/>
              </a:rPr>
              <a:t>resource</a:t>
            </a:r>
            <a:r>
              <a:rPr lang="fr-FR" sz="1400">
                <a:latin typeface="Century Gothic"/>
              </a:rPr>
              <a:t> has a </a:t>
            </a:r>
            <a:r>
              <a:rPr lang="fr-FR" sz="1400">
                <a:latin typeface="Century Gothic"/>
              </a:rPr>
              <a:t>red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color</a:t>
            </a:r>
            <a:r>
              <a:rPr lang="fr-FR" sz="1400">
                <a:latin typeface="Century Gothic"/>
              </a:rPr>
              <a:t> for quick </a:t>
            </a:r>
            <a:r>
              <a:rPr lang="fr-FR" sz="1400">
                <a:latin typeface="Century Gothic"/>
              </a:rPr>
              <a:t>reference</a:t>
            </a:r>
            <a:r>
              <a:rPr lang="fr-FR" sz="1400">
                <a:latin typeface="Century Gothic"/>
              </a:rPr>
              <a:t>.</a:t>
            </a:r>
            <a:endParaRPr lang="en-US" sz="14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Rectangle à coins arrondis 9"/>
          <p:cNvSpPr/>
          <p:nvPr/>
        </p:nvSpPr>
        <p:spPr bwMode="auto">
          <a:xfrm>
            <a:off x="6072198" y="1928802"/>
            <a:ext cx="2786082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4" name="Rectangle à coins arrondis 13"/>
          <p:cNvSpPr/>
          <p:nvPr/>
        </p:nvSpPr>
        <p:spPr bwMode="auto">
          <a:xfrm>
            <a:off x="6143635" y="4714884"/>
            <a:ext cx="264320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#Record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schema:CreativeWork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5" name="Rectangle à coins arrondis 14"/>
          <p:cNvSpPr/>
          <p:nvPr/>
        </p:nvSpPr>
        <p:spPr bwMode="auto">
          <a:xfrm>
            <a:off x="1928794" y="428604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#ISSN-L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bf:IssnL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6" name="Forme 69"/>
          <p:cNvCxnSpPr>
            <a:cxnSpLocks/>
            <a:stCxn id="67" idx="0"/>
            <a:endCxn id="125" idx="2"/>
          </p:cNvCxnSpPr>
          <p:nvPr/>
        </p:nvCxnSpPr>
        <p:spPr bwMode="auto">
          <a:xfrm rot="5400000" flipH="1" flipV="1">
            <a:off x="7429520" y="3714752"/>
            <a:ext cx="2000264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 bwMode="auto">
          <a:xfrm>
            <a:off x="6929486" y="4286256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schema:mainEntity</a:t>
            </a:r>
            <a:endParaRPr lang="en-US" sz="1100">
              <a:latin typeface="Century Gothic"/>
            </a:endParaRPr>
          </a:p>
        </p:txBody>
      </p:sp>
      <p:sp>
        <p:nvSpPr>
          <p:cNvPr id="27" name="Rectangle à coins arrondis 26"/>
          <p:cNvSpPr/>
          <p:nvPr/>
        </p:nvSpPr>
        <p:spPr bwMode="auto">
          <a:xfrm>
            <a:off x="1928794" y="1500174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#ISSN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bf:Issn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8" name="Rectangle à coins arrondis 27"/>
          <p:cNvSpPr/>
          <p:nvPr/>
        </p:nvSpPr>
        <p:spPr bwMode="auto">
          <a:xfrm>
            <a:off x="1928794" y="2857497"/>
            <a:ext cx="2571768" cy="357190"/>
          </a:xfrm>
          <a:prstGeom prst="roundRect">
            <a:avLst>
              <a:gd name="adj" fmla="val 2496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KeyTitle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bf:Identifier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bf:KeyTitle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lvl="0" algn="ctr">
              <a:spcBef>
                <a:spcPts val="600"/>
              </a:spcBef>
              <a:defRPr/>
            </a:pP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9" name="Rectangle à coins arrondis 28"/>
          <p:cNvSpPr/>
          <p:nvPr/>
        </p:nvSpPr>
        <p:spPr bwMode="auto">
          <a:xfrm>
            <a:off x="1928794" y="3643315"/>
            <a:ext cx="2571768" cy="500066"/>
          </a:xfrm>
          <a:prstGeom prst="roundRect">
            <a:avLst>
              <a:gd name="adj" fmla="val 27379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AbbreviatedKeyTitle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bf:Identifier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bf:AbbreviatedTitle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33" name="Forme 69"/>
          <p:cNvCxnSpPr>
            <a:cxnSpLocks/>
            <a:stCxn id="10" idx="1"/>
            <a:endCxn id="69" idx="3"/>
          </p:cNvCxnSpPr>
          <p:nvPr/>
        </p:nvCxnSpPr>
        <p:spPr bwMode="auto">
          <a:xfrm rot="10800000">
            <a:off x="4500562" y="714357"/>
            <a:ext cx="1571636" cy="16073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 bwMode="auto">
          <a:xfrm>
            <a:off x="4643438" y="738498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cxnSp>
        <p:nvCxnSpPr>
          <p:cNvPr id="38" name="Forme 69"/>
          <p:cNvCxnSpPr>
            <a:cxnSpLocks/>
            <a:stCxn id="10" idx="1"/>
            <a:endCxn id="27" idx="3"/>
          </p:cNvCxnSpPr>
          <p:nvPr/>
        </p:nvCxnSpPr>
        <p:spPr bwMode="auto">
          <a:xfrm rot="10800000">
            <a:off x="4500562" y="1678769"/>
            <a:ext cx="1571636" cy="6429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Forme 69"/>
          <p:cNvCxnSpPr>
            <a:cxnSpLocks/>
            <a:stCxn id="10" idx="1"/>
            <a:endCxn id="28" idx="3"/>
          </p:cNvCxnSpPr>
          <p:nvPr/>
        </p:nvCxnSpPr>
        <p:spPr bwMode="auto">
          <a:xfrm rot="10800000" flipV="1">
            <a:off x="4500562" y="2321710"/>
            <a:ext cx="1571636" cy="7143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Forme 69"/>
          <p:cNvCxnSpPr>
            <a:cxnSpLocks/>
            <a:stCxn id="10" idx="1"/>
            <a:endCxn id="29" idx="3"/>
          </p:cNvCxnSpPr>
          <p:nvPr/>
        </p:nvCxnSpPr>
        <p:spPr bwMode="auto">
          <a:xfrm rot="10800000" flipV="1">
            <a:off x="4500562" y="2321710"/>
            <a:ext cx="1571636" cy="15716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 bwMode="auto">
          <a:xfrm>
            <a:off x="4643438" y="166719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sp>
        <p:nvSpPr>
          <p:cNvPr id="50" name="ZoneTexte 49"/>
          <p:cNvSpPr txBox="1"/>
          <p:nvPr/>
        </p:nvSpPr>
        <p:spPr bwMode="auto">
          <a:xfrm>
            <a:off x="4643438" y="3069551"/>
            <a:ext cx="1857388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 i="1">
                <a:latin typeface="Century Gothic"/>
              </a:rPr>
              <a:t>(+ </a:t>
            </a:r>
            <a:r>
              <a:rPr lang="fr-FR" sz="1100" i="1">
                <a:latin typeface="Century Gothic"/>
              </a:rPr>
              <a:t>bf:title</a:t>
            </a:r>
            <a:r>
              <a:rPr lang="fr-FR" sz="1100" i="1">
                <a:latin typeface="Century Gothic"/>
              </a:rPr>
              <a:t>)</a:t>
            </a:r>
            <a:endParaRPr lang="en-US" sz="1100" i="1">
              <a:latin typeface="Century Gothic"/>
            </a:endParaRPr>
          </a:p>
        </p:txBody>
      </p:sp>
      <p:sp>
        <p:nvSpPr>
          <p:cNvPr id="51" name="ZoneTexte 50"/>
          <p:cNvSpPr txBox="1"/>
          <p:nvPr/>
        </p:nvSpPr>
        <p:spPr bwMode="auto">
          <a:xfrm>
            <a:off x="4643438" y="3881771"/>
            <a:ext cx="1857388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 i="1">
                <a:latin typeface="Century Gothic"/>
              </a:rPr>
              <a:t>(+ </a:t>
            </a:r>
            <a:r>
              <a:rPr lang="fr-FR" sz="1100" i="1">
                <a:latin typeface="Century Gothic"/>
              </a:rPr>
              <a:t>bf:title</a:t>
            </a:r>
            <a:r>
              <a:rPr lang="fr-FR" sz="1100" i="1">
                <a:latin typeface="Century Gothic"/>
              </a:rPr>
              <a:t>)</a:t>
            </a:r>
            <a:endParaRPr lang="en-US" sz="1100" i="1">
              <a:latin typeface="Century Gothic"/>
            </a:endParaRPr>
          </a:p>
        </p:txBody>
      </p:sp>
      <p:sp>
        <p:nvSpPr>
          <p:cNvPr id="91" name="Rectangle à coins arrondis 90"/>
          <p:cNvSpPr/>
          <p:nvPr/>
        </p:nvSpPr>
        <p:spPr bwMode="auto">
          <a:xfrm>
            <a:off x="428596" y="4714884"/>
            <a:ext cx="2357454" cy="571504"/>
          </a:xfrm>
          <a:prstGeom prst="roundRect">
            <a:avLst>
              <a:gd name="adj" fmla="val 2525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RecordCreation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prov:Activity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95" name="Forme 69"/>
          <p:cNvCxnSpPr>
            <a:cxnSpLocks/>
            <a:stCxn id="91" idx="0"/>
            <a:endCxn id="29" idx="1"/>
          </p:cNvCxnSpPr>
          <p:nvPr/>
        </p:nvCxnSpPr>
        <p:spPr bwMode="auto">
          <a:xfrm rot="5400000" flipH="1" flipV="1">
            <a:off x="1357290" y="4143381"/>
            <a:ext cx="821536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Forme 69"/>
          <p:cNvCxnSpPr>
            <a:cxnSpLocks/>
            <a:stCxn id="91" idx="0"/>
            <a:endCxn id="28" idx="1"/>
          </p:cNvCxnSpPr>
          <p:nvPr/>
        </p:nvCxnSpPr>
        <p:spPr bwMode="auto">
          <a:xfrm rot="5400000" flipH="1" flipV="1">
            <a:off x="928662" y="3714753"/>
            <a:ext cx="1678792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Forme 69"/>
          <p:cNvCxnSpPr>
            <a:cxnSpLocks/>
            <a:stCxn id="91" idx="0"/>
            <a:endCxn id="27" idx="1"/>
          </p:cNvCxnSpPr>
          <p:nvPr/>
        </p:nvCxnSpPr>
        <p:spPr bwMode="auto">
          <a:xfrm rot="5400000" flipH="1" flipV="1">
            <a:off x="250001" y="3036092"/>
            <a:ext cx="3036115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Forme 69"/>
          <p:cNvCxnSpPr>
            <a:cxnSpLocks/>
            <a:stCxn id="91" idx="0"/>
            <a:endCxn id="15" idx="1"/>
          </p:cNvCxnSpPr>
          <p:nvPr/>
        </p:nvCxnSpPr>
        <p:spPr bwMode="auto">
          <a:xfrm rot="5400000" flipH="1" flipV="1">
            <a:off x="-285784" y="2500307"/>
            <a:ext cx="4107685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 bwMode="auto">
          <a:xfrm>
            <a:off x="571472" y="595622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prov:generated</a:t>
            </a:r>
            <a:endParaRPr lang="en-US" sz="1100">
              <a:latin typeface="Century Gothic"/>
            </a:endParaRPr>
          </a:p>
        </p:txBody>
      </p:sp>
      <p:sp>
        <p:nvSpPr>
          <p:cNvPr id="109" name="ZoneTexte 108"/>
          <p:cNvSpPr txBox="1"/>
          <p:nvPr/>
        </p:nvSpPr>
        <p:spPr bwMode="auto">
          <a:xfrm>
            <a:off x="571472" y="1667192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prov:generated</a:t>
            </a:r>
            <a:endParaRPr lang="en-US" sz="1100">
              <a:latin typeface="Century Gothic"/>
            </a:endParaRPr>
          </a:p>
        </p:txBody>
      </p:sp>
      <p:sp>
        <p:nvSpPr>
          <p:cNvPr id="110" name="ZoneTexte 109"/>
          <p:cNvSpPr txBox="1"/>
          <p:nvPr/>
        </p:nvSpPr>
        <p:spPr bwMode="auto">
          <a:xfrm>
            <a:off x="571472" y="3024515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prov:generated</a:t>
            </a:r>
            <a:endParaRPr lang="en-US" sz="1100">
              <a:latin typeface="Century Gothic"/>
            </a:endParaRPr>
          </a:p>
        </p:txBody>
      </p:sp>
      <p:sp>
        <p:nvSpPr>
          <p:cNvPr id="111" name="ZoneTexte 110"/>
          <p:cNvSpPr txBox="1"/>
          <p:nvPr/>
        </p:nvSpPr>
        <p:spPr bwMode="auto">
          <a:xfrm>
            <a:off x="571472" y="3857629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prov:generated</a:t>
            </a:r>
            <a:endParaRPr lang="en-US" sz="1100">
              <a:latin typeface="Century Gothic"/>
            </a:endParaRPr>
          </a:p>
        </p:txBody>
      </p:sp>
      <p:cxnSp>
        <p:nvCxnSpPr>
          <p:cNvPr id="112" name="Forme 69"/>
          <p:cNvCxnSpPr>
            <a:cxnSpLocks/>
            <a:stCxn id="91" idx="3"/>
            <a:endCxn id="14" idx="1"/>
          </p:cNvCxnSpPr>
          <p:nvPr/>
        </p:nvCxnSpPr>
        <p:spPr bwMode="auto">
          <a:xfrm>
            <a:off x="2786050" y="5000635"/>
            <a:ext cx="3357586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ZoneTexte 114"/>
          <p:cNvSpPr txBox="1"/>
          <p:nvPr/>
        </p:nvSpPr>
        <p:spPr bwMode="auto">
          <a:xfrm>
            <a:off x="2857488" y="4739026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prov:generated</a:t>
            </a:r>
            <a:endParaRPr lang="en-US" sz="1100">
              <a:latin typeface="Century Gothic"/>
            </a:endParaRPr>
          </a:p>
        </p:txBody>
      </p:sp>
      <p:sp>
        <p:nvSpPr>
          <p:cNvPr id="116" name="Rectangle à coins arrondis 115"/>
          <p:cNvSpPr/>
          <p:nvPr/>
        </p:nvSpPr>
        <p:spPr bwMode="auto">
          <a:xfrm>
            <a:off x="4500562" y="5572140"/>
            <a:ext cx="2143140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http://issn.org/organization/ISSNCenter#</a:t>
            </a:r>
            <a:r>
              <a:rPr lang="fr-FR" sz="1400" b="1">
                <a:solidFill>
                  <a:schemeClr val="tx1"/>
                </a:solidFill>
                <a:latin typeface="Century Gothic"/>
              </a:rPr>
              <a:t>{CCID}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17" name="Forme 69"/>
          <p:cNvCxnSpPr>
            <a:cxnSpLocks/>
            <a:stCxn id="91" idx="2"/>
            <a:endCxn id="127" idx="1"/>
          </p:cNvCxnSpPr>
          <p:nvPr/>
        </p:nvCxnSpPr>
        <p:spPr bwMode="auto">
          <a:xfrm rot="16199999" flipH="1">
            <a:off x="1643042" y="5250668"/>
            <a:ext cx="678661" cy="750099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/>
          <p:cNvSpPr txBox="1"/>
          <p:nvPr/>
        </p:nvSpPr>
        <p:spPr bwMode="auto">
          <a:xfrm>
            <a:off x="0" y="5953472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prov:wasAssociatedWith</a:t>
            </a:r>
            <a:endParaRPr lang="en-US" sz="1100">
              <a:latin typeface="Century Gothic"/>
            </a:endParaRPr>
          </a:p>
        </p:txBody>
      </p:sp>
      <p:cxnSp>
        <p:nvCxnSpPr>
          <p:cNvPr id="121" name="Forme 69"/>
          <p:cNvCxnSpPr>
            <a:cxnSpLocks/>
            <a:stCxn id="14" idx="2"/>
            <a:endCxn id="116" idx="3"/>
          </p:cNvCxnSpPr>
          <p:nvPr/>
        </p:nvCxnSpPr>
        <p:spPr bwMode="auto">
          <a:xfrm rot="5400000">
            <a:off x="6715141" y="5214950"/>
            <a:ext cx="678661" cy="82153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/>
          <p:cNvSpPr txBox="1"/>
          <p:nvPr/>
        </p:nvSpPr>
        <p:spPr bwMode="auto">
          <a:xfrm>
            <a:off x="6929454" y="6000768"/>
            <a:ext cx="171451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prov:wasAttributedTo</a:t>
            </a:r>
            <a:endParaRPr lang="en-US" sz="1100">
              <a:latin typeface="Century Gothic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8358214" y="257174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7" name="Rectangle à coins arrondis 126"/>
          <p:cNvSpPr/>
          <p:nvPr/>
        </p:nvSpPr>
        <p:spPr bwMode="auto">
          <a:xfrm>
            <a:off x="2357422" y="5572140"/>
            <a:ext cx="2214578" cy="785818"/>
          </a:xfrm>
          <a:prstGeom prst="roundRect">
            <a:avLst>
              <a:gd name="adj" fmla="val 32006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http://issn.org/organization/ISSNCenter#</a:t>
            </a:r>
            <a:r>
              <a:rPr lang="fr-FR" sz="1400" b="1">
                <a:solidFill>
                  <a:schemeClr val="tx1"/>
                </a:solidFill>
                <a:latin typeface="Century Gothic"/>
              </a:rPr>
              <a:t>{CCID}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29" name="Rectangle à coins arrondis 128"/>
          <p:cNvSpPr/>
          <p:nvPr/>
        </p:nvSpPr>
        <p:spPr bwMode="auto">
          <a:xfrm>
            <a:off x="6072198" y="357166"/>
            <a:ext cx="2786082" cy="500066"/>
          </a:xfrm>
          <a:prstGeom prst="roundRect">
            <a:avLst>
              <a:gd name="adj" fmla="val 17044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00" b="1">
                <a:solidFill>
                  <a:schemeClr val="tx1"/>
                </a:solidFill>
                <a:latin typeface="Century Gothic"/>
              </a:rPr>
              <a:t>http://issn.org/resource/ISSN-L/{ISSN-L} :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schema:CreativeWork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30" name="Forme 69"/>
          <p:cNvCxnSpPr>
            <a:cxnSpLocks/>
            <a:stCxn id="88" idx="0"/>
            <a:endCxn id="85" idx="2"/>
          </p:cNvCxnSpPr>
          <p:nvPr/>
        </p:nvCxnSpPr>
        <p:spPr bwMode="auto">
          <a:xfrm rot="5400000" flipH="1" flipV="1">
            <a:off x="6179355" y="1393017"/>
            <a:ext cx="1071570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ZoneTexte 134"/>
          <p:cNvSpPr txBox="1"/>
          <p:nvPr/>
        </p:nvSpPr>
        <p:spPr bwMode="auto">
          <a:xfrm>
            <a:off x="5643570" y="3357562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schema:issn</a:t>
            </a:r>
            <a:endParaRPr lang="en-US" sz="1100">
              <a:latin typeface="Century Gothic"/>
            </a:endParaRPr>
          </a:p>
        </p:txBody>
      </p:sp>
      <p:cxnSp>
        <p:nvCxnSpPr>
          <p:cNvPr id="136" name="Forme 69"/>
          <p:cNvCxnSpPr>
            <a:cxnSpLocks/>
            <a:stCxn id="127" idx="0"/>
            <a:endCxn id="116" idx="0"/>
          </p:cNvCxnSpPr>
          <p:nvPr/>
        </p:nvCxnSpPr>
        <p:spPr bwMode="auto">
          <a:xfrm rot="5400000" flipH="1" flipV="1">
            <a:off x="4518421" y="4518430"/>
            <a:ext cx="1587" cy="2107421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ZoneTexte 140"/>
          <p:cNvSpPr txBox="1"/>
          <p:nvPr/>
        </p:nvSpPr>
        <p:spPr bwMode="auto">
          <a:xfrm>
            <a:off x="3786182" y="5096216"/>
            <a:ext cx="171451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 i="1">
                <a:latin typeface="Century Gothic"/>
              </a:rPr>
              <a:t>Same</a:t>
            </a:r>
            <a:r>
              <a:rPr lang="fr-FR" sz="1100" i="1">
                <a:latin typeface="Century Gothic"/>
              </a:rPr>
              <a:t> or </a:t>
            </a:r>
            <a:r>
              <a:rPr lang="fr-FR" sz="1100" i="1">
                <a:latin typeface="Century Gothic"/>
              </a:rPr>
              <a:t>different</a:t>
            </a:r>
            <a:endParaRPr lang="en-US" sz="1100" i="1">
              <a:latin typeface="Century Gothic"/>
            </a:endParaRPr>
          </a:p>
        </p:txBody>
      </p:sp>
      <p:sp>
        <p:nvSpPr>
          <p:cNvPr id="182" name="ZoneTexte 181"/>
          <p:cNvSpPr txBox="1"/>
          <p:nvPr/>
        </p:nvSpPr>
        <p:spPr bwMode="auto"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/>
              <a:t>Relative </a:t>
            </a:r>
            <a:r>
              <a:rPr lang="fr-FR" sz="1200" i="1"/>
              <a:t>URIs</a:t>
            </a:r>
            <a:r>
              <a:rPr lang="fr-FR" sz="1200" i="1"/>
              <a:t> (</a:t>
            </a:r>
            <a:r>
              <a:rPr lang="fr-FR" sz="1200" i="1"/>
              <a:t>beginning</a:t>
            </a:r>
            <a:r>
              <a:rPr lang="fr-FR" sz="1200" i="1"/>
              <a:t> </a:t>
            </a:r>
            <a:r>
              <a:rPr lang="fr-FR" sz="1200" i="1"/>
              <a:t>with</a:t>
            </a:r>
            <a:r>
              <a:rPr lang="fr-FR" sz="1200" i="1"/>
              <a:t> #) are relative to the ISSN </a:t>
            </a:r>
            <a:r>
              <a:rPr lang="fr-FR" sz="1200" i="1"/>
              <a:t>resource</a:t>
            </a:r>
            <a:r>
              <a:rPr lang="fr-FR" sz="1200" i="1"/>
              <a:t> URI : http://issn.org/resource/ISSN/{ISSN}</a:t>
            </a:r>
            <a:endParaRPr lang="en-US" sz="1200" i="1"/>
          </a:p>
        </p:txBody>
      </p:sp>
      <p:cxnSp>
        <p:nvCxnSpPr>
          <p:cNvPr id="152" name="Forme 69"/>
          <p:cNvCxnSpPr>
            <a:cxnSpLocks/>
            <a:stCxn id="15" idx="0"/>
            <a:endCxn id="154" idx="3"/>
          </p:cNvCxnSpPr>
          <p:nvPr/>
        </p:nvCxnSpPr>
        <p:spPr bwMode="auto">
          <a:xfrm rot="16199999" flipV="1">
            <a:off x="3053943" y="267869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ZoneTexte 152"/>
          <p:cNvSpPr txBox="1"/>
          <p:nvPr/>
        </p:nvSpPr>
        <p:spPr bwMode="auto">
          <a:xfrm>
            <a:off x="3214678" y="14285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154" name="Rectangle à coins arrondis 153"/>
          <p:cNvSpPr/>
          <p:nvPr/>
        </p:nvSpPr>
        <p:spPr bwMode="auto">
          <a:xfrm>
            <a:off x="2571736" y="142852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177" name="Forme 69"/>
          <p:cNvCxnSpPr>
            <a:cxnSpLocks/>
            <a:stCxn id="27" idx="0"/>
            <a:endCxn id="179" idx="3"/>
          </p:cNvCxnSpPr>
          <p:nvPr/>
        </p:nvCxnSpPr>
        <p:spPr bwMode="auto">
          <a:xfrm rot="16199999" flipV="1">
            <a:off x="3053943" y="1339439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ZoneTexte 177"/>
          <p:cNvSpPr txBox="1"/>
          <p:nvPr/>
        </p:nvSpPr>
        <p:spPr bwMode="auto">
          <a:xfrm>
            <a:off x="3214678" y="1214421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179" name="Rectangle à coins arrondis 178"/>
          <p:cNvSpPr/>
          <p:nvPr/>
        </p:nvSpPr>
        <p:spPr bwMode="auto">
          <a:xfrm>
            <a:off x="2000232" y="1214422"/>
            <a:ext cx="1071570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0" algn="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cxnSp>
        <p:nvCxnSpPr>
          <p:cNvPr id="181" name="Forme 69"/>
          <p:cNvCxnSpPr>
            <a:cxnSpLocks/>
            <a:stCxn id="28" idx="0"/>
            <a:endCxn id="184" idx="3"/>
          </p:cNvCxnSpPr>
          <p:nvPr/>
        </p:nvCxnSpPr>
        <p:spPr bwMode="auto">
          <a:xfrm rot="16199999" flipV="1">
            <a:off x="3053942" y="2696761"/>
            <a:ext cx="178596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82"/>
          <p:cNvSpPr txBox="1"/>
          <p:nvPr/>
        </p:nvSpPr>
        <p:spPr bwMode="auto">
          <a:xfrm>
            <a:off x="3214678" y="257174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184" name="Rectangle à coins arrondis 183"/>
          <p:cNvSpPr/>
          <p:nvPr/>
        </p:nvSpPr>
        <p:spPr bwMode="auto">
          <a:xfrm>
            <a:off x="2571736" y="2571744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186" name="Forme 69"/>
          <p:cNvCxnSpPr>
            <a:cxnSpLocks/>
            <a:stCxn id="29" idx="0"/>
            <a:endCxn id="188" idx="3"/>
          </p:cNvCxnSpPr>
          <p:nvPr/>
        </p:nvCxnSpPr>
        <p:spPr bwMode="auto">
          <a:xfrm rot="16199999" flipV="1">
            <a:off x="3053942" y="3482579"/>
            <a:ext cx="178596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ZoneTexte 186"/>
          <p:cNvSpPr txBox="1"/>
          <p:nvPr/>
        </p:nvSpPr>
        <p:spPr bwMode="auto">
          <a:xfrm>
            <a:off x="3214678" y="335756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188" name="Rectangle à coins arrondis 187"/>
          <p:cNvSpPr/>
          <p:nvPr/>
        </p:nvSpPr>
        <p:spPr bwMode="auto">
          <a:xfrm>
            <a:off x="2571736" y="3357562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65" name="Forme 69"/>
          <p:cNvCxnSpPr>
            <a:cxnSpLocks/>
            <a:stCxn id="72" idx="1"/>
            <a:endCxn id="64" idx="3"/>
          </p:cNvCxnSpPr>
          <p:nvPr/>
        </p:nvCxnSpPr>
        <p:spPr bwMode="auto">
          <a:xfrm rot="10800000">
            <a:off x="4500562" y="500042"/>
            <a:ext cx="1571636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 bwMode="auto">
          <a:xfrm>
            <a:off x="4643438" y="214290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4357686" y="42860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Rectangle 68"/>
          <p:cNvSpPr/>
          <p:nvPr/>
        </p:nvSpPr>
        <p:spPr bwMode="auto">
          <a:xfrm>
            <a:off x="4357686" y="64291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Rectangle 71"/>
          <p:cNvSpPr/>
          <p:nvPr/>
        </p:nvSpPr>
        <p:spPr bwMode="auto">
          <a:xfrm>
            <a:off x="6072198" y="42860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Rectangle 66"/>
          <p:cNvSpPr/>
          <p:nvPr/>
        </p:nvSpPr>
        <p:spPr bwMode="auto">
          <a:xfrm>
            <a:off x="8358214" y="471488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Forme 69"/>
          <p:cNvCxnSpPr>
            <a:cxnSpLocks/>
            <a:stCxn id="83" idx="2"/>
            <a:endCxn id="77" idx="0"/>
          </p:cNvCxnSpPr>
          <p:nvPr/>
        </p:nvCxnSpPr>
        <p:spPr bwMode="auto">
          <a:xfrm rot="5400000">
            <a:off x="6054339" y="2839637"/>
            <a:ext cx="1071570" cy="821537"/>
          </a:xfrm>
          <a:prstGeom prst="bentConnector3">
            <a:avLst>
              <a:gd name="adj1" fmla="val 297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Forme 69"/>
          <p:cNvCxnSpPr>
            <a:cxnSpLocks/>
            <a:stCxn id="83" idx="2"/>
            <a:endCxn id="86" idx="0"/>
          </p:cNvCxnSpPr>
          <p:nvPr/>
        </p:nvCxnSpPr>
        <p:spPr bwMode="auto">
          <a:xfrm rot="16199999" flipH="1">
            <a:off x="6482966" y="3232545"/>
            <a:ext cx="1071570" cy="35719"/>
          </a:xfrm>
          <a:prstGeom prst="bentConnector3">
            <a:avLst>
              <a:gd name="adj1" fmla="val 297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/>
          <p:cNvSpPr txBox="1"/>
          <p:nvPr/>
        </p:nvSpPr>
        <p:spPr bwMode="auto">
          <a:xfrm>
            <a:off x="6072198" y="1214422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schema:isPartOf</a:t>
            </a:r>
            <a:endParaRPr lang="en-US" sz="1100">
              <a:latin typeface="Century Gothic"/>
            </a:endParaRPr>
          </a:p>
        </p:txBody>
      </p:sp>
      <p:sp>
        <p:nvSpPr>
          <p:cNvPr id="77" name="Rectangle à coins arrondis 76"/>
          <p:cNvSpPr/>
          <p:nvPr/>
        </p:nvSpPr>
        <p:spPr bwMode="auto">
          <a:xfrm>
            <a:off x="5786446" y="3786190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sp>
        <p:nvSpPr>
          <p:cNvPr id="83" name="Rectangle 82"/>
          <p:cNvSpPr/>
          <p:nvPr/>
        </p:nvSpPr>
        <p:spPr bwMode="auto">
          <a:xfrm>
            <a:off x="6929454" y="257174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" name="Rectangle à coins arrondis 85"/>
          <p:cNvSpPr/>
          <p:nvPr/>
        </p:nvSpPr>
        <p:spPr bwMode="auto">
          <a:xfrm>
            <a:off x="6643702" y="3786190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sp>
        <p:nvSpPr>
          <p:cNvPr id="87" name="Rectangle à coins arrondis 86"/>
          <p:cNvSpPr/>
          <p:nvPr/>
        </p:nvSpPr>
        <p:spPr bwMode="auto">
          <a:xfrm>
            <a:off x="7429520" y="3786190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cxnSp>
        <p:nvCxnSpPr>
          <p:cNvPr id="90" name="Forme 69"/>
          <p:cNvCxnSpPr>
            <a:cxnSpLocks/>
            <a:stCxn id="83" idx="2"/>
            <a:endCxn id="87" idx="0"/>
          </p:cNvCxnSpPr>
          <p:nvPr/>
        </p:nvCxnSpPr>
        <p:spPr bwMode="auto">
          <a:xfrm rot="16199999" flipH="1">
            <a:off x="6875875" y="2839636"/>
            <a:ext cx="1071570" cy="821537"/>
          </a:xfrm>
          <a:prstGeom prst="bentConnector3">
            <a:avLst>
              <a:gd name="adj1" fmla="val 29767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 bwMode="auto">
          <a:xfrm>
            <a:off x="6500826" y="30718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bibo:issn</a:t>
            </a:r>
            <a:endParaRPr lang="en-US" sz="1100">
              <a:latin typeface="Century Gothic"/>
            </a:endParaRPr>
          </a:p>
        </p:txBody>
      </p:sp>
      <p:sp>
        <p:nvSpPr>
          <p:cNvPr id="102" name="ZoneTexte 101"/>
          <p:cNvSpPr txBox="1"/>
          <p:nvPr/>
        </p:nvSpPr>
        <p:spPr bwMode="auto">
          <a:xfrm>
            <a:off x="7286644" y="3357562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dc:identifier</a:t>
            </a:r>
            <a:endParaRPr lang="en-US" sz="1100">
              <a:latin typeface="Century Gothic"/>
            </a:endParaRPr>
          </a:p>
        </p:txBody>
      </p:sp>
      <p:cxnSp>
        <p:nvCxnSpPr>
          <p:cNvPr id="113" name="Forme 69"/>
          <p:cNvCxnSpPr>
            <a:cxnSpLocks/>
            <a:stCxn id="27" idx="2"/>
            <a:endCxn id="118" idx="3"/>
          </p:cNvCxnSpPr>
          <p:nvPr/>
        </p:nvCxnSpPr>
        <p:spPr bwMode="auto">
          <a:xfrm rot="5400000">
            <a:off x="3018223" y="1839504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ZoneTexte 113"/>
          <p:cNvSpPr txBox="1"/>
          <p:nvPr/>
        </p:nvSpPr>
        <p:spPr bwMode="auto">
          <a:xfrm>
            <a:off x="3286116" y="1881505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118" name="Rectangle à coins arrondis 117"/>
          <p:cNvSpPr/>
          <p:nvPr/>
        </p:nvSpPr>
        <p:spPr bwMode="auto">
          <a:xfrm>
            <a:off x="1500165" y="1928801"/>
            <a:ext cx="150019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idStatus:Valid</a:t>
            </a:r>
            <a:endParaRPr lang="fr-FR" sz="12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8072462" y="71435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" name="Rectangle 84"/>
          <p:cNvSpPr/>
          <p:nvPr/>
        </p:nvSpPr>
        <p:spPr bwMode="auto">
          <a:xfrm>
            <a:off x="6643702" y="71435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" name="Rectangle 87"/>
          <p:cNvSpPr/>
          <p:nvPr/>
        </p:nvSpPr>
        <p:spPr bwMode="auto">
          <a:xfrm>
            <a:off x="6643702" y="19288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" name="Rectangle 88"/>
          <p:cNvSpPr/>
          <p:nvPr/>
        </p:nvSpPr>
        <p:spPr bwMode="auto">
          <a:xfrm>
            <a:off x="8072462" y="19288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4" name="Forme 69"/>
          <p:cNvCxnSpPr>
            <a:cxnSpLocks/>
            <a:stCxn id="84" idx="2"/>
            <a:endCxn id="89" idx="0"/>
          </p:cNvCxnSpPr>
          <p:nvPr/>
        </p:nvCxnSpPr>
        <p:spPr bwMode="auto">
          <a:xfrm rot="5400000">
            <a:off x="7608115" y="1393017"/>
            <a:ext cx="1071570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ZoneTexte 105"/>
          <p:cNvSpPr txBox="1"/>
          <p:nvPr/>
        </p:nvSpPr>
        <p:spPr bwMode="auto">
          <a:xfrm>
            <a:off x="7572428" y="1214422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schema:hasPart</a:t>
            </a:r>
            <a:endParaRPr lang="en-US" sz="1100">
              <a:latin typeface="Century Gothic"/>
            </a:endParaRPr>
          </a:p>
        </p:txBody>
      </p:sp>
      <p:cxnSp>
        <p:nvCxnSpPr>
          <p:cNvPr id="80" name="Forme 69"/>
          <p:cNvCxnSpPr>
            <a:cxnSpLocks/>
            <a:stCxn id="15" idx="2"/>
            <a:endCxn id="82" idx="3"/>
          </p:cNvCxnSpPr>
          <p:nvPr/>
        </p:nvCxnSpPr>
        <p:spPr bwMode="auto">
          <a:xfrm rot="5400000">
            <a:off x="3018223" y="767933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/>
          <p:cNvSpPr txBox="1"/>
          <p:nvPr/>
        </p:nvSpPr>
        <p:spPr bwMode="auto">
          <a:xfrm>
            <a:off x="3286116" y="809935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82" name="Rectangle à coins arrondis 81"/>
          <p:cNvSpPr/>
          <p:nvPr/>
        </p:nvSpPr>
        <p:spPr bwMode="auto">
          <a:xfrm>
            <a:off x="1500165" y="857231"/>
            <a:ext cx="150019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idStatus:Valid</a:t>
            </a:r>
            <a:endParaRPr lang="fr-FR" sz="1200">
              <a:solidFill>
                <a:prstClr val="black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" name="ZoneTexte 181"/>
          <p:cNvSpPr txBox="1"/>
          <p:nvPr/>
        </p:nvSpPr>
        <p:spPr bwMode="auto"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/>
              <a:t>Relative </a:t>
            </a:r>
            <a:r>
              <a:rPr lang="fr-FR" sz="1200" i="1"/>
              <a:t>URIs</a:t>
            </a:r>
            <a:r>
              <a:rPr lang="fr-FR" sz="1200" i="1"/>
              <a:t> (</a:t>
            </a:r>
            <a:r>
              <a:rPr lang="fr-FR" sz="1200" i="1"/>
              <a:t>beginning</a:t>
            </a:r>
            <a:r>
              <a:rPr lang="fr-FR" sz="1200" i="1"/>
              <a:t> </a:t>
            </a:r>
            <a:r>
              <a:rPr lang="fr-FR" sz="1200" i="1"/>
              <a:t>with</a:t>
            </a:r>
            <a:r>
              <a:rPr lang="fr-FR" sz="1200" i="1"/>
              <a:t> #) are relative to the ISSN </a:t>
            </a:r>
            <a:r>
              <a:rPr lang="fr-FR" sz="1200" i="1"/>
              <a:t>resource</a:t>
            </a:r>
            <a:r>
              <a:rPr lang="fr-FR" sz="1200" i="1"/>
              <a:t> URI : http://issn.org/resource/ISSN/{ISSN}</a:t>
            </a:r>
            <a:endParaRPr lang="en-US" sz="1200" i="1"/>
          </a:p>
        </p:txBody>
      </p:sp>
      <p:sp>
        <p:nvSpPr>
          <p:cNvPr id="26" name="Rectangle à coins arrondis 25"/>
          <p:cNvSpPr/>
          <p:nvPr/>
        </p:nvSpPr>
        <p:spPr bwMode="auto">
          <a:xfrm>
            <a:off x="5214942" y="1214423"/>
            <a:ext cx="2786082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7" name="Rectangle à coins arrondis 26"/>
          <p:cNvSpPr/>
          <p:nvPr/>
        </p:nvSpPr>
        <p:spPr bwMode="auto">
          <a:xfrm>
            <a:off x="5000628" y="4381836"/>
            <a:ext cx="3500462" cy="500066"/>
          </a:xfrm>
          <a:prstGeom prst="roundRect">
            <a:avLst>
              <a:gd name="adj" fmla="val 27379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http://issn.org/resource/ISSN/{CancelledISSN} :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 </a:t>
            </a:r>
            <a:endParaRPr lang="fr-FR" sz="1050">
              <a:solidFill>
                <a:srgbClr val="FF0000"/>
              </a:solidFill>
              <a:latin typeface="Century Gothic"/>
            </a:endParaRPr>
          </a:p>
          <a:p>
            <a:pPr algn="ctr">
              <a:defRPr/>
            </a:pPr>
            <a:r>
              <a:rPr lang="fr-FR" sz="1050" i="1">
                <a:solidFill>
                  <a:schemeClr val="tx1"/>
                </a:solidFill>
                <a:latin typeface="Century Gothic"/>
              </a:rPr>
              <a:t>no class</a:t>
            </a:r>
            <a:endParaRPr/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9" name="ZoneTexte 28"/>
          <p:cNvSpPr txBox="1"/>
          <p:nvPr/>
        </p:nvSpPr>
        <p:spPr bwMode="auto">
          <a:xfrm>
            <a:off x="428596" y="2595886"/>
            <a:ext cx="242889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issnprop:hasCancelledISSN</a:t>
            </a:r>
            <a:endParaRPr lang="en-US" sz="1100">
              <a:latin typeface="Century Gothic"/>
            </a:endParaRPr>
          </a:p>
        </p:txBody>
      </p:sp>
      <p:cxnSp>
        <p:nvCxnSpPr>
          <p:cNvPr id="30" name="Forme 69"/>
          <p:cNvCxnSpPr>
            <a:cxnSpLocks/>
            <a:stCxn id="26" idx="0"/>
            <a:endCxn id="32" idx="2"/>
          </p:cNvCxnSpPr>
          <p:nvPr/>
        </p:nvCxnSpPr>
        <p:spPr bwMode="auto">
          <a:xfrm rot="5400000" flipH="1" flipV="1">
            <a:off x="6393668" y="642919"/>
            <a:ext cx="785819" cy="3571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e 69"/>
          <p:cNvCxnSpPr>
            <a:cxnSpLocks/>
            <a:stCxn id="26" idx="0"/>
            <a:endCxn id="34" idx="2"/>
          </p:cNvCxnSpPr>
          <p:nvPr/>
        </p:nvCxnSpPr>
        <p:spPr bwMode="auto">
          <a:xfrm rot="16199999" flipV="1">
            <a:off x="5804306" y="410745"/>
            <a:ext cx="785819" cy="821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à coins arrondis 31"/>
          <p:cNvSpPr/>
          <p:nvPr/>
        </p:nvSpPr>
        <p:spPr bwMode="auto">
          <a:xfrm>
            <a:off x="6286512" y="142852"/>
            <a:ext cx="1357322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cancelled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ISSN-L"</a:t>
            </a:r>
            <a:endParaRPr/>
          </a:p>
        </p:txBody>
      </p:sp>
      <p:sp>
        <p:nvSpPr>
          <p:cNvPr id="34" name="Rectangle à coins arrondis 33"/>
          <p:cNvSpPr/>
          <p:nvPr/>
        </p:nvSpPr>
        <p:spPr bwMode="auto">
          <a:xfrm>
            <a:off x="5143504" y="142852"/>
            <a:ext cx="1285884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"incorrect ISSN"</a:t>
            </a:r>
            <a:endParaRPr/>
          </a:p>
        </p:txBody>
      </p:sp>
      <p:sp>
        <p:nvSpPr>
          <p:cNvPr id="35" name="ZoneTexte 34"/>
          <p:cNvSpPr txBox="1"/>
          <p:nvPr/>
        </p:nvSpPr>
        <p:spPr bwMode="auto">
          <a:xfrm>
            <a:off x="3786182" y="571480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issnprop:hasIncorrectISSN</a:t>
            </a:r>
            <a:endParaRPr lang="en-US" sz="1100">
              <a:latin typeface="Century Gothic"/>
            </a:endParaRPr>
          </a:p>
        </p:txBody>
      </p:sp>
      <p:sp>
        <p:nvSpPr>
          <p:cNvPr id="36" name="ZoneTexte 35"/>
          <p:cNvSpPr txBox="1"/>
          <p:nvPr/>
        </p:nvSpPr>
        <p:spPr bwMode="auto">
          <a:xfrm>
            <a:off x="7000892" y="571480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issnprop:hasCancelledISSN-L</a:t>
            </a:r>
            <a:endParaRPr lang="en-US" sz="1100">
              <a:latin typeface="Century Gothic"/>
            </a:endParaRPr>
          </a:p>
        </p:txBody>
      </p:sp>
      <p:sp>
        <p:nvSpPr>
          <p:cNvPr id="37" name="Rectangle à coins arrondis 36"/>
          <p:cNvSpPr/>
          <p:nvPr/>
        </p:nvSpPr>
        <p:spPr bwMode="auto">
          <a:xfrm>
            <a:off x="785786" y="1428737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#ISSN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bf:Issn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38" name="Forme 69"/>
          <p:cNvCxnSpPr>
            <a:cxnSpLocks/>
            <a:stCxn id="26" idx="1"/>
            <a:endCxn id="37" idx="3"/>
          </p:cNvCxnSpPr>
          <p:nvPr/>
        </p:nvCxnSpPr>
        <p:spPr bwMode="auto">
          <a:xfrm rot="10800000">
            <a:off x="3357554" y="1607332"/>
            <a:ext cx="1857388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 bwMode="auto">
          <a:xfrm>
            <a:off x="3857620" y="1285860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cxnSp>
        <p:nvCxnSpPr>
          <p:cNvPr id="40" name="Forme 69"/>
          <p:cNvCxnSpPr>
            <a:cxnSpLocks/>
            <a:stCxn id="37" idx="0"/>
            <a:endCxn id="42" idx="3"/>
          </p:cNvCxnSpPr>
          <p:nvPr/>
        </p:nvCxnSpPr>
        <p:spPr bwMode="auto">
          <a:xfrm rot="16199999" flipV="1">
            <a:off x="1910935" y="1268002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 bwMode="auto">
          <a:xfrm>
            <a:off x="2071670" y="114298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42" name="Rectangle à coins arrondis 41"/>
          <p:cNvSpPr/>
          <p:nvPr/>
        </p:nvSpPr>
        <p:spPr bwMode="auto">
          <a:xfrm>
            <a:off x="1428728" y="1142985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43" name="Forme 69"/>
          <p:cNvCxnSpPr>
            <a:cxnSpLocks/>
            <a:stCxn id="37" idx="2"/>
            <a:endCxn id="46" idx="3"/>
          </p:cNvCxnSpPr>
          <p:nvPr/>
        </p:nvCxnSpPr>
        <p:spPr bwMode="auto">
          <a:xfrm rot="5400000">
            <a:off x="1875216" y="1768067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 bwMode="auto">
          <a:xfrm>
            <a:off x="2071670" y="1810068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46" name="Rectangle à coins arrondis 45"/>
          <p:cNvSpPr/>
          <p:nvPr/>
        </p:nvSpPr>
        <p:spPr bwMode="auto">
          <a:xfrm>
            <a:off x="357158" y="1857364"/>
            <a:ext cx="150019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idStatus:Valid</a:t>
            </a:r>
            <a:endParaRPr lang="fr-FR" sz="12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50" name="Rectangle à coins arrondis 49"/>
          <p:cNvSpPr/>
          <p:nvPr/>
        </p:nvSpPr>
        <p:spPr bwMode="auto">
          <a:xfrm>
            <a:off x="785786" y="4453275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#ISSN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bf:Issn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51" name="Forme 69"/>
          <p:cNvCxnSpPr>
            <a:cxnSpLocks/>
            <a:stCxn id="27" idx="1"/>
            <a:endCxn id="50" idx="3"/>
          </p:cNvCxnSpPr>
          <p:nvPr/>
        </p:nvCxnSpPr>
        <p:spPr bwMode="auto">
          <a:xfrm rot="10800000" flipV="1">
            <a:off x="3357554" y="4631868"/>
            <a:ext cx="164307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 bwMode="auto">
          <a:xfrm>
            <a:off x="3643306" y="4263102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cxnSp>
        <p:nvCxnSpPr>
          <p:cNvPr id="53" name="Forme 69"/>
          <p:cNvCxnSpPr>
            <a:cxnSpLocks/>
            <a:stCxn id="50" idx="0"/>
            <a:endCxn id="55" idx="3"/>
          </p:cNvCxnSpPr>
          <p:nvPr/>
        </p:nvCxnSpPr>
        <p:spPr bwMode="auto">
          <a:xfrm rot="16199999" flipV="1">
            <a:off x="1910935" y="4292540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 bwMode="auto">
          <a:xfrm>
            <a:off x="2071670" y="416752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55" name="Rectangle à coins arrondis 54"/>
          <p:cNvSpPr/>
          <p:nvPr/>
        </p:nvSpPr>
        <p:spPr bwMode="auto">
          <a:xfrm>
            <a:off x="1428728" y="4167523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56" name="Forme 69"/>
          <p:cNvCxnSpPr>
            <a:cxnSpLocks/>
            <a:stCxn id="50" idx="2"/>
          </p:cNvCxnSpPr>
          <p:nvPr/>
        </p:nvCxnSpPr>
        <p:spPr bwMode="auto">
          <a:xfrm rot="5400000">
            <a:off x="1875216" y="4792605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/>
          <p:cNvSpPr txBox="1"/>
          <p:nvPr/>
        </p:nvSpPr>
        <p:spPr bwMode="auto">
          <a:xfrm>
            <a:off x="2071670" y="4834606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58" name="Rectangle à coins arrondis 57"/>
          <p:cNvSpPr/>
          <p:nvPr/>
        </p:nvSpPr>
        <p:spPr bwMode="auto">
          <a:xfrm>
            <a:off x="142844" y="4881902"/>
            <a:ext cx="1714512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idStatus:Cancelled</a:t>
            </a:r>
            <a:endParaRPr lang="fr-FR" sz="12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786050" y="16430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" name="Rectangle 61"/>
          <p:cNvSpPr/>
          <p:nvPr/>
        </p:nvSpPr>
        <p:spPr bwMode="auto">
          <a:xfrm>
            <a:off x="3000364" y="16430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 bwMode="auto">
          <a:xfrm>
            <a:off x="2786050" y="445327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" name="Rectangle 63"/>
          <p:cNvSpPr/>
          <p:nvPr/>
        </p:nvSpPr>
        <p:spPr bwMode="auto">
          <a:xfrm>
            <a:off x="3000364" y="445327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5" name="Forme 69"/>
          <p:cNvCxnSpPr>
            <a:cxnSpLocks/>
            <a:stCxn id="61" idx="2"/>
            <a:endCxn id="63" idx="0"/>
          </p:cNvCxnSpPr>
          <p:nvPr/>
        </p:nvCxnSpPr>
        <p:spPr bwMode="auto">
          <a:xfrm rot="5400000">
            <a:off x="1523814" y="3119600"/>
            <a:ext cx="2667348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Forme 69"/>
          <p:cNvCxnSpPr>
            <a:cxnSpLocks/>
            <a:stCxn id="64" idx="0"/>
            <a:endCxn id="62" idx="2"/>
          </p:cNvCxnSpPr>
          <p:nvPr/>
        </p:nvCxnSpPr>
        <p:spPr bwMode="auto">
          <a:xfrm rot="5400000" flipH="1" flipV="1">
            <a:off x="1738128" y="3119600"/>
            <a:ext cx="2667348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/>
          <p:cNvSpPr txBox="1"/>
          <p:nvPr/>
        </p:nvSpPr>
        <p:spPr bwMode="auto">
          <a:xfrm>
            <a:off x="3071802" y="2881638"/>
            <a:ext cx="214314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issnprop:cancelledInFavorOf</a:t>
            </a:r>
            <a:endParaRPr lang="en-US" sz="1100">
              <a:latin typeface="Century Gothic"/>
            </a:endParaRPr>
          </a:p>
        </p:txBody>
      </p:sp>
      <p:sp>
        <p:nvSpPr>
          <p:cNvPr id="72" name="Rectangle à coins arrondis 71"/>
          <p:cNvSpPr/>
          <p:nvPr/>
        </p:nvSpPr>
        <p:spPr bwMode="auto">
          <a:xfrm>
            <a:off x="5429256" y="5596282"/>
            <a:ext cx="264320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#Record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schema:CreativeWork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73" name="Forme 69"/>
          <p:cNvCxnSpPr>
            <a:cxnSpLocks/>
            <a:stCxn id="72" idx="0"/>
            <a:endCxn id="27" idx="2"/>
          </p:cNvCxnSpPr>
          <p:nvPr/>
        </p:nvCxnSpPr>
        <p:spPr bwMode="auto">
          <a:xfrm rot="5400000" flipH="1" flipV="1">
            <a:off x="6393668" y="5239092"/>
            <a:ext cx="714380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/>
          <p:cNvSpPr txBox="1"/>
          <p:nvPr/>
        </p:nvSpPr>
        <p:spPr bwMode="auto">
          <a:xfrm>
            <a:off x="5286412" y="5167654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schema:mainEntity</a:t>
            </a:r>
            <a:endParaRPr lang="en-US" sz="1100">
              <a:latin typeface="Century Gothic"/>
            </a:endParaRPr>
          </a:p>
        </p:txBody>
      </p:sp>
      <p:sp>
        <p:nvSpPr>
          <p:cNvPr id="89" name="Rectangle à coins arrondis 88"/>
          <p:cNvSpPr/>
          <p:nvPr/>
        </p:nvSpPr>
        <p:spPr bwMode="auto">
          <a:xfrm>
            <a:off x="5286380" y="2786058"/>
            <a:ext cx="264320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#Record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schema:CreativeWork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90" name="Forme 69"/>
          <p:cNvCxnSpPr>
            <a:cxnSpLocks/>
            <a:stCxn id="89" idx="0"/>
            <a:endCxn id="26" idx="2"/>
          </p:cNvCxnSpPr>
          <p:nvPr/>
        </p:nvCxnSpPr>
        <p:spPr bwMode="auto">
          <a:xfrm rot="5400000" flipH="1" flipV="1">
            <a:off x="6215075" y="2393150"/>
            <a:ext cx="785817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/>
          <p:cNvSpPr txBox="1"/>
          <p:nvPr/>
        </p:nvSpPr>
        <p:spPr bwMode="auto">
          <a:xfrm>
            <a:off x="5143536" y="2285992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schema:mainEntity</a:t>
            </a:r>
            <a:endParaRPr lang="en-US" sz="1100">
              <a:latin typeface="Century Gothic"/>
            </a:endParaRPr>
          </a:p>
        </p:txBody>
      </p:sp>
      <p:cxnSp>
        <p:nvCxnSpPr>
          <p:cNvPr id="95" name="Forme 69"/>
          <p:cNvCxnSpPr>
            <a:cxnSpLocks/>
            <a:stCxn id="89" idx="2"/>
            <a:endCxn id="100" idx="3"/>
          </p:cNvCxnSpPr>
          <p:nvPr/>
        </p:nvCxnSpPr>
        <p:spPr bwMode="auto">
          <a:xfrm rot="5400000">
            <a:off x="6268653" y="3446860"/>
            <a:ext cx="428628" cy="250033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ZoneTexte 97"/>
          <p:cNvSpPr txBox="1"/>
          <p:nvPr/>
        </p:nvSpPr>
        <p:spPr bwMode="auto">
          <a:xfrm>
            <a:off x="6572264" y="3381703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100" name="Rectangle à coins arrondis 99"/>
          <p:cNvSpPr/>
          <p:nvPr/>
        </p:nvSpPr>
        <p:spPr bwMode="auto">
          <a:xfrm>
            <a:off x="3500430" y="3429000"/>
            <a:ext cx="2857520" cy="71438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recordStatus:Register</a:t>
            </a:r>
            <a:endParaRPr lang="fr-FR" sz="1200">
              <a:solidFill>
                <a:prstClr val="black"/>
              </a:solidFill>
              <a:latin typeface="Century Gothic"/>
            </a:endParaRPr>
          </a:p>
          <a:p>
            <a:pPr algn="r">
              <a:defRPr/>
            </a:pPr>
            <a:r>
              <a:rPr lang="fr-FR" sz="1200" i="1">
                <a:solidFill>
                  <a:prstClr val="black"/>
                </a:solidFill>
                <a:latin typeface="Century Gothic"/>
              </a:rPr>
              <a:t>or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  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recordStatus:Legacy</a:t>
            </a:r>
            <a:endParaRPr lang="fr-FR" sz="1200">
              <a:solidFill>
                <a:prstClr val="black"/>
              </a:solidFill>
              <a:latin typeface="Century Gothic"/>
            </a:endParaRPr>
          </a:p>
          <a:p>
            <a:pPr algn="r">
              <a:defRPr/>
            </a:pPr>
            <a:r>
              <a:rPr lang="fr-FR" sz="1200" i="1">
                <a:solidFill>
                  <a:prstClr val="black"/>
                </a:solidFill>
                <a:latin typeface="Century Gothic"/>
              </a:rPr>
              <a:t>or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  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recordStatus:Provisional</a:t>
            </a:r>
            <a:endParaRPr lang="fr-FR" sz="1200">
              <a:solidFill>
                <a:prstClr val="black"/>
              </a:solidFill>
              <a:latin typeface="Century Gothic"/>
            </a:endParaRPr>
          </a:p>
          <a:p>
            <a:pPr algn="r">
              <a:defRPr/>
            </a:pPr>
            <a:endParaRPr lang="fr-FR" sz="120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109" name="Forme 69"/>
          <p:cNvCxnSpPr>
            <a:cxnSpLocks/>
            <a:stCxn id="72" idx="2"/>
            <a:endCxn id="111" idx="3"/>
          </p:cNvCxnSpPr>
          <p:nvPr/>
        </p:nvCxnSpPr>
        <p:spPr bwMode="auto">
          <a:xfrm rot="5400000">
            <a:off x="6553379" y="6124758"/>
            <a:ext cx="154453" cy="240509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ZoneTexte 109"/>
          <p:cNvSpPr txBox="1"/>
          <p:nvPr/>
        </p:nvSpPr>
        <p:spPr bwMode="auto">
          <a:xfrm>
            <a:off x="6724664" y="6167786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111" name="Rectangle à coins arrondis 110"/>
          <p:cNvSpPr/>
          <p:nvPr/>
        </p:nvSpPr>
        <p:spPr bwMode="auto">
          <a:xfrm>
            <a:off x="4367210" y="6215083"/>
            <a:ext cx="2143140" cy="21431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recordStatus:Cancelled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" name="Rectangle à coins arrondis 60"/>
          <p:cNvSpPr/>
          <p:nvPr/>
        </p:nvSpPr>
        <p:spPr bwMode="auto">
          <a:xfrm>
            <a:off x="5500694" y="3476296"/>
            <a:ext cx="3429024" cy="30003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5000"/>
            </a:schemeClr>
          </a:solidFill>
          <a:ln w="2222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Same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modelling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pattern for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each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event</a:t>
            </a:r>
            <a:endParaRPr lang="fr-FR" sz="1100" i="1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59" name="Rectangle à coins arrondis 58"/>
          <p:cNvSpPr/>
          <p:nvPr/>
        </p:nvSpPr>
        <p:spPr bwMode="auto">
          <a:xfrm>
            <a:off x="214282" y="3476296"/>
            <a:ext cx="4572032" cy="30003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5000"/>
            </a:schemeClr>
          </a:solidFill>
          <a:ln w="2222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3" name="Rectangle à coins arrondis 2"/>
          <p:cNvSpPr/>
          <p:nvPr/>
        </p:nvSpPr>
        <p:spPr bwMode="auto">
          <a:xfrm>
            <a:off x="357158" y="2428868"/>
            <a:ext cx="2500330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ReferencePublicationEvent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schema:PublicationEvent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357158" y="4762180"/>
            <a:ext cx="2000264" cy="714380"/>
          </a:xfrm>
          <a:prstGeom prst="roundRect">
            <a:avLst>
              <a:gd name="adj" fmla="val 1528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PublicationPlace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-{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placename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} : </a:t>
            </a:r>
            <a:endParaRPr/>
          </a:p>
          <a:p>
            <a:pPr algn="ctr">
              <a:defRPr/>
            </a:pPr>
            <a:r>
              <a:rPr lang="fr-FR" sz="1050">
                <a:solidFill>
                  <a:prstClr val="black"/>
                </a:solidFill>
                <a:latin typeface="Century Gothic"/>
              </a:rPr>
              <a:t>schema:Place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6" name="Forme 69"/>
          <p:cNvCxnSpPr>
            <a:cxnSpLocks/>
            <a:stCxn id="78" idx="2"/>
            <a:endCxn id="3" idx="3"/>
          </p:cNvCxnSpPr>
          <p:nvPr/>
        </p:nvCxnSpPr>
        <p:spPr bwMode="auto">
          <a:xfrm rot="5400000">
            <a:off x="3393257" y="1678785"/>
            <a:ext cx="500066" cy="157160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 bwMode="auto">
          <a:xfrm>
            <a:off x="2857456" y="2357430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schema:publication</a:t>
            </a:r>
            <a:endParaRPr lang="en-US" sz="1100">
              <a:latin typeface="Century Gothic"/>
            </a:endParaRPr>
          </a:p>
        </p:txBody>
      </p:sp>
      <p:sp>
        <p:nvSpPr>
          <p:cNvPr id="14" name="Rectangle à coins arrondis 13"/>
          <p:cNvSpPr/>
          <p:nvPr/>
        </p:nvSpPr>
        <p:spPr bwMode="auto">
          <a:xfrm>
            <a:off x="2571736" y="4762180"/>
            <a:ext cx="1928826" cy="809960"/>
          </a:xfrm>
          <a:prstGeom prst="roundRect">
            <a:avLst>
              <a:gd name="adj" fmla="val 19681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#Publisher-{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publisherName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19" name="Forme 69"/>
          <p:cNvCxnSpPr>
            <a:cxnSpLocks/>
            <a:stCxn id="114" idx="2"/>
            <a:endCxn id="14" idx="3"/>
          </p:cNvCxnSpPr>
          <p:nvPr/>
        </p:nvCxnSpPr>
        <p:spPr bwMode="auto">
          <a:xfrm rot="5400000">
            <a:off x="3345730" y="3369386"/>
            <a:ext cx="2952606" cy="64294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 bwMode="auto">
          <a:xfrm>
            <a:off x="5143504" y="3024514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schema:publisher</a:t>
            </a:r>
            <a:endParaRPr lang="en-US" sz="1100">
              <a:latin typeface="Century Gothic"/>
            </a:endParaRPr>
          </a:p>
        </p:txBody>
      </p:sp>
      <p:sp>
        <p:nvSpPr>
          <p:cNvPr id="27" name="ZoneTexte 26"/>
          <p:cNvSpPr txBox="1"/>
          <p:nvPr/>
        </p:nvSpPr>
        <p:spPr bwMode="auto">
          <a:xfrm>
            <a:off x="4143372" y="-24"/>
            <a:ext cx="22860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schema:parentOrganization</a:t>
            </a:r>
            <a:endParaRPr lang="en-US" sz="1100">
              <a:latin typeface="Century Gothic"/>
            </a:endParaRPr>
          </a:p>
        </p:txBody>
      </p:sp>
      <p:sp>
        <p:nvSpPr>
          <p:cNvPr id="28" name="Rectangle à coins arrondis 27"/>
          <p:cNvSpPr/>
          <p:nvPr/>
        </p:nvSpPr>
        <p:spPr bwMode="auto">
          <a:xfrm>
            <a:off x="357158" y="5833750"/>
            <a:ext cx="3643338" cy="571504"/>
          </a:xfrm>
          <a:prstGeom prst="roundRect">
            <a:avLst>
              <a:gd name="adj" fmla="val 193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PublicationPlace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-{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placename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}-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GeoCoordinates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schema:GeoCoordinates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 </a:t>
            </a:r>
            <a:endParaRPr/>
          </a:p>
        </p:txBody>
      </p:sp>
      <p:cxnSp>
        <p:nvCxnSpPr>
          <p:cNvPr id="29" name="Forme 69"/>
          <p:cNvCxnSpPr>
            <a:cxnSpLocks/>
            <a:stCxn id="5" idx="2"/>
            <a:endCxn id="185" idx="0"/>
          </p:cNvCxnSpPr>
          <p:nvPr/>
        </p:nvCxnSpPr>
        <p:spPr bwMode="auto">
          <a:xfrm rot="5400000">
            <a:off x="1178695" y="5655154"/>
            <a:ext cx="357190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 bwMode="auto">
          <a:xfrm>
            <a:off x="1071538" y="5500702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schema:geo</a:t>
            </a:r>
            <a:endParaRPr lang="en-US" sz="1100">
              <a:latin typeface="Century Gothic"/>
            </a:endParaRPr>
          </a:p>
        </p:txBody>
      </p:sp>
      <p:cxnSp>
        <p:nvCxnSpPr>
          <p:cNvPr id="37" name="Forme 69"/>
          <p:cNvCxnSpPr>
            <a:cxnSpLocks/>
            <a:stCxn id="161" idx="2"/>
            <a:endCxn id="60" idx="0"/>
          </p:cNvCxnSpPr>
          <p:nvPr/>
        </p:nvCxnSpPr>
        <p:spPr bwMode="auto">
          <a:xfrm rot="16199999" flipH="1">
            <a:off x="5852095" y="2577532"/>
            <a:ext cx="1404618" cy="6786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 bwMode="auto">
          <a:xfrm>
            <a:off x="6215074" y="2643182"/>
            <a:ext cx="192885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schema:publication</a:t>
            </a:r>
            <a:endParaRPr lang="en-US" sz="1100">
              <a:latin typeface="Century Gothic"/>
            </a:endParaRPr>
          </a:p>
        </p:txBody>
      </p:sp>
      <p:sp>
        <p:nvSpPr>
          <p:cNvPr id="62" name="ZoneTexte 61"/>
          <p:cNvSpPr txBox="1"/>
          <p:nvPr/>
        </p:nvSpPr>
        <p:spPr bwMode="auto">
          <a:xfrm>
            <a:off x="285720" y="428625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schema:location</a:t>
            </a:r>
            <a:endParaRPr lang="en-US" sz="1100">
              <a:latin typeface="Century Gothic"/>
            </a:endParaRPr>
          </a:p>
        </p:txBody>
      </p:sp>
      <p:sp>
        <p:nvSpPr>
          <p:cNvPr id="77" name="ZoneTexte 76"/>
          <p:cNvSpPr txBox="1"/>
          <p:nvPr/>
        </p:nvSpPr>
        <p:spPr bwMode="auto"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/>
              <a:t>Relative </a:t>
            </a:r>
            <a:r>
              <a:rPr lang="fr-FR" sz="1200" i="1"/>
              <a:t>URIs</a:t>
            </a:r>
            <a:r>
              <a:rPr lang="fr-FR" sz="1200" i="1"/>
              <a:t> (</a:t>
            </a:r>
            <a:r>
              <a:rPr lang="fr-FR" sz="1200" i="1"/>
              <a:t>beginning</a:t>
            </a:r>
            <a:r>
              <a:rPr lang="fr-FR" sz="1200" i="1"/>
              <a:t> </a:t>
            </a:r>
            <a:r>
              <a:rPr lang="fr-FR" sz="1200" i="1"/>
              <a:t>with</a:t>
            </a:r>
            <a:r>
              <a:rPr lang="fr-FR" sz="1200" i="1"/>
              <a:t> #) are relative to the ISSN </a:t>
            </a:r>
            <a:r>
              <a:rPr lang="fr-FR" sz="1200" i="1"/>
              <a:t>resource</a:t>
            </a:r>
            <a:r>
              <a:rPr lang="fr-FR" sz="1200" i="1"/>
              <a:t> URI : http://issn.org/resource/ISSN/{ISSN}</a:t>
            </a:r>
            <a:endParaRPr lang="en-US" sz="1200" i="1"/>
          </a:p>
        </p:txBody>
      </p:sp>
      <p:sp>
        <p:nvSpPr>
          <p:cNvPr id="35" name="Rectangle à coins arrondis 34"/>
          <p:cNvSpPr/>
          <p:nvPr/>
        </p:nvSpPr>
        <p:spPr bwMode="auto">
          <a:xfrm>
            <a:off x="4143340" y="1428735"/>
            <a:ext cx="2714676" cy="785818"/>
          </a:xfrm>
          <a:prstGeom prst="roundRect">
            <a:avLst>
              <a:gd name="adj" fmla="val 18680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46" name="Forme 69"/>
          <p:cNvCxnSpPr>
            <a:cxnSpLocks/>
            <a:stCxn id="35" idx="1"/>
            <a:endCxn id="54" idx="3"/>
          </p:cNvCxnSpPr>
          <p:nvPr/>
        </p:nvCxnSpPr>
        <p:spPr bwMode="auto">
          <a:xfrm rot="10800000">
            <a:off x="3295640" y="1571613"/>
            <a:ext cx="847700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 bwMode="auto">
          <a:xfrm>
            <a:off x="3295640" y="1285860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dct:spatial</a:t>
            </a:r>
            <a:endParaRPr lang="en-US" sz="1100">
              <a:latin typeface="Century Gothic"/>
            </a:endParaRPr>
          </a:p>
        </p:txBody>
      </p:sp>
      <p:sp>
        <p:nvSpPr>
          <p:cNvPr id="54" name="Rectangle à coins arrondis 53"/>
          <p:cNvSpPr/>
          <p:nvPr/>
        </p:nvSpPr>
        <p:spPr bwMode="auto">
          <a:xfrm>
            <a:off x="1785918" y="1428735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MARC Country URI</a:t>
            </a:r>
            <a:endParaRPr lang="fr-FR" sz="10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66" name="Rectangle à coins arrondis 65"/>
          <p:cNvSpPr/>
          <p:nvPr/>
        </p:nvSpPr>
        <p:spPr bwMode="auto">
          <a:xfrm>
            <a:off x="1785918" y="1857364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ISO Country URI</a:t>
            </a:r>
            <a:endParaRPr lang="fr-FR" sz="100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67" name="Forme 69"/>
          <p:cNvCxnSpPr>
            <a:cxnSpLocks/>
            <a:stCxn id="35" idx="1"/>
            <a:endCxn id="66" idx="3"/>
          </p:cNvCxnSpPr>
          <p:nvPr/>
        </p:nvCxnSpPr>
        <p:spPr bwMode="auto">
          <a:xfrm rot="10800000" flipV="1">
            <a:off x="3295640" y="1821644"/>
            <a:ext cx="847700" cy="17859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/>
          <p:cNvSpPr txBox="1"/>
          <p:nvPr/>
        </p:nvSpPr>
        <p:spPr bwMode="auto">
          <a:xfrm>
            <a:off x="3295640" y="2000240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dct:spatial</a:t>
            </a:r>
            <a:endParaRPr lang="en-US" sz="1100">
              <a:latin typeface="Century Gothic"/>
            </a:endParaRPr>
          </a:p>
        </p:txBody>
      </p:sp>
      <p:cxnSp>
        <p:nvCxnSpPr>
          <p:cNvPr id="52" name="Forme 69"/>
          <p:cNvCxnSpPr>
            <a:cxnSpLocks/>
            <a:stCxn id="3" idx="0"/>
            <a:endCxn id="66" idx="1"/>
          </p:cNvCxnSpPr>
          <p:nvPr/>
        </p:nvCxnSpPr>
        <p:spPr bwMode="auto">
          <a:xfrm rot="5400000" flipH="1" flipV="1">
            <a:off x="1482306" y="2125257"/>
            <a:ext cx="428628" cy="17859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Forme 69"/>
          <p:cNvCxnSpPr>
            <a:cxnSpLocks/>
            <a:stCxn id="3" idx="0"/>
            <a:endCxn id="54" idx="1"/>
          </p:cNvCxnSpPr>
          <p:nvPr/>
        </p:nvCxnSpPr>
        <p:spPr bwMode="auto">
          <a:xfrm rot="5400000" flipH="1" flipV="1">
            <a:off x="1267992" y="1910943"/>
            <a:ext cx="857256" cy="17859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 bwMode="auto">
          <a:xfrm>
            <a:off x="4357654" y="20716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" name="ZoneTexte 80"/>
          <p:cNvSpPr txBox="1"/>
          <p:nvPr/>
        </p:nvSpPr>
        <p:spPr bwMode="auto">
          <a:xfrm>
            <a:off x="214282" y="1452878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schema:location</a:t>
            </a:r>
            <a:endParaRPr lang="en-US" sz="1100">
              <a:latin typeface="Century Gothic"/>
            </a:endParaRPr>
          </a:p>
        </p:txBody>
      </p:sp>
      <p:sp>
        <p:nvSpPr>
          <p:cNvPr id="100" name="Rectangle à coins arrondis 99"/>
          <p:cNvSpPr/>
          <p:nvPr/>
        </p:nvSpPr>
        <p:spPr bwMode="auto">
          <a:xfrm>
            <a:off x="357158" y="3643314"/>
            <a:ext cx="2500330" cy="571504"/>
          </a:xfrm>
          <a:prstGeom prst="roundRect">
            <a:avLst>
              <a:gd name="adj" fmla="val 2144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EarliestPublicationEvent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schema:PublicationEvent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102" name="Forme 69"/>
          <p:cNvCxnSpPr>
            <a:cxnSpLocks/>
            <a:stCxn id="100" idx="2"/>
            <a:endCxn id="5" idx="0"/>
          </p:cNvCxnSpPr>
          <p:nvPr/>
        </p:nvCxnSpPr>
        <p:spPr bwMode="auto">
          <a:xfrm rot="5400000">
            <a:off x="1208626" y="4363483"/>
            <a:ext cx="547362" cy="250033"/>
          </a:xfrm>
          <a:prstGeom prst="bentConnector3">
            <a:avLst>
              <a:gd name="adj1" fmla="val 62375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Forme 69"/>
          <p:cNvCxnSpPr>
            <a:cxnSpLocks/>
            <a:stCxn id="100" idx="2"/>
            <a:endCxn id="14" idx="0"/>
          </p:cNvCxnSpPr>
          <p:nvPr/>
        </p:nvCxnSpPr>
        <p:spPr bwMode="auto">
          <a:xfrm rot="16199999" flipH="1">
            <a:off x="2298055" y="3524086"/>
            <a:ext cx="547362" cy="19288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 bwMode="auto">
          <a:xfrm>
            <a:off x="1714480" y="4286256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schema:publishedBy</a:t>
            </a:r>
            <a:endParaRPr lang="en-US" sz="1100">
              <a:latin typeface="Century Gothic"/>
            </a:endParaRPr>
          </a:p>
        </p:txBody>
      </p:sp>
      <p:cxnSp>
        <p:nvCxnSpPr>
          <p:cNvPr id="117" name="Forme 69"/>
          <p:cNvCxnSpPr>
            <a:cxnSpLocks/>
            <a:stCxn id="100" idx="3"/>
            <a:endCxn id="121" idx="1"/>
          </p:cNvCxnSpPr>
          <p:nvPr/>
        </p:nvCxnSpPr>
        <p:spPr bwMode="auto">
          <a:xfrm>
            <a:off x="2857488" y="3929066"/>
            <a:ext cx="1428760" cy="1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ZoneTexte 118"/>
          <p:cNvSpPr txBox="1"/>
          <p:nvPr/>
        </p:nvSpPr>
        <p:spPr bwMode="auto">
          <a:xfrm>
            <a:off x="2786081" y="3596017"/>
            <a:ext cx="1501605" cy="259439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dct:temporal</a:t>
            </a:r>
            <a:endParaRPr lang="en-US" sz="1100">
              <a:latin typeface="Century Gothic"/>
            </a:endParaRPr>
          </a:p>
        </p:txBody>
      </p:sp>
      <p:sp>
        <p:nvSpPr>
          <p:cNvPr id="121" name="Rectangle à coins arrondis 120"/>
          <p:cNvSpPr/>
          <p:nvPr/>
        </p:nvSpPr>
        <p:spPr bwMode="auto">
          <a:xfrm>
            <a:off x="4286248" y="3857628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130" name="ZoneTexte 129"/>
          <p:cNvSpPr txBox="1"/>
          <p:nvPr/>
        </p:nvSpPr>
        <p:spPr bwMode="auto">
          <a:xfrm>
            <a:off x="214282" y="1881506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schema:location</a:t>
            </a:r>
            <a:endParaRPr lang="en-US" sz="1100">
              <a:latin typeface="Century Gothic"/>
            </a:endParaRPr>
          </a:p>
        </p:txBody>
      </p:sp>
      <p:cxnSp>
        <p:nvCxnSpPr>
          <p:cNvPr id="146" name="Forme 69"/>
          <p:cNvCxnSpPr>
            <a:cxnSpLocks/>
            <a:stCxn id="78" idx="2"/>
            <a:endCxn id="100" idx="0"/>
          </p:cNvCxnSpPr>
          <p:nvPr/>
        </p:nvCxnSpPr>
        <p:spPr bwMode="auto">
          <a:xfrm rot="5400000">
            <a:off x="2303828" y="1518050"/>
            <a:ext cx="1428760" cy="2821769"/>
          </a:xfrm>
          <a:prstGeom prst="bentConnector3">
            <a:avLst>
              <a:gd name="adj1" fmla="val 7370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ZoneTexte 150"/>
          <p:cNvSpPr txBox="1"/>
          <p:nvPr/>
        </p:nvSpPr>
        <p:spPr bwMode="auto">
          <a:xfrm>
            <a:off x="2857488" y="3000372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schema:publication</a:t>
            </a:r>
            <a:endParaRPr lang="en-US" sz="1100">
              <a:latin typeface="Century Gothic"/>
            </a:endParaRPr>
          </a:p>
        </p:txBody>
      </p:sp>
      <p:cxnSp>
        <p:nvCxnSpPr>
          <p:cNvPr id="152" name="Forme 69"/>
          <p:cNvCxnSpPr>
            <a:cxnSpLocks/>
            <a:stCxn id="35" idx="3"/>
            <a:endCxn id="156" idx="1"/>
          </p:cNvCxnSpPr>
          <p:nvPr/>
        </p:nvCxnSpPr>
        <p:spPr bwMode="auto">
          <a:xfrm flipV="1">
            <a:off x="6858016" y="1643050"/>
            <a:ext cx="1357322" cy="1785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Forme 69"/>
          <p:cNvCxnSpPr>
            <a:cxnSpLocks/>
            <a:stCxn id="35" idx="3"/>
            <a:endCxn id="157" idx="1"/>
          </p:cNvCxnSpPr>
          <p:nvPr/>
        </p:nvCxnSpPr>
        <p:spPr bwMode="auto">
          <a:xfrm>
            <a:off x="6858016" y="1821645"/>
            <a:ext cx="1357322" cy="1071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53"/>
          <p:cNvSpPr txBox="1"/>
          <p:nvPr/>
        </p:nvSpPr>
        <p:spPr bwMode="auto">
          <a:xfrm>
            <a:off x="6786610" y="1285860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schema:startDate</a:t>
            </a:r>
            <a:endParaRPr lang="en-US" sz="1100">
              <a:latin typeface="Century Gothic"/>
            </a:endParaRPr>
          </a:p>
        </p:txBody>
      </p:sp>
      <p:sp>
        <p:nvSpPr>
          <p:cNvPr id="155" name="ZoneTexte 154"/>
          <p:cNvSpPr txBox="1"/>
          <p:nvPr/>
        </p:nvSpPr>
        <p:spPr bwMode="auto">
          <a:xfrm>
            <a:off x="6786610" y="2024382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schema:endDate</a:t>
            </a:r>
            <a:endParaRPr lang="en-US" sz="1100">
              <a:latin typeface="Century Gothic"/>
            </a:endParaRPr>
          </a:p>
        </p:txBody>
      </p:sp>
      <p:sp>
        <p:nvSpPr>
          <p:cNvPr id="156" name="Rectangle à coins arrondis 155"/>
          <p:cNvSpPr/>
          <p:nvPr/>
        </p:nvSpPr>
        <p:spPr bwMode="auto">
          <a:xfrm>
            <a:off x="8215338" y="157161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157" name="Rectangle à coins arrondis 156"/>
          <p:cNvSpPr/>
          <p:nvPr/>
        </p:nvSpPr>
        <p:spPr bwMode="auto">
          <a:xfrm>
            <a:off x="8215338" y="185736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161" name="Rectangle 160"/>
          <p:cNvSpPr/>
          <p:nvPr/>
        </p:nvSpPr>
        <p:spPr bwMode="auto">
          <a:xfrm>
            <a:off x="6143635" y="20716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" name="Rectangle à coins arrondis 162"/>
          <p:cNvSpPr/>
          <p:nvPr/>
        </p:nvSpPr>
        <p:spPr bwMode="auto">
          <a:xfrm>
            <a:off x="1428728" y="524978"/>
            <a:ext cx="2000264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IssuingBody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–{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name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169" name="Forme 69"/>
          <p:cNvCxnSpPr>
            <a:cxnSpLocks/>
            <a:stCxn id="74" idx="0"/>
            <a:endCxn id="116" idx="3"/>
          </p:cNvCxnSpPr>
          <p:nvPr/>
        </p:nvCxnSpPr>
        <p:spPr bwMode="auto">
          <a:xfrm rot="16199999" flipV="1">
            <a:off x="4036214" y="321447"/>
            <a:ext cx="500066" cy="171451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à coins arrondis 171"/>
          <p:cNvSpPr/>
          <p:nvPr/>
        </p:nvSpPr>
        <p:spPr bwMode="auto">
          <a:xfrm>
            <a:off x="6929454" y="524978"/>
            <a:ext cx="2000264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IssuingBody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–{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name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173" name="Forme 69"/>
          <p:cNvCxnSpPr>
            <a:cxnSpLocks/>
            <a:stCxn id="73" idx="0"/>
            <a:endCxn id="113" idx="1"/>
          </p:cNvCxnSpPr>
          <p:nvPr/>
        </p:nvCxnSpPr>
        <p:spPr bwMode="auto">
          <a:xfrm rot="5400000" flipH="1" flipV="1">
            <a:off x="5893602" y="392885"/>
            <a:ext cx="500066" cy="157163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ZoneTexte 179"/>
          <p:cNvSpPr txBox="1"/>
          <p:nvPr/>
        </p:nvSpPr>
        <p:spPr bwMode="auto">
          <a:xfrm>
            <a:off x="3500430" y="381308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schema:contributor</a:t>
            </a:r>
            <a:endParaRPr lang="fr-FR" sz="1100">
              <a:latin typeface="Century Gothic"/>
            </a:endParaRPr>
          </a:p>
        </p:txBody>
      </p:sp>
      <p:cxnSp>
        <p:nvCxnSpPr>
          <p:cNvPr id="181" name="Forme 69"/>
          <p:cNvCxnSpPr>
            <a:cxnSpLocks/>
            <a:stCxn id="163" idx="0"/>
            <a:endCxn id="172" idx="0"/>
          </p:cNvCxnSpPr>
          <p:nvPr/>
        </p:nvCxnSpPr>
        <p:spPr bwMode="auto">
          <a:xfrm rot="5400000" flipH="1" flipV="1">
            <a:off x="5179223" y="-2225385"/>
            <a:ext cx="1587" cy="5500726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 bwMode="auto">
          <a:xfrm>
            <a:off x="1285852" y="58337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Rectangle à coins arrondis 59"/>
          <p:cNvSpPr/>
          <p:nvPr/>
        </p:nvSpPr>
        <p:spPr bwMode="auto">
          <a:xfrm>
            <a:off x="5643570" y="3619172"/>
            <a:ext cx="2500330" cy="928694"/>
          </a:xfrm>
          <a:prstGeom prst="roundRect">
            <a:avLst>
              <a:gd name="adj" fmla="val 2144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Aft>
                <a:spcPts val="600"/>
              </a:spcAft>
              <a:defRPr/>
            </a:pPr>
            <a:r>
              <a:rPr lang="fr-FR" sz="1100" i="1">
                <a:solidFill>
                  <a:schemeClr val="tx1"/>
                </a:solidFill>
                <a:latin typeface="Century Gothic"/>
              </a:rPr>
              <a:t>Other</a:t>
            </a:r>
            <a:r>
              <a:rPr lang="fr-FR" sz="1100" i="1">
                <a:solidFill>
                  <a:schemeClr val="tx1"/>
                </a:solidFill>
                <a:latin typeface="Century Gothic"/>
              </a:rPr>
              <a:t> publication </a:t>
            </a:r>
            <a:r>
              <a:rPr lang="fr-FR" sz="1100" i="1">
                <a:solidFill>
                  <a:schemeClr val="tx1"/>
                </a:solidFill>
                <a:latin typeface="Century Gothic"/>
              </a:rPr>
              <a:t>events</a:t>
            </a:r>
            <a:r>
              <a:rPr lang="fr-FR" sz="1100" i="1">
                <a:solidFill>
                  <a:schemeClr val="tx1"/>
                </a:solidFill>
                <a:latin typeface="Century Gothic"/>
              </a:rPr>
              <a:t> : </a:t>
            </a:r>
            <a:endParaRPr/>
          </a:p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InterveningPublicationEvent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{n}</a:t>
            </a:r>
            <a:endParaRPr/>
          </a:p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LatestPublicationEvent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schema:PublicationEvent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63" name="Forme 69"/>
          <p:cNvCxnSpPr>
            <a:cxnSpLocks/>
            <a:stCxn id="60" idx="2"/>
            <a:endCxn id="69" idx="0"/>
          </p:cNvCxnSpPr>
          <p:nvPr/>
        </p:nvCxnSpPr>
        <p:spPr bwMode="auto">
          <a:xfrm rot="5400000">
            <a:off x="6482967" y="4494288"/>
            <a:ext cx="357190" cy="4643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Forme 69"/>
          <p:cNvCxnSpPr>
            <a:cxnSpLocks/>
            <a:stCxn id="60" idx="2"/>
            <a:endCxn id="75" idx="0"/>
          </p:cNvCxnSpPr>
          <p:nvPr/>
        </p:nvCxnSpPr>
        <p:spPr bwMode="auto">
          <a:xfrm rot="16199999" flipH="1">
            <a:off x="7322363" y="4119238"/>
            <a:ext cx="357190" cy="12144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à coins arrondis 68"/>
          <p:cNvSpPr/>
          <p:nvPr/>
        </p:nvSpPr>
        <p:spPr bwMode="auto">
          <a:xfrm>
            <a:off x="5643570" y="4905056"/>
            <a:ext cx="1571636" cy="571504"/>
          </a:xfrm>
          <a:prstGeom prst="roundRect">
            <a:avLst>
              <a:gd name="adj" fmla="val 1968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00" b="1">
                <a:solidFill>
                  <a:schemeClr val="tx1"/>
                </a:solidFill>
                <a:latin typeface="Century Gothic"/>
              </a:rPr>
              <a:t>#Publisher-{</a:t>
            </a:r>
            <a:r>
              <a:rPr lang="fr-FR" sz="1000" b="1">
                <a:solidFill>
                  <a:schemeClr val="tx1"/>
                </a:solidFill>
                <a:latin typeface="Century Gothic"/>
              </a:rPr>
              <a:t>publisherName</a:t>
            </a:r>
            <a:r>
              <a:rPr lang="fr-FR" sz="1000" b="1">
                <a:solidFill>
                  <a:schemeClr val="tx1"/>
                </a:solidFill>
                <a:latin typeface="Century Gothic"/>
              </a:rPr>
              <a:t>} : </a:t>
            </a:r>
            <a:r>
              <a:rPr lang="fr-FR" sz="80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8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75" name="Rectangle à coins arrondis 74"/>
          <p:cNvSpPr/>
          <p:nvPr/>
        </p:nvSpPr>
        <p:spPr bwMode="auto">
          <a:xfrm>
            <a:off x="7358082" y="4905056"/>
            <a:ext cx="1500198" cy="571504"/>
          </a:xfrm>
          <a:prstGeom prst="roundRect">
            <a:avLst>
              <a:gd name="adj" fmla="val 15282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000" b="1">
                <a:solidFill>
                  <a:schemeClr val="tx1"/>
                </a:solidFill>
                <a:latin typeface="Century Gothic"/>
              </a:rPr>
              <a:t>PublicationPlace</a:t>
            </a:r>
            <a:r>
              <a:rPr lang="fr-FR" sz="1000" b="1">
                <a:solidFill>
                  <a:schemeClr val="tx1"/>
                </a:solidFill>
                <a:latin typeface="Century Gothic"/>
              </a:rPr>
              <a:t>-{</a:t>
            </a:r>
            <a:r>
              <a:rPr lang="fr-FR" sz="1000" b="1">
                <a:solidFill>
                  <a:schemeClr val="tx1"/>
                </a:solidFill>
                <a:latin typeface="Century Gothic"/>
              </a:rPr>
              <a:t>placename</a:t>
            </a:r>
            <a:r>
              <a:rPr lang="fr-FR" sz="1000" b="1">
                <a:solidFill>
                  <a:schemeClr val="tx1"/>
                </a:solidFill>
                <a:latin typeface="Century Gothic"/>
              </a:rPr>
              <a:t>} : </a:t>
            </a:r>
            <a:r>
              <a:rPr lang="fr-FR" sz="800">
                <a:solidFill>
                  <a:prstClr val="black"/>
                </a:solidFill>
                <a:latin typeface="Century Gothic"/>
              </a:rPr>
              <a:t>schema:Place</a:t>
            </a:r>
            <a:endParaRPr lang="fr-FR" sz="80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90" name="Forme 69"/>
          <p:cNvCxnSpPr>
            <a:cxnSpLocks/>
            <a:stCxn id="60" idx="3"/>
            <a:endCxn id="92" idx="1"/>
          </p:cNvCxnSpPr>
          <p:nvPr/>
        </p:nvCxnSpPr>
        <p:spPr bwMode="auto">
          <a:xfrm flipV="1">
            <a:off x="8143900" y="4071942"/>
            <a:ext cx="357190" cy="1157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à coins arrondis 91"/>
          <p:cNvSpPr/>
          <p:nvPr/>
        </p:nvSpPr>
        <p:spPr bwMode="auto">
          <a:xfrm>
            <a:off x="8501090" y="400050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9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96" name="Forme 69"/>
          <p:cNvCxnSpPr>
            <a:cxnSpLocks/>
            <a:stCxn id="114" idx="2"/>
            <a:endCxn id="69" idx="1"/>
          </p:cNvCxnSpPr>
          <p:nvPr/>
        </p:nvCxnSpPr>
        <p:spPr bwMode="auto">
          <a:xfrm rot="16199999" flipH="1">
            <a:off x="3905410" y="3452648"/>
            <a:ext cx="2976254" cy="50006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à coins arrondis 102"/>
          <p:cNvSpPr/>
          <p:nvPr/>
        </p:nvSpPr>
        <p:spPr bwMode="auto">
          <a:xfrm>
            <a:off x="5643570" y="5643578"/>
            <a:ext cx="3000396" cy="428628"/>
          </a:xfrm>
          <a:prstGeom prst="roundRect">
            <a:avLst>
              <a:gd name="adj" fmla="val 193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9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900" b="1">
                <a:solidFill>
                  <a:schemeClr val="tx1"/>
                </a:solidFill>
                <a:latin typeface="Century Gothic"/>
              </a:rPr>
              <a:t>PublicationPlace</a:t>
            </a:r>
            <a:r>
              <a:rPr lang="fr-FR" sz="900" b="1">
                <a:solidFill>
                  <a:schemeClr val="tx1"/>
                </a:solidFill>
                <a:latin typeface="Century Gothic"/>
              </a:rPr>
              <a:t>-{</a:t>
            </a:r>
            <a:r>
              <a:rPr lang="fr-FR" sz="900" b="1">
                <a:solidFill>
                  <a:schemeClr val="tx1"/>
                </a:solidFill>
                <a:latin typeface="Century Gothic"/>
              </a:rPr>
              <a:t>placename</a:t>
            </a:r>
            <a:r>
              <a:rPr lang="fr-FR" sz="900" b="1">
                <a:solidFill>
                  <a:schemeClr val="tx1"/>
                </a:solidFill>
                <a:latin typeface="Century Gothic"/>
              </a:rPr>
              <a:t>}-</a:t>
            </a:r>
            <a:r>
              <a:rPr lang="fr-FR" sz="900" b="1">
                <a:solidFill>
                  <a:schemeClr val="tx1"/>
                </a:solidFill>
                <a:latin typeface="Century Gothic"/>
              </a:rPr>
              <a:t>GeoCoordinates</a:t>
            </a:r>
            <a:r>
              <a:rPr lang="fr-FR" sz="9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700">
                <a:solidFill>
                  <a:prstClr val="black"/>
                </a:solidFill>
                <a:latin typeface="Century Gothic"/>
              </a:rPr>
              <a:t>schema:GeoCoordinates</a:t>
            </a:r>
            <a:r>
              <a:rPr lang="fr-FR" sz="700">
                <a:solidFill>
                  <a:prstClr val="black"/>
                </a:solidFill>
                <a:latin typeface="Century Gothic"/>
              </a:rPr>
              <a:t> </a:t>
            </a:r>
            <a:endParaRPr/>
          </a:p>
        </p:txBody>
      </p:sp>
      <p:sp>
        <p:nvSpPr>
          <p:cNvPr id="104" name="Rectangle 103"/>
          <p:cNvSpPr/>
          <p:nvPr/>
        </p:nvSpPr>
        <p:spPr bwMode="auto">
          <a:xfrm>
            <a:off x="8072462" y="56435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6" name="Forme 69"/>
          <p:cNvCxnSpPr>
            <a:cxnSpLocks/>
            <a:stCxn id="75" idx="2"/>
            <a:endCxn id="104" idx="0"/>
          </p:cNvCxnSpPr>
          <p:nvPr/>
        </p:nvCxnSpPr>
        <p:spPr bwMode="auto">
          <a:xfrm rot="16199999" flipH="1">
            <a:off x="8042531" y="5542209"/>
            <a:ext cx="167018" cy="357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 bwMode="auto">
          <a:xfrm>
            <a:off x="5072066" y="20716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" name="Rectangle 72"/>
          <p:cNvSpPr/>
          <p:nvPr/>
        </p:nvSpPr>
        <p:spPr bwMode="auto">
          <a:xfrm>
            <a:off x="5286380" y="142873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Rectangle 73"/>
          <p:cNvSpPr/>
          <p:nvPr/>
        </p:nvSpPr>
        <p:spPr bwMode="auto">
          <a:xfrm>
            <a:off x="5072066" y="142873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Rectangle 112"/>
          <p:cNvSpPr/>
          <p:nvPr/>
        </p:nvSpPr>
        <p:spPr bwMode="auto">
          <a:xfrm>
            <a:off x="6929454" y="85723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Rectangle 114"/>
          <p:cNvSpPr/>
          <p:nvPr/>
        </p:nvSpPr>
        <p:spPr bwMode="auto">
          <a:xfrm>
            <a:off x="6929454" y="57148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6" name="Rectangle 115"/>
          <p:cNvSpPr/>
          <p:nvPr/>
        </p:nvSpPr>
        <p:spPr bwMode="auto">
          <a:xfrm>
            <a:off x="3286116" y="85723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" name="Rectangle 122"/>
          <p:cNvSpPr/>
          <p:nvPr/>
        </p:nvSpPr>
        <p:spPr bwMode="auto">
          <a:xfrm>
            <a:off x="3286116" y="57148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5" name="Forme 69"/>
          <p:cNvCxnSpPr>
            <a:cxnSpLocks/>
            <a:stCxn id="74" idx="0"/>
            <a:endCxn id="123" idx="3"/>
          </p:cNvCxnSpPr>
          <p:nvPr/>
        </p:nvCxnSpPr>
        <p:spPr bwMode="auto">
          <a:xfrm rot="16199999" flipV="1">
            <a:off x="3893339" y="178571"/>
            <a:ext cx="785818" cy="171451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Forme 69"/>
          <p:cNvCxnSpPr>
            <a:cxnSpLocks/>
            <a:stCxn id="73" idx="0"/>
            <a:endCxn id="115" idx="1"/>
          </p:cNvCxnSpPr>
          <p:nvPr/>
        </p:nvCxnSpPr>
        <p:spPr bwMode="auto">
          <a:xfrm rot="5400000" flipH="1" flipV="1">
            <a:off x="5750727" y="250009"/>
            <a:ext cx="785818" cy="157163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ZoneTexte 133"/>
          <p:cNvSpPr txBox="1"/>
          <p:nvPr/>
        </p:nvSpPr>
        <p:spPr bwMode="auto">
          <a:xfrm>
            <a:off x="5286380" y="381308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schema:contributor</a:t>
            </a:r>
            <a:endParaRPr lang="fr-FR" sz="1100">
              <a:latin typeface="Century Gothic"/>
            </a:endParaRPr>
          </a:p>
        </p:txBody>
      </p:sp>
      <p:sp>
        <p:nvSpPr>
          <p:cNvPr id="135" name="ZoneTexte 134"/>
          <p:cNvSpPr txBox="1"/>
          <p:nvPr/>
        </p:nvSpPr>
        <p:spPr bwMode="auto">
          <a:xfrm>
            <a:off x="3500430" y="667060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bfrel:isb</a:t>
            </a:r>
            <a:endParaRPr lang="fr-FR" sz="1100">
              <a:latin typeface="Century Gothic"/>
            </a:endParaRPr>
          </a:p>
        </p:txBody>
      </p:sp>
      <p:sp>
        <p:nvSpPr>
          <p:cNvPr id="136" name="ZoneTexte 135"/>
          <p:cNvSpPr txBox="1"/>
          <p:nvPr/>
        </p:nvSpPr>
        <p:spPr bwMode="auto">
          <a:xfrm>
            <a:off x="5357818" y="667060"/>
            <a:ext cx="142876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bfrel:isb</a:t>
            </a:r>
            <a:endParaRPr lang="fr-FR" sz="1100">
              <a:latin typeface="Century Gothic"/>
            </a:endParaRPr>
          </a:p>
        </p:txBody>
      </p:sp>
      <p:cxnSp>
        <p:nvCxnSpPr>
          <p:cNvPr id="79" name="Forme 69"/>
          <p:cNvCxnSpPr>
            <a:cxnSpLocks/>
            <a:stCxn id="28" idx="3"/>
            <a:endCxn id="85" idx="1"/>
          </p:cNvCxnSpPr>
          <p:nvPr/>
        </p:nvCxnSpPr>
        <p:spPr bwMode="auto">
          <a:xfrm flipV="1">
            <a:off x="4000496" y="6000768"/>
            <a:ext cx="357190" cy="1187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orme 69"/>
          <p:cNvCxnSpPr>
            <a:cxnSpLocks/>
            <a:stCxn id="28" idx="3"/>
            <a:endCxn id="86" idx="1"/>
          </p:cNvCxnSpPr>
          <p:nvPr/>
        </p:nvCxnSpPr>
        <p:spPr bwMode="auto">
          <a:xfrm>
            <a:off x="4000496" y="6119502"/>
            <a:ext cx="357190" cy="955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 bwMode="auto">
          <a:xfrm>
            <a:off x="3857620" y="5643578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schema:latitude</a:t>
            </a:r>
            <a:endParaRPr lang="en-US" sz="1100">
              <a:latin typeface="Century Gothic"/>
            </a:endParaRPr>
          </a:p>
        </p:txBody>
      </p:sp>
      <p:sp>
        <p:nvSpPr>
          <p:cNvPr id="84" name="ZoneTexte 83"/>
          <p:cNvSpPr txBox="1"/>
          <p:nvPr/>
        </p:nvSpPr>
        <p:spPr bwMode="auto">
          <a:xfrm>
            <a:off x="3929090" y="6239224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schema:longitude</a:t>
            </a:r>
            <a:endParaRPr lang="en-US" sz="1100">
              <a:latin typeface="Century Gothic"/>
            </a:endParaRPr>
          </a:p>
        </p:txBody>
      </p:sp>
      <p:sp>
        <p:nvSpPr>
          <p:cNvPr id="85" name="Rectangle à coins arrondis 84"/>
          <p:cNvSpPr/>
          <p:nvPr/>
        </p:nvSpPr>
        <p:spPr bwMode="auto">
          <a:xfrm>
            <a:off x="4357686" y="5929330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86" name="Rectangle à coins arrondis 85"/>
          <p:cNvSpPr/>
          <p:nvPr/>
        </p:nvSpPr>
        <p:spPr bwMode="auto">
          <a:xfrm>
            <a:off x="4357686" y="614364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91" name="Forme 69"/>
          <p:cNvCxnSpPr>
            <a:cxnSpLocks/>
            <a:stCxn id="103" idx="3"/>
          </p:cNvCxnSpPr>
          <p:nvPr/>
        </p:nvCxnSpPr>
        <p:spPr bwMode="auto">
          <a:xfrm flipV="1">
            <a:off x="8643966" y="5715016"/>
            <a:ext cx="214314" cy="14287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Forme 69"/>
          <p:cNvCxnSpPr>
            <a:cxnSpLocks/>
            <a:stCxn id="103" idx="3"/>
          </p:cNvCxnSpPr>
          <p:nvPr/>
        </p:nvCxnSpPr>
        <p:spPr bwMode="auto">
          <a:xfrm>
            <a:off x="8643966" y="5857892"/>
            <a:ext cx="214314" cy="14287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 bwMode="auto">
          <a:xfrm>
            <a:off x="7072330" y="1500174"/>
            <a:ext cx="1571636" cy="500066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bf:ClassificationDdc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4" name="Forme 69"/>
          <p:cNvCxnSpPr>
            <a:cxnSpLocks/>
            <a:stCxn id="47" idx="0"/>
            <a:endCxn id="3" idx="1"/>
          </p:cNvCxnSpPr>
          <p:nvPr/>
        </p:nvCxnSpPr>
        <p:spPr bwMode="auto">
          <a:xfrm rot="5400000" flipH="1" flipV="1">
            <a:off x="5947182" y="1875224"/>
            <a:ext cx="1250165" cy="100013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 bwMode="auto">
          <a:xfrm>
            <a:off x="5715008" y="1428735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bf:classification</a:t>
            </a:r>
            <a:endParaRPr lang="en-US" sz="1100">
              <a:latin typeface="Century Gothic"/>
            </a:endParaRPr>
          </a:p>
        </p:txBody>
      </p:sp>
      <p:cxnSp>
        <p:nvCxnSpPr>
          <p:cNvPr id="11" name="Forme 69"/>
          <p:cNvCxnSpPr>
            <a:cxnSpLocks/>
            <a:stCxn id="3" idx="2"/>
            <a:endCxn id="19" idx="0"/>
          </p:cNvCxnSpPr>
          <p:nvPr/>
        </p:nvCxnSpPr>
        <p:spPr bwMode="auto">
          <a:xfrm rot="16199999" flipH="1">
            <a:off x="7911726" y="1946661"/>
            <a:ext cx="285752" cy="39290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 bwMode="auto">
          <a:xfrm>
            <a:off x="8215338" y="2024382"/>
            <a:ext cx="85722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18" name="ZoneTexte 17"/>
          <p:cNvSpPr txBox="1"/>
          <p:nvPr/>
        </p:nvSpPr>
        <p:spPr bwMode="auto"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/>
              <a:t>Relative </a:t>
            </a:r>
            <a:r>
              <a:rPr lang="fr-FR" sz="1200" i="1"/>
              <a:t>URIs</a:t>
            </a:r>
            <a:r>
              <a:rPr lang="fr-FR" sz="1200" i="1"/>
              <a:t> (</a:t>
            </a:r>
            <a:r>
              <a:rPr lang="fr-FR" sz="1200" i="1"/>
              <a:t>beginning</a:t>
            </a:r>
            <a:r>
              <a:rPr lang="fr-FR" sz="1200" i="1"/>
              <a:t> </a:t>
            </a:r>
            <a:r>
              <a:rPr lang="fr-FR" sz="1200" i="1"/>
              <a:t>with</a:t>
            </a:r>
            <a:r>
              <a:rPr lang="fr-FR" sz="1200" i="1"/>
              <a:t> #) are relative to the ISSN </a:t>
            </a:r>
            <a:r>
              <a:rPr lang="fr-FR" sz="1200" i="1"/>
              <a:t>resource</a:t>
            </a:r>
            <a:r>
              <a:rPr lang="fr-FR" sz="1200" i="1"/>
              <a:t> URI : http://issn.org/resource/ISSN/{ISSN}</a:t>
            </a:r>
            <a:endParaRPr lang="en-US" sz="1200" i="1"/>
          </a:p>
        </p:txBody>
      </p:sp>
      <p:sp>
        <p:nvSpPr>
          <p:cNvPr id="19" name="Rectangle à coins arrondis 18"/>
          <p:cNvSpPr/>
          <p:nvPr/>
        </p:nvSpPr>
        <p:spPr bwMode="auto">
          <a:xfrm>
            <a:off x="8001024" y="228599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22" name="Rectangle à coins arrondis 21"/>
          <p:cNvSpPr/>
          <p:nvPr/>
        </p:nvSpPr>
        <p:spPr bwMode="auto">
          <a:xfrm>
            <a:off x="4714876" y="5500702"/>
            <a:ext cx="2357454" cy="357190"/>
          </a:xfrm>
          <a:prstGeom prst="roundRect">
            <a:avLst>
              <a:gd name="adj" fmla="val 2521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bf:Note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23" name="Forme 69"/>
          <p:cNvCxnSpPr>
            <a:cxnSpLocks/>
            <a:stCxn id="188" idx="2"/>
            <a:endCxn id="189" idx="0"/>
          </p:cNvCxnSpPr>
          <p:nvPr/>
        </p:nvCxnSpPr>
        <p:spPr bwMode="auto">
          <a:xfrm rot="5400000">
            <a:off x="4214810" y="4643446"/>
            <a:ext cx="1714512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 bwMode="auto">
          <a:xfrm>
            <a:off x="4071934" y="4572008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bf:note</a:t>
            </a:r>
            <a:endParaRPr lang="en-US" sz="1100">
              <a:latin typeface="Century Gothic"/>
            </a:endParaRPr>
          </a:p>
        </p:txBody>
      </p:sp>
      <p:cxnSp>
        <p:nvCxnSpPr>
          <p:cNvPr id="27" name="Forme 69"/>
          <p:cNvCxnSpPr>
            <a:cxnSpLocks/>
            <a:stCxn id="22" idx="3"/>
            <a:endCxn id="28" idx="1"/>
          </p:cNvCxnSpPr>
          <p:nvPr/>
        </p:nvCxnSpPr>
        <p:spPr bwMode="auto">
          <a:xfrm flipV="1">
            <a:off x="7072330" y="5429264"/>
            <a:ext cx="714380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à coins arrondis 27"/>
          <p:cNvSpPr/>
          <p:nvPr/>
        </p:nvSpPr>
        <p:spPr bwMode="auto">
          <a:xfrm>
            <a:off x="7786710" y="5357826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32" name="ZoneTexte 31"/>
          <p:cNvSpPr txBox="1"/>
          <p:nvPr/>
        </p:nvSpPr>
        <p:spPr bwMode="auto">
          <a:xfrm>
            <a:off x="7000892" y="507207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cxnSp>
        <p:nvCxnSpPr>
          <p:cNvPr id="33" name="Forme 69"/>
          <p:cNvCxnSpPr>
            <a:cxnSpLocks/>
            <a:stCxn id="22" idx="3"/>
            <a:endCxn id="37" idx="1"/>
          </p:cNvCxnSpPr>
          <p:nvPr/>
        </p:nvCxnSpPr>
        <p:spPr bwMode="auto">
          <a:xfrm>
            <a:off x="7072330" y="5679297"/>
            <a:ext cx="714380" cy="17859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 bwMode="auto">
          <a:xfrm>
            <a:off x="6929454" y="595347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bf:noteType</a:t>
            </a:r>
            <a:endParaRPr lang="en-US" sz="1100">
              <a:latin typeface="Century Gothic"/>
            </a:endParaRPr>
          </a:p>
        </p:txBody>
      </p:sp>
      <p:sp>
        <p:nvSpPr>
          <p:cNvPr id="37" name="Rectangle à coins arrondis 36"/>
          <p:cNvSpPr/>
          <p:nvPr/>
        </p:nvSpPr>
        <p:spPr bwMode="auto">
          <a:xfrm>
            <a:off x="7786710" y="578645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39" name="Forme 69"/>
          <p:cNvCxnSpPr>
            <a:cxnSpLocks/>
            <a:stCxn id="47" idx="1"/>
            <a:endCxn id="43" idx="3"/>
          </p:cNvCxnSpPr>
          <p:nvPr/>
        </p:nvCxnSpPr>
        <p:spPr bwMode="auto">
          <a:xfrm rot="10800000">
            <a:off x="2928926" y="750077"/>
            <a:ext cx="1785950" cy="26432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à coins arrondis 42"/>
          <p:cNvSpPr/>
          <p:nvPr/>
        </p:nvSpPr>
        <p:spPr bwMode="auto">
          <a:xfrm>
            <a:off x="357158" y="571481"/>
            <a:ext cx="2571768" cy="357190"/>
          </a:xfrm>
          <a:prstGeom prst="roundRect">
            <a:avLst>
              <a:gd name="adj" fmla="val 22763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KeyTitle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bf:Identifier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bf:KeyTitle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lvl="0" algn="ctr">
              <a:spcBef>
                <a:spcPts val="600"/>
              </a:spcBef>
              <a:defRPr/>
            </a:pP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4" name="Rectangle à coins arrondis 43"/>
          <p:cNvSpPr/>
          <p:nvPr/>
        </p:nvSpPr>
        <p:spPr bwMode="auto">
          <a:xfrm>
            <a:off x="357158" y="1428735"/>
            <a:ext cx="2571768" cy="500066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AbbreviatedKeyTitle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bf:Identifier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bf:AbbreviatedTitle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5" name="Rectangle à coins arrondis 44"/>
          <p:cNvSpPr/>
          <p:nvPr/>
        </p:nvSpPr>
        <p:spPr bwMode="auto">
          <a:xfrm>
            <a:off x="357158" y="2428868"/>
            <a:ext cx="2571768" cy="357190"/>
          </a:xfrm>
          <a:prstGeom prst="roundRect">
            <a:avLst>
              <a:gd name="adj" fmla="val 20676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bf:ParallelTitle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6" name="Rectangle à coins arrondis 45"/>
          <p:cNvSpPr/>
          <p:nvPr/>
        </p:nvSpPr>
        <p:spPr bwMode="auto">
          <a:xfrm>
            <a:off x="357158" y="3214687"/>
            <a:ext cx="2571768" cy="357190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bf:VariantTitle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48" name="Forme 69"/>
          <p:cNvCxnSpPr>
            <a:cxnSpLocks/>
            <a:stCxn id="47" idx="1"/>
            <a:endCxn id="44" idx="3"/>
          </p:cNvCxnSpPr>
          <p:nvPr/>
        </p:nvCxnSpPr>
        <p:spPr bwMode="auto">
          <a:xfrm rot="10800000">
            <a:off x="2928926" y="1678769"/>
            <a:ext cx="1785950" cy="17145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Forme 69"/>
          <p:cNvCxnSpPr>
            <a:cxnSpLocks/>
            <a:stCxn id="47" idx="1"/>
            <a:endCxn id="45" idx="3"/>
          </p:cNvCxnSpPr>
          <p:nvPr/>
        </p:nvCxnSpPr>
        <p:spPr bwMode="auto">
          <a:xfrm rot="10800000">
            <a:off x="2928926" y="2607463"/>
            <a:ext cx="1785950" cy="7858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Forme 69"/>
          <p:cNvCxnSpPr>
            <a:cxnSpLocks/>
            <a:stCxn id="47" idx="1"/>
            <a:endCxn id="46" idx="3"/>
          </p:cNvCxnSpPr>
          <p:nvPr/>
        </p:nvCxnSpPr>
        <p:spPr bwMode="auto">
          <a:xfrm rot="10800000" flipV="1">
            <a:off x="2928926" y="3393280"/>
            <a:ext cx="1785950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78"/>
          <p:cNvSpPr txBox="1"/>
          <p:nvPr/>
        </p:nvSpPr>
        <p:spPr bwMode="auto">
          <a:xfrm>
            <a:off x="1643042" y="3667456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bf:variantType</a:t>
            </a:r>
            <a:endParaRPr lang="en-US" sz="1100">
              <a:latin typeface="Century Gothic"/>
            </a:endParaRPr>
          </a:p>
        </p:txBody>
      </p:sp>
      <p:sp>
        <p:nvSpPr>
          <p:cNvPr id="47" name="Rectangle à coins arrondis 46"/>
          <p:cNvSpPr/>
          <p:nvPr/>
        </p:nvSpPr>
        <p:spPr bwMode="auto">
          <a:xfrm>
            <a:off x="4714876" y="3000372"/>
            <a:ext cx="2714644" cy="785818"/>
          </a:xfrm>
          <a:prstGeom prst="roundRect">
            <a:avLst>
              <a:gd name="adj" fmla="val 22207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08" name="ZoneTexte 107"/>
          <p:cNvSpPr txBox="1"/>
          <p:nvPr/>
        </p:nvSpPr>
        <p:spPr bwMode="auto">
          <a:xfrm>
            <a:off x="3143240" y="285728"/>
            <a:ext cx="1428760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bf:title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 i="1">
                <a:latin typeface="Century Gothic"/>
              </a:rPr>
              <a:t> (+ </a:t>
            </a:r>
            <a:r>
              <a:rPr lang="fr-FR" sz="1100" i="1">
                <a:latin typeface="Century Gothic"/>
              </a:rPr>
              <a:t>bf:identifiedBy</a:t>
            </a:r>
            <a:r>
              <a:rPr lang="fr-FR" sz="1100" i="1">
                <a:latin typeface="Century Gothic"/>
              </a:rPr>
              <a:t>)</a:t>
            </a:r>
            <a:endParaRPr lang="en-US" sz="1100" i="1">
              <a:latin typeface="Century Gothic"/>
            </a:endParaRPr>
          </a:p>
        </p:txBody>
      </p:sp>
      <p:sp>
        <p:nvSpPr>
          <p:cNvPr id="110" name="ZoneTexte 109"/>
          <p:cNvSpPr txBox="1"/>
          <p:nvPr/>
        </p:nvSpPr>
        <p:spPr bwMode="auto">
          <a:xfrm>
            <a:off x="3143240" y="2357430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bf:title</a:t>
            </a:r>
            <a:endParaRPr lang="en-US" sz="1100">
              <a:latin typeface="Century Gothic"/>
            </a:endParaRPr>
          </a:p>
        </p:txBody>
      </p:sp>
      <p:sp>
        <p:nvSpPr>
          <p:cNvPr id="111" name="ZoneTexte 110"/>
          <p:cNvSpPr txBox="1"/>
          <p:nvPr/>
        </p:nvSpPr>
        <p:spPr bwMode="auto">
          <a:xfrm>
            <a:off x="3143240" y="309595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bf:title</a:t>
            </a:r>
            <a:endParaRPr lang="en-US" sz="1100">
              <a:latin typeface="Century Gothic"/>
            </a:endParaRPr>
          </a:p>
        </p:txBody>
      </p:sp>
      <p:cxnSp>
        <p:nvCxnSpPr>
          <p:cNvPr id="113" name="Forme 69"/>
          <p:cNvCxnSpPr>
            <a:cxnSpLocks/>
            <a:stCxn id="47" idx="1"/>
            <a:endCxn id="116" idx="3"/>
          </p:cNvCxnSpPr>
          <p:nvPr/>
        </p:nvCxnSpPr>
        <p:spPr bwMode="auto">
          <a:xfrm rot="10800000" flipV="1">
            <a:off x="2928894" y="3393280"/>
            <a:ext cx="1785982" cy="89297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à coins arrondis 115"/>
          <p:cNvSpPr/>
          <p:nvPr/>
        </p:nvSpPr>
        <p:spPr bwMode="auto">
          <a:xfrm>
            <a:off x="1857356" y="4143380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proper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cxnSp>
        <p:nvCxnSpPr>
          <p:cNvPr id="121" name="Forme 69"/>
          <p:cNvCxnSpPr>
            <a:cxnSpLocks/>
            <a:stCxn id="47" idx="1"/>
            <a:endCxn id="127" idx="3"/>
          </p:cNvCxnSpPr>
          <p:nvPr/>
        </p:nvCxnSpPr>
        <p:spPr bwMode="auto">
          <a:xfrm rot="10800000" flipV="1">
            <a:off x="2928926" y="3393280"/>
            <a:ext cx="1785950" cy="139304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/>
          <p:cNvSpPr txBox="1"/>
          <p:nvPr/>
        </p:nvSpPr>
        <p:spPr bwMode="auto">
          <a:xfrm>
            <a:off x="3143240" y="4500570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125" name="ZoneTexte 124"/>
          <p:cNvSpPr txBox="1"/>
          <p:nvPr/>
        </p:nvSpPr>
        <p:spPr bwMode="auto">
          <a:xfrm>
            <a:off x="3143240" y="3786190"/>
            <a:ext cx="1357322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schema:name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>
                <a:latin typeface="Century Gothic"/>
              </a:rPr>
              <a:t>+ </a:t>
            </a:r>
            <a:r>
              <a:rPr lang="fr-FR" sz="1100">
                <a:latin typeface="Century Gothic"/>
              </a:rPr>
              <a:t>bf:mainTitle</a:t>
            </a:r>
            <a:endParaRPr lang="fr-FR" sz="1100">
              <a:latin typeface="Century Gothic"/>
            </a:endParaRPr>
          </a:p>
        </p:txBody>
      </p:sp>
      <p:sp>
        <p:nvSpPr>
          <p:cNvPr id="127" name="Rectangle à coins arrondis 126"/>
          <p:cNvSpPr/>
          <p:nvPr/>
        </p:nvSpPr>
        <p:spPr bwMode="auto">
          <a:xfrm>
            <a:off x="1857388" y="4643446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Key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*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129" name="Rectangle à coins arrondis 128"/>
          <p:cNvSpPr/>
          <p:nvPr/>
        </p:nvSpPr>
        <p:spPr bwMode="auto">
          <a:xfrm>
            <a:off x="285720" y="5072074"/>
            <a:ext cx="2643206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Abbreviated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Key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or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Parallel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or Variant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**"</a:t>
            </a:r>
            <a:endParaRPr/>
          </a:p>
        </p:txBody>
      </p:sp>
      <p:cxnSp>
        <p:nvCxnSpPr>
          <p:cNvPr id="130" name="Forme 69"/>
          <p:cNvCxnSpPr>
            <a:cxnSpLocks/>
            <a:stCxn id="47" idx="1"/>
            <a:endCxn id="129" idx="3"/>
          </p:cNvCxnSpPr>
          <p:nvPr/>
        </p:nvCxnSpPr>
        <p:spPr bwMode="auto">
          <a:xfrm rot="10800000" flipV="1">
            <a:off x="2928926" y="3393281"/>
            <a:ext cx="1785950" cy="18573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ZoneTexte 133"/>
          <p:cNvSpPr txBox="1"/>
          <p:nvPr/>
        </p:nvSpPr>
        <p:spPr bwMode="auto">
          <a:xfrm>
            <a:off x="3143240" y="4929198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schema:alternateName</a:t>
            </a:r>
            <a:endParaRPr lang="en-US" sz="1100">
              <a:latin typeface="Century Gothic"/>
            </a:endParaRPr>
          </a:p>
        </p:txBody>
      </p:sp>
      <p:cxnSp>
        <p:nvCxnSpPr>
          <p:cNvPr id="85" name="Forme 69"/>
          <p:cNvCxnSpPr>
            <a:cxnSpLocks/>
            <a:stCxn id="43" idx="0"/>
            <a:endCxn id="87" idx="3"/>
          </p:cNvCxnSpPr>
          <p:nvPr/>
        </p:nvCxnSpPr>
        <p:spPr bwMode="auto">
          <a:xfrm rot="16199999" flipV="1">
            <a:off x="1410868" y="339307"/>
            <a:ext cx="250034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/>
          <p:cNvSpPr txBox="1"/>
          <p:nvPr/>
        </p:nvSpPr>
        <p:spPr bwMode="auto">
          <a:xfrm>
            <a:off x="1643042" y="285728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87" name="Rectangle à coins arrondis 86"/>
          <p:cNvSpPr/>
          <p:nvPr/>
        </p:nvSpPr>
        <p:spPr bwMode="auto">
          <a:xfrm>
            <a:off x="142844" y="214290"/>
            <a:ext cx="1285884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"Key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*"</a:t>
            </a:r>
            <a:endParaRPr/>
          </a:p>
        </p:txBody>
      </p:sp>
      <p:cxnSp>
        <p:nvCxnSpPr>
          <p:cNvPr id="89" name="Forme 69"/>
          <p:cNvCxnSpPr>
            <a:cxnSpLocks/>
            <a:stCxn id="44" idx="0"/>
            <a:endCxn id="91" idx="3"/>
          </p:cNvCxnSpPr>
          <p:nvPr/>
        </p:nvCxnSpPr>
        <p:spPr bwMode="auto">
          <a:xfrm rot="16199999" flipV="1">
            <a:off x="1410868" y="1196562"/>
            <a:ext cx="250034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/>
          <p:cNvSpPr txBox="1"/>
          <p:nvPr/>
        </p:nvSpPr>
        <p:spPr bwMode="auto">
          <a:xfrm>
            <a:off x="1643042" y="1142983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91" name="Rectangle à coins arrondis 90"/>
          <p:cNvSpPr/>
          <p:nvPr/>
        </p:nvSpPr>
        <p:spPr bwMode="auto">
          <a:xfrm>
            <a:off x="142844" y="1071545"/>
            <a:ext cx="1285884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Abbreviated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Key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**"</a:t>
            </a:r>
            <a:endParaRPr/>
          </a:p>
        </p:txBody>
      </p:sp>
      <p:cxnSp>
        <p:nvCxnSpPr>
          <p:cNvPr id="92" name="Forme 69"/>
          <p:cNvCxnSpPr>
            <a:cxnSpLocks/>
            <a:stCxn id="45" idx="0"/>
            <a:endCxn id="136" idx="3"/>
          </p:cNvCxnSpPr>
          <p:nvPr/>
        </p:nvCxnSpPr>
        <p:spPr bwMode="auto">
          <a:xfrm rot="16199999" flipV="1">
            <a:off x="1410869" y="2196695"/>
            <a:ext cx="250033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ZoneTexte 92"/>
          <p:cNvSpPr txBox="1"/>
          <p:nvPr/>
        </p:nvSpPr>
        <p:spPr bwMode="auto">
          <a:xfrm>
            <a:off x="1643042" y="2143115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cxnSp>
        <p:nvCxnSpPr>
          <p:cNvPr id="95" name="Forme 69"/>
          <p:cNvCxnSpPr>
            <a:cxnSpLocks/>
            <a:stCxn id="46" idx="0"/>
            <a:endCxn id="97" idx="3"/>
          </p:cNvCxnSpPr>
          <p:nvPr/>
        </p:nvCxnSpPr>
        <p:spPr bwMode="auto">
          <a:xfrm rot="16199999" flipV="1">
            <a:off x="1410868" y="2982513"/>
            <a:ext cx="250034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ZoneTexte 95"/>
          <p:cNvSpPr txBox="1"/>
          <p:nvPr/>
        </p:nvSpPr>
        <p:spPr bwMode="auto">
          <a:xfrm>
            <a:off x="1643042" y="292893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97" name="Rectangle à coins arrondis 96"/>
          <p:cNvSpPr/>
          <p:nvPr/>
        </p:nvSpPr>
        <p:spPr bwMode="auto">
          <a:xfrm>
            <a:off x="285720" y="2857496"/>
            <a:ext cx="114300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Other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**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"</a:t>
            </a:r>
            <a:endParaRPr lang="fr-FR" sz="1200" b="1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22" name="ZoneTexte 121"/>
          <p:cNvSpPr txBox="1"/>
          <p:nvPr/>
        </p:nvSpPr>
        <p:spPr bwMode="auto">
          <a:xfrm>
            <a:off x="3143240" y="1214422"/>
            <a:ext cx="1428760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bf:title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>
                <a:latin typeface="Century Gothic"/>
              </a:rPr>
              <a:t> </a:t>
            </a:r>
            <a:r>
              <a:rPr lang="fr-FR" sz="1100" i="1">
                <a:latin typeface="Century Gothic"/>
              </a:rPr>
              <a:t>(+ </a:t>
            </a:r>
            <a:r>
              <a:rPr lang="fr-FR" sz="1100" i="1">
                <a:latin typeface="Century Gothic"/>
              </a:rPr>
              <a:t>bf:identifiedBy</a:t>
            </a:r>
            <a:r>
              <a:rPr lang="fr-FR" sz="1100" i="1">
                <a:latin typeface="Century Gothic"/>
              </a:rPr>
              <a:t>)</a:t>
            </a:r>
            <a:endParaRPr lang="en-US" sz="1100" i="1">
              <a:latin typeface="Century Gothic"/>
            </a:endParaRPr>
          </a:p>
        </p:txBody>
      </p:sp>
      <p:cxnSp>
        <p:nvCxnSpPr>
          <p:cNvPr id="131" name="Forme 69"/>
          <p:cNvCxnSpPr>
            <a:cxnSpLocks/>
            <a:stCxn id="46" idx="2"/>
            <a:endCxn id="132" idx="3"/>
          </p:cNvCxnSpPr>
          <p:nvPr/>
        </p:nvCxnSpPr>
        <p:spPr bwMode="auto">
          <a:xfrm rot="5400000">
            <a:off x="1410869" y="3589736"/>
            <a:ext cx="250033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à coins arrondis 131"/>
          <p:cNvSpPr/>
          <p:nvPr/>
        </p:nvSpPr>
        <p:spPr bwMode="auto">
          <a:xfrm>
            <a:off x="928662" y="3714753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146" name="Rectangle 145"/>
          <p:cNvSpPr/>
          <p:nvPr/>
        </p:nvSpPr>
        <p:spPr bwMode="auto">
          <a:xfrm>
            <a:off x="6572264" y="364331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" name="Rectangle à coins arrondis 149"/>
          <p:cNvSpPr/>
          <p:nvPr/>
        </p:nvSpPr>
        <p:spPr bwMode="auto">
          <a:xfrm>
            <a:off x="7072330" y="4143380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UDC 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Summary</a:t>
            </a:r>
            <a:r>
              <a:rPr lang="fr-FR" sz="1100" b="1">
                <a:solidFill>
                  <a:schemeClr val="tx1"/>
                </a:solidFill>
                <a:latin typeface="Century Gothic"/>
              </a:rPr>
              <a:t> URI</a:t>
            </a:r>
            <a:endParaRPr lang="fr-FR" sz="100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151" name="Forme 69"/>
          <p:cNvCxnSpPr>
            <a:cxnSpLocks/>
            <a:stCxn id="146" idx="2"/>
            <a:endCxn id="150" idx="1"/>
          </p:cNvCxnSpPr>
          <p:nvPr/>
        </p:nvCxnSpPr>
        <p:spPr bwMode="auto">
          <a:xfrm rot="16199999" flipH="1">
            <a:off x="6607983" y="3821909"/>
            <a:ext cx="500066" cy="42862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ZoneTexte 159"/>
          <p:cNvSpPr txBox="1"/>
          <p:nvPr/>
        </p:nvSpPr>
        <p:spPr bwMode="auto">
          <a:xfrm>
            <a:off x="5643570" y="4000504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schema:about</a:t>
            </a:r>
            <a:endParaRPr lang="en-US" sz="1100">
              <a:latin typeface="Century Gothic"/>
            </a:endParaRPr>
          </a:p>
        </p:txBody>
      </p:sp>
      <p:sp>
        <p:nvSpPr>
          <p:cNvPr id="188" name="Rectangle 187"/>
          <p:cNvSpPr/>
          <p:nvPr/>
        </p:nvSpPr>
        <p:spPr bwMode="auto">
          <a:xfrm>
            <a:off x="5000628" y="364331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9" name="Rectangle 188"/>
          <p:cNvSpPr/>
          <p:nvPr/>
        </p:nvSpPr>
        <p:spPr bwMode="auto">
          <a:xfrm>
            <a:off x="5000628" y="55007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9" name="Rectangle à coins arrondis 198"/>
          <p:cNvSpPr/>
          <p:nvPr/>
        </p:nvSpPr>
        <p:spPr bwMode="auto">
          <a:xfrm>
            <a:off x="7072330" y="928670"/>
            <a:ext cx="1571636" cy="500066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2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bf:ClassificationUdc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200" name="Forme 69"/>
          <p:cNvCxnSpPr>
            <a:cxnSpLocks/>
            <a:stCxn id="199" idx="0"/>
            <a:endCxn id="203" idx="2"/>
          </p:cNvCxnSpPr>
          <p:nvPr/>
        </p:nvCxnSpPr>
        <p:spPr bwMode="auto">
          <a:xfrm rot="5400000" flipH="1" flipV="1">
            <a:off x="7911726" y="589340"/>
            <a:ext cx="285752" cy="39290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ZoneTexte 201"/>
          <p:cNvSpPr txBox="1"/>
          <p:nvPr/>
        </p:nvSpPr>
        <p:spPr bwMode="auto">
          <a:xfrm>
            <a:off x="8286775" y="642918"/>
            <a:ext cx="85722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203" name="Rectangle à coins arrondis 202"/>
          <p:cNvSpPr/>
          <p:nvPr/>
        </p:nvSpPr>
        <p:spPr bwMode="auto">
          <a:xfrm>
            <a:off x="8001024" y="50004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cxnSp>
        <p:nvCxnSpPr>
          <p:cNvPr id="214" name="Forme 69"/>
          <p:cNvCxnSpPr>
            <a:cxnSpLocks/>
            <a:stCxn id="47" idx="0"/>
            <a:endCxn id="199" idx="1"/>
          </p:cNvCxnSpPr>
          <p:nvPr/>
        </p:nvCxnSpPr>
        <p:spPr bwMode="auto">
          <a:xfrm rot="5400000" flipH="1" flipV="1">
            <a:off x="5661430" y="1589472"/>
            <a:ext cx="1821669" cy="100013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ZoneTexte 216"/>
          <p:cNvSpPr txBox="1"/>
          <p:nvPr/>
        </p:nvSpPr>
        <p:spPr bwMode="auto">
          <a:xfrm>
            <a:off x="5715008" y="80993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bf:classification</a:t>
            </a:r>
            <a:endParaRPr lang="en-US" sz="1100">
              <a:latin typeface="Century Gothic"/>
            </a:endParaRPr>
          </a:p>
        </p:txBody>
      </p:sp>
      <p:sp>
        <p:nvSpPr>
          <p:cNvPr id="136" name="Rectangle à coins arrondis 135"/>
          <p:cNvSpPr/>
          <p:nvPr/>
        </p:nvSpPr>
        <p:spPr bwMode="auto">
          <a:xfrm>
            <a:off x="285720" y="2071678"/>
            <a:ext cx="114300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Other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200" i="1">
                <a:solidFill>
                  <a:prstClr val="black"/>
                </a:solidFill>
                <a:latin typeface="Century Gothic"/>
              </a:rPr>
              <a:t>**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"</a:t>
            </a:r>
            <a:endParaRPr lang="fr-FR" sz="1200" b="1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38" name="Rectangle à coins arrondis 137"/>
          <p:cNvSpPr/>
          <p:nvPr/>
        </p:nvSpPr>
        <p:spPr bwMode="auto">
          <a:xfrm>
            <a:off x="71406" y="5572116"/>
            <a:ext cx="4286280" cy="928718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defRPr/>
            </a:pPr>
            <a:r>
              <a:rPr lang="fr-FR" sz="1000" i="1">
                <a:solidFill>
                  <a:prstClr val="black"/>
                </a:solidFill>
                <a:latin typeface="Century Gothic"/>
              </a:rPr>
              <a:t>*: the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key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is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both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in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schema:name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and in the #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KeyTitle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entity</a:t>
            </a:r>
            <a:endParaRPr lang="fr-FR" sz="1000" i="1">
              <a:solidFill>
                <a:prstClr val="black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endParaRPr lang="fr-FR" sz="1000" i="1">
              <a:solidFill>
                <a:prstClr val="black"/>
              </a:solidFill>
              <a:latin typeface="Century Gothic"/>
            </a:endParaRPr>
          </a:p>
          <a:p>
            <a:pPr>
              <a:defRPr/>
            </a:pPr>
            <a:r>
              <a:rPr lang="fr-FR" sz="1000" i="1">
                <a:solidFill>
                  <a:prstClr val="black"/>
                </a:solidFill>
                <a:latin typeface="Century Gothic"/>
              </a:rPr>
              <a:t>** :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abbreviated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key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parallel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and variant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titles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are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both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in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schema:alternateNames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and in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bf:AbbreviatedTitle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bf:ParallelTitle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and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bf:VariantTitle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entities</a:t>
            </a:r>
            <a:r>
              <a:rPr lang="fr-FR" sz="1000" i="1">
                <a:solidFill>
                  <a:prstClr val="black"/>
                </a:solidFill>
                <a:latin typeface="Century Gothic"/>
              </a:rPr>
              <a:t>.</a:t>
            </a:r>
            <a:endParaRPr/>
          </a:p>
        </p:txBody>
      </p:sp>
      <p:cxnSp>
        <p:nvCxnSpPr>
          <p:cNvPr id="83" name="Forme 69"/>
          <p:cNvCxnSpPr>
            <a:cxnSpLocks/>
            <a:stCxn id="146" idx="2"/>
            <a:endCxn id="88" idx="1"/>
          </p:cNvCxnSpPr>
          <p:nvPr/>
        </p:nvCxnSpPr>
        <p:spPr bwMode="auto">
          <a:xfrm rot="16199999" flipH="1">
            <a:off x="6357950" y="4071942"/>
            <a:ext cx="1000132" cy="42862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à coins arrondis 87"/>
          <p:cNvSpPr/>
          <p:nvPr/>
        </p:nvSpPr>
        <p:spPr bwMode="auto">
          <a:xfrm>
            <a:off x="7072330" y="4643446"/>
            <a:ext cx="1643074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"UDC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summary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label"</a:t>
            </a:r>
            <a:endParaRPr/>
          </a:p>
        </p:txBody>
      </p:sp>
      <p:sp>
        <p:nvSpPr>
          <p:cNvPr id="98" name="ZoneTexte 97"/>
          <p:cNvSpPr txBox="1"/>
          <p:nvPr/>
        </p:nvSpPr>
        <p:spPr bwMode="auto">
          <a:xfrm>
            <a:off x="5429256" y="4524712"/>
            <a:ext cx="150019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schema:keywords</a:t>
            </a:r>
            <a:endParaRPr lang="en-US" sz="11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ZoneTexte 17"/>
          <p:cNvSpPr txBox="1"/>
          <p:nvPr/>
        </p:nvSpPr>
        <p:spPr bwMode="auto"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/>
              <a:t>Relative </a:t>
            </a:r>
            <a:r>
              <a:rPr lang="fr-FR" sz="1200" i="1"/>
              <a:t>URIs</a:t>
            </a:r>
            <a:r>
              <a:rPr lang="fr-FR" sz="1200" i="1"/>
              <a:t> (</a:t>
            </a:r>
            <a:r>
              <a:rPr lang="fr-FR" sz="1200" i="1"/>
              <a:t>beginning</a:t>
            </a:r>
            <a:r>
              <a:rPr lang="fr-FR" sz="1200" i="1"/>
              <a:t> </a:t>
            </a:r>
            <a:r>
              <a:rPr lang="fr-FR" sz="1200" i="1"/>
              <a:t>with</a:t>
            </a:r>
            <a:r>
              <a:rPr lang="fr-FR" sz="1200" i="1"/>
              <a:t> #) are relative to the ISSN </a:t>
            </a:r>
            <a:r>
              <a:rPr lang="fr-FR" sz="1200" i="1"/>
              <a:t>resource</a:t>
            </a:r>
            <a:r>
              <a:rPr lang="fr-FR" sz="1200" i="1"/>
              <a:t> URI : http://issn.org/resource/ISSN/{ISSN}</a:t>
            </a:r>
            <a:endParaRPr lang="en-US" sz="1200" i="1"/>
          </a:p>
        </p:txBody>
      </p:sp>
      <p:sp>
        <p:nvSpPr>
          <p:cNvPr id="47" name="Rectangle à coins arrondis 46"/>
          <p:cNvSpPr/>
          <p:nvPr/>
        </p:nvSpPr>
        <p:spPr bwMode="auto">
          <a:xfrm>
            <a:off x="142844" y="357166"/>
            <a:ext cx="2714644" cy="785818"/>
          </a:xfrm>
          <a:prstGeom prst="roundRect">
            <a:avLst>
              <a:gd name="adj" fmla="val 19856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83" name="Rectangle à coins arrondis 82"/>
          <p:cNvSpPr/>
          <p:nvPr/>
        </p:nvSpPr>
        <p:spPr bwMode="auto">
          <a:xfrm>
            <a:off x="5572132" y="357166"/>
            <a:ext cx="3429024" cy="785818"/>
          </a:xfrm>
          <a:prstGeom prst="roundRect">
            <a:avLst>
              <a:gd name="adj" fmla="val 269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{another_ISSN}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04" name="ZoneTexte 103"/>
          <p:cNvSpPr txBox="1"/>
          <p:nvPr/>
        </p:nvSpPr>
        <p:spPr bwMode="auto">
          <a:xfrm>
            <a:off x="3428991" y="1428735"/>
            <a:ext cx="4940741" cy="512100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dc:relation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>
                <a:latin typeface="Century Gothic"/>
              </a:rPr>
              <a:t>schema:citation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bf:hasSubseries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bf:subseriesOf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schema:translationOfWork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schema:workTranslation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bf:translationOf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bf:translation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bf:supplementTo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bf:supplement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dct:isVersionOf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bf:otherEdition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dct:isFormatOf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bf:otherPhysicalFormat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bf:issuedWith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bf:precededBy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bf:continues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bf:continuedBy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bf:continuesInPart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bf:continuedInPartBy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bf:replacementOf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bf:mergerOf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bf:absorbed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bf:absorbedBy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bf:separatedFrom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bf:replacedBy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bf:splitInto</a:t>
            </a:r>
            <a:r>
              <a:rPr lang="en-US" sz="11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en-US" sz="1100">
                <a:latin typeface="Century Gothic"/>
              </a:rPr>
              <a:t>bf:mergedToForm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dct:hasPart</a:t>
            </a:r>
            <a:endParaRPr lang="en-US" sz="1100">
              <a:latin typeface="Century Gothic"/>
            </a:endParaRPr>
          </a:p>
          <a:p>
            <a:pPr>
              <a:defRPr/>
            </a:pPr>
            <a:r>
              <a:rPr lang="en-US" sz="1100">
                <a:latin typeface="Century Gothic"/>
              </a:rPr>
              <a:t>dct:isPartOf</a:t>
            </a:r>
            <a:endParaRPr lang="en-US" sz="1100">
              <a:latin typeface="Century Gothic"/>
            </a:endParaRPr>
          </a:p>
        </p:txBody>
      </p:sp>
      <p:cxnSp>
        <p:nvCxnSpPr>
          <p:cNvPr id="21" name="Forme 20"/>
          <p:cNvCxnSpPr>
            <a:cxnSpLocks/>
            <a:stCxn id="47" idx="2"/>
            <a:endCxn id="83" idx="2"/>
          </p:cNvCxnSpPr>
          <p:nvPr/>
        </p:nvCxnSpPr>
        <p:spPr bwMode="auto">
          <a:xfrm rot="16199999" flipH="1">
            <a:off x="4393405" y="-1750254"/>
            <a:ext cx="1587" cy="5786478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594820" name="Rectangle à coins arrondis 99"/>
          <p:cNvSpPr/>
          <p:nvPr/>
        </p:nvSpPr>
        <p:spPr bwMode="auto">
          <a:xfrm flipH="0" flipV="0">
            <a:off x="142843" y="2857495"/>
            <a:ext cx="2714643" cy="571503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#IndexingService-{name}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498257769" name="Forme 69"/>
          <p:cNvCxnSpPr>
            <a:cxnSpLocks/>
            <a:stCxn id="207594820" idx="2"/>
            <a:endCxn id="62365788" idx="0"/>
          </p:cNvCxnSpPr>
          <p:nvPr/>
        </p:nvCxnSpPr>
        <p:spPr bwMode="auto">
          <a:xfrm rot="5399978" flipH="0" flipV="0">
            <a:off x="1253050" y="3673398"/>
            <a:ext cx="488797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65788" name="Rectangle à coins arrondis 27"/>
          <p:cNvSpPr/>
          <p:nvPr/>
        </p:nvSpPr>
        <p:spPr bwMode="auto">
          <a:xfrm>
            <a:off x="1244700" y="3917797"/>
            <a:ext cx="500065" cy="142875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2056957377" name="ZoneTexte 31"/>
          <p:cNvSpPr txBox="1"/>
          <p:nvPr/>
        </p:nvSpPr>
        <p:spPr bwMode="auto">
          <a:xfrm flipH="0" flipV="0">
            <a:off x="218263" y="3485192"/>
            <a:ext cx="1282696" cy="259439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cxnSp>
        <p:nvCxnSpPr>
          <p:cNvPr id="1065470993" name="Forme 69"/>
          <p:cNvCxnSpPr>
            <a:cxnSpLocks/>
            <a:stCxn id="47" idx="2"/>
            <a:endCxn id="207594820" idx="0"/>
          </p:cNvCxnSpPr>
          <p:nvPr/>
        </p:nvCxnSpPr>
        <p:spPr bwMode="auto">
          <a:xfrm rot="5399978" flipH="0" flipV="0">
            <a:off x="642909" y="2000239"/>
            <a:ext cx="1714511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6928115" name="ZoneTexte 31"/>
          <p:cNvSpPr txBox="1"/>
          <p:nvPr/>
        </p:nvSpPr>
        <p:spPr bwMode="auto">
          <a:xfrm flipH="0" flipV="0">
            <a:off x="1637229" y="1870519"/>
            <a:ext cx="1291695" cy="259439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bflc:indexedIn</a:t>
            </a:r>
            <a:endParaRPr lang="en-US" sz="1100">
              <a:latin typeface="Century Gothic"/>
            </a:endParaRPr>
          </a:p>
        </p:txBody>
      </p:sp>
      <p:sp>
        <p:nvSpPr>
          <p:cNvPr id="1069976119" name="Rectangle 187"/>
          <p:cNvSpPr/>
          <p:nvPr/>
        </p:nvSpPr>
        <p:spPr bwMode="auto">
          <a:xfrm>
            <a:off x="2494049" y="3267326"/>
            <a:ext cx="142875" cy="14287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01747641" name="Forme 69"/>
          <p:cNvCxnSpPr>
            <a:cxnSpLocks/>
            <a:stCxn id="1069976119" idx="2"/>
            <a:endCxn id="679131010" idx="0"/>
          </p:cNvCxnSpPr>
          <p:nvPr/>
        </p:nvCxnSpPr>
        <p:spPr bwMode="auto">
          <a:xfrm rot="5399978" flipH="0" flipV="0">
            <a:off x="1962656" y="4013033"/>
            <a:ext cx="1205661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9131010" name="Rectangle à coins arrondis 87"/>
          <p:cNvSpPr/>
          <p:nvPr/>
        </p:nvSpPr>
        <p:spPr bwMode="auto">
          <a:xfrm flipH="0" flipV="0">
            <a:off x="2295401" y="4615864"/>
            <a:ext cx="540169" cy="285751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URL</a:t>
            </a:r>
            <a:endParaRPr/>
          </a:p>
        </p:txBody>
      </p:sp>
      <p:sp>
        <p:nvSpPr>
          <p:cNvPr id="654981337" name="ZoneTexte 31"/>
          <p:cNvSpPr txBox="1"/>
          <p:nvPr/>
        </p:nvSpPr>
        <p:spPr bwMode="auto">
          <a:xfrm flipH="0" flipV="0">
            <a:off x="859611" y="4205749"/>
            <a:ext cx="1711657" cy="259439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bf :electronicLocator</a:t>
            </a:r>
            <a:endParaRPr lang="en-US" sz="11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 bwMode="auto">
          <a:xfrm>
            <a:off x="4643438" y="2261850"/>
            <a:ext cx="2786082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4860032" y="29047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à coins arrondis 3"/>
          <p:cNvSpPr/>
          <p:nvPr/>
        </p:nvSpPr>
        <p:spPr bwMode="auto">
          <a:xfrm>
            <a:off x="5500694" y="928670"/>
            <a:ext cx="2786082" cy="500066"/>
          </a:xfrm>
          <a:prstGeom prst="roundRect">
            <a:avLst>
              <a:gd name="adj" fmla="val 17044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00" b="1">
                <a:solidFill>
                  <a:schemeClr val="tx1"/>
                </a:solidFill>
                <a:latin typeface="Century Gothic"/>
              </a:rPr>
              <a:t>http://issn.org/resource/ISSN-L/{ISSN-L} :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schema:CreativeWork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5" name="Forme 69"/>
          <p:cNvCxnSpPr>
            <a:cxnSpLocks/>
            <a:stCxn id="20" idx="0"/>
            <a:endCxn id="19" idx="2"/>
          </p:cNvCxnSpPr>
          <p:nvPr/>
        </p:nvCxnSpPr>
        <p:spPr bwMode="auto">
          <a:xfrm rot="5400000" flipH="1" flipV="1">
            <a:off x="6155739" y="1845293"/>
            <a:ext cx="833114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 bwMode="auto">
          <a:xfrm>
            <a:off x="6000760" y="36906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schema:issn</a:t>
            </a:r>
            <a:endParaRPr lang="en-US" sz="1100">
              <a:latin typeface="Century Gothic"/>
            </a:endParaRPr>
          </a:p>
        </p:txBody>
      </p:sp>
      <p:cxnSp>
        <p:nvCxnSpPr>
          <p:cNvPr id="8" name="Forme 69"/>
          <p:cNvCxnSpPr>
            <a:cxnSpLocks/>
            <a:stCxn id="50" idx="2"/>
            <a:endCxn id="11" idx="0"/>
          </p:cNvCxnSpPr>
          <p:nvPr/>
        </p:nvCxnSpPr>
        <p:spPr bwMode="auto">
          <a:xfrm rot="5400000">
            <a:off x="6328020" y="3184756"/>
            <a:ext cx="952836" cy="6786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Forme 69"/>
          <p:cNvCxnSpPr>
            <a:cxnSpLocks/>
            <a:stCxn id="50" idx="2"/>
            <a:endCxn id="13" idx="0"/>
          </p:cNvCxnSpPr>
          <p:nvPr/>
        </p:nvCxnSpPr>
        <p:spPr bwMode="auto">
          <a:xfrm rot="16199999" flipH="1">
            <a:off x="6685209" y="3506226"/>
            <a:ext cx="952836" cy="357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 bwMode="auto">
          <a:xfrm>
            <a:off x="5929322" y="1595754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schema:isPartOf</a:t>
            </a:r>
            <a:endParaRPr lang="en-US" sz="1100">
              <a:latin typeface="Century Gothic"/>
            </a:endParaRPr>
          </a:p>
        </p:txBody>
      </p:sp>
      <p:sp>
        <p:nvSpPr>
          <p:cNvPr id="11" name="Rectangle à coins arrondis 10"/>
          <p:cNvSpPr/>
          <p:nvPr/>
        </p:nvSpPr>
        <p:spPr bwMode="auto">
          <a:xfrm>
            <a:off x="6072198" y="4000504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sp>
        <p:nvSpPr>
          <p:cNvPr id="13" name="Rectangle à coins arrondis 12"/>
          <p:cNvSpPr/>
          <p:nvPr/>
        </p:nvSpPr>
        <p:spPr bwMode="auto">
          <a:xfrm>
            <a:off x="6786578" y="4000504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sp>
        <p:nvSpPr>
          <p:cNvPr id="14" name="Rectangle à coins arrondis 13"/>
          <p:cNvSpPr/>
          <p:nvPr/>
        </p:nvSpPr>
        <p:spPr bwMode="auto">
          <a:xfrm>
            <a:off x="7572396" y="4000504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cxnSp>
        <p:nvCxnSpPr>
          <p:cNvPr id="15" name="Forme 69"/>
          <p:cNvCxnSpPr>
            <a:cxnSpLocks/>
            <a:stCxn id="50" idx="2"/>
            <a:endCxn id="14" idx="0"/>
          </p:cNvCxnSpPr>
          <p:nvPr/>
        </p:nvCxnSpPr>
        <p:spPr bwMode="auto">
          <a:xfrm rot="16199999" flipH="1">
            <a:off x="7078118" y="3113317"/>
            <a:ext cx="952836" cy="821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 bwMode="auto">
          <a:xfrm>
            <a:off x="6643702" y="352458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bibo:issn</a:t>
            </a:r>
            <a:endParaRPr lang="en-US" sz="1100">
              <a:latin typeface="Century Gothic"/>
            </a:endParaRPr>
          </a:p>
        </p:txBody>
      </p:sp>
      <p:sp>
        <p:nvSpPr>
          <p:cNvPr id="17" name="ZoneTexte 16"/>
          <p:cNvSpPr txBox="1"/>
          <p:nvPr/>
        </p:nvSpPr>
        <p:spPr bwMode="auto">
          <a:xfrm>
            <a:off x="7429520" y="36906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dc:identifier</a:t>
            </a:r>
            <a:endParaRPr lang="en-US" sz="1100">
              <a:latin typeface="Century Gothic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143768" y="128586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6500858" y="128586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 bwMode="auto">
          <a:xfrm>
            <a:off x="6500858" y="22618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 bwMode="auto">
          <a:xfrm>
            <a:off x="7143768" y="22618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Forme 69"/>
          <p:cNvCxnSpPr>
            <a:cxnSpLocks/>
            <a:stCxn id="18" idx="2"/>
            <a:endCxn id="21" idx="0"/>
          </p:cNvCxnSpPr>
          <p:nvPr/>
        </p:nvCxnSpPr>
        <p:spPr bwMode="auto">
          <a:xfrm rot="5400000">
            <a:off x="6798649" y="1845293"/>
            <a:ext cx="833114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 bwMode="auto">
          <a:xfrm>
            <a:off x="6643734" y="1881506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schema:hasPart</a:t>
            </a:r>
            <a:endParaRPr lang="en-US" sz="1100">
              <a:latin typeface="Century Gothic"/>
            </a:endParaRPr>
          </a:p>
        </p:txBody>
      </p:sp>
      <p:cxnSp>
        <p:nvCxnSpPr>
          <p:cNvPr id="24" name="Forme 69"/>
          <p:cNvCxnSpPr>
            <a:cxnSpLocks/>
            <a:stCxn id="2" idx="3"/>
          </p:cNvCxnSpPr>
          <p:nvPr/>
        </p:nvCxnSpPr>
        <p:spPr bwMode="auto">
          <a:xfrm>
            <a:off x="7429520" y="2654759"/>
            <a:ext cx="928694" cy="53578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 bwMode="auto">
          <a:xfrm>
            <a:off x="7429520" y="2833354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dc:format</a:t>
            </a:r>
            <a:endParaRPr lang="en-US" sz="1100">
              <a:latin typeface="Century Gothic"/>
            </a:endParaRPr>
          </a:p>
        </p:txBody>
      </p:sp>
      <p:cxnSp>
        <p:nvCxnSpPr>
          <p:cNvPr id="29" name="Forme 69"/>
          <p:cNvCxnSpPr>
            <a:cxnSpLocks/>
            <a:stCxn id="2" idx="1"/>
            <a:endCxn id="31" idx="3"/>
          </p:cNvCxnSpPr>
          <p:nvPr/>
        </p:nvCxnSpPr>
        <p:spPr bwMode="auto">
          <a:xfrm rot="10800000">
            <a:off x="3786182" y="2404727"/>
            <a:ext cx="857256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 bwMode="auto">
          <a:xfrm>
            <a:off x="3795706" y="2118974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dct:spatial</a:t>
            </a:r>
            <a:endParaRPr lang="en-US" sz="1100">
              <a:latin typeface="Century Gothic"/>
            </a:endParaRPr>
          </a:p>
        </p:txBody>
      </p:sp>
      <p:sp>
        <p:nvSpPr>
          <p:cNvPr id="31" name="Rectangle à coins arrondis 30"/>
          <p:cNvSpPr/>
          <p:nvPr/>
        </p:nvSpPr>
        <p:spPr bwMode="auto">
          <a:xfrm>
            <a:off x="2276460" y="2261850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MARC Country URI</a:t>
            </a:r>
            <a:endParaRPr lang="fr-FR" sz="10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32" name="Rectangle à coins arrondis 31"/>
          <p:cNvSpPr/>
          <p:nvPr/>
        </p:nvSpPr>
        <p:spPr bwMode="auto">
          <a:xfrm>
            <a:off x="2276460" y="2690478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ISO Country URI</a:t>
            </a:r>
            <a:endParaRPr lang="fr-FR" sz="100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33" name="Forme 69"/>
          <p:cNvCxnSpPr>
            <a:cxnSpLocks/>
            <a:stCxn id="2" idx="1"/>
            <a:endCxn id="32" idx="3"/>
          </p:cNvCxnSpPr>
          <p:nvPr/>
        </p:nvCxnSpPr>
        <p:spPr bwMode="auto">
          <a:xfrm rot="10800000" flipV="1">
            <a:off x="3786182" y="2654758"/>
            <a:ext cx="857256" cy="17859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 bwMode="auto">
          <a:xfrm>
            <a:off x="3795706" y="2833354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dct:spatial</a:t>
            </a:r>
            <a:endParaRPr lang="en-US" sz="1100">
              <a:latin typeface="Century Gothic"/>
            </a:endParaRPr>
          </a:p>
        </p:txBody>
      </p:sp>
      <p:sp>
        <p:nvSpPr>
          <p:cNvPr id="40" name="Rectangle à coins arrondis 39"/>
          <p:cNvSpPr/>
          <p:nvPr/>
        </p:nvSpPr>
        <p:spPr bwMode="auto">
          <a:xfrm>
            <a:off x="714348" y="3261982"/>
            <a:ext cx="2500330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ReferencePublicationEvent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schema:PublicationEvent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41" name="Forme 69"/>
          <p:cNvCxnSpPr>
            <a:cxnSpLocks/>
            <a:stCxn id="3" idx="2"/>
            <a:endCxn id="40" idx="3"/>
          </p:cNvCxnSpPr>
          <p:nvPr/>
        </p:nvCxnSpPr>
        <p:spPr bwMode="auto">
          <a:xfrm rot="5400000">
            <a:off x="3823041" y="2439305"/>
            <a:ext cx="500066" cy="171679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 bwMode="auto">
          <a:xfrm>
            <a:off x="3347863" y="3286124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schema:publication</a:t>
            </a:r>
            <a:endParaRPr lang="en-US" sz="1100">
              <a:latin typeface="Century Gothic"/>
            </a:endParaRPr>
          </a:p>
        </p:txBody>
      </p:sp>
      <p:cxnSp>
        <p:nvCxnSpPr>
          <p:cNvPr id="43" name="Forme 69"/>
          <p:cNvCxnSpPr>
            <a:cxnSpLocks/>
            <a:stCxn id="40" idx="0"/>
            <a:endCxn id="32" idx="1"/>
          </p:cNvCxnSpPr>
          <p:nvPr/>
        </p:nvCxnSpPr>
        <p:spPr bwMode="auto">
          <a:xfrm rot="5400000" flipH="1" flipV="1">
            <a:off x="1906172" y="2891694"/>
            <a:ext cx="428628" cy="31194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Forme 69"/>
          <p:cNvCxnSpPr>
            <a:cxnSpLocks/>
            <a:stCxn id="40" idx="0"/>
            <a:endCxn id="31" idx="1"/>
          </p:cNvCxnSpPr>
          <p:nvPr/>
        </p:nvCxnSpPr>
        <p:spPr bwMode="auto">
          <a:xfrm rot="5400000" flipH="1" flipV="1">
            <a:off x="1691858" y="2677381"/>
            <a:ext cx="857256" cy="31194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 bwMode="auto">
          <a:xfrm>
            <a:off x="785818" y="2118974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schema:location</a:t>
            </a:r>
            <a:endParaRPr lang="en-US" sz="1100">
              <a:latin typeface="Century Gothic"/>
            </a:endParaRPr>
          </a:p>
        </p:txBody>
      </p:sp>
      <p:sp>
        <p:nvSpPr>
          <p:cNvPr id="46" name="ZoneTexte 45"/>
          <p:cNvSpPr txBox="1"/>
          <p:nvPr/>
        </p:nvSpPr>
        <p:spPr bwMode="auto">
          <a:xfrm>
            <a:off x="785818" y="2547602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schema:location</a:t>
            </a:r>
            <a:endParaRPr lang="en-US" sz="1100">
              <a:latin typeface="Century Gothic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7072330" y="29047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Rectangle à coins arrondis 55"/>
          <p:cNvSpPr/>
          <p:nvPr/>
        </p:nvSpPr>
        <p:spPr bwMode="auto">
          <a:xfrm>
            <a:off x="1285852" y="1284273"/>
            <a:ext cx="2500330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#ISSN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bf:Issn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57" name="Forme 69"/>
          <p:cNvCxnSpPr>
            <a:cxnSpLocks/>
            <a:stCxn id="89" idx="0"/>
            <a:endCxn id="56" idx="3"/>
          </p:cNvCxnSpPr>
          <p:nvPr/>
        </p:nvCxnSpPr>
        <p:spPr bwMode="auto">
          <a:xfrm rot="16199999" flipV="1">
            <a:off x="3922476" y="1326574"/>
            <a:ext cx="798982" cy="107157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/>
          <p:cNvSpPr txBox="1"/>
          <p:nvPr/>
        </p:nvSpPr>
        <p:spPr bwMode="auto">
          <a:xfrm>
            <a:off x="3857620" y="1167126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bf:identifiedBy</a:t>
            </a:r>
            <a:endParaRPr lang="en-US" sz="1100">
              <a:latin typeface="Century Gothic"/>
            </a:endParaRPr>
          </a:p>
        </p:txBody>
      </p:sp>
      <p:cxnSp>
        <p:nvCxnSpPr>
          <p:cNvPr id="59" name="Forme 69"/>
          <p:cNvCxnSpPr>
            <a:cxnSpLocks/>
            <a:stCxn id="56" idx="0"/>
            <a:endCxn id="61" idx="3"/>
          </p:cNvCxnSpPr>
          <p:nvPr/>
        </p:nvCxnSpPr>
        <p:spPr bwMode="auto">
          <a:xfrm rot="16199999" flipV="1">
            <a:off x="2357423" y="1105678"/>
            <a:ext cx="178595" cy="17859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 bwMode="auto">
          <a:xfrm>
            <a:off x="2500298" y="998520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rdf:value</a:t>
            </a:r>
            <a:endParaRPr lang="en-US" sz="1100">
              <a:latin typeface="Century Gothic"/>
            </a:endParaRPr>
          </a:p>
        </p:txBody>
      </p:sp>
      <p:sp>
        <p:nvSpPr>
          <p:cNvPr id="61" name="Rectangle à coins arrondis 60"/>
          <p:cNvSpPr/>
          <p:nvPr/>
        </p:nvSpPr>
        <p:spPr bwMode="auto">
          <a:xfrm>
            <a:off x="1214414" y="998521"/>
            <a:ext cx="1143008" cy="214313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"the ISSN"</a:t>
            </a:r>
            <a:endParaRPr/>
          </a:p>
        </p:txBody>
      </p:sp>
      <p:cxnSp>
        <p:nvCxnSpPr>
          <p:cNvPr id="62" name="Forme 69"/>
          <p:cNvCxnSpPr>
            <a:cxnSpLocks/>
            <a:stCxn id="56" idx="2"/>
          </p:cNvCxnSpPr>
          <p:nvPr/>
        </p:nvCxnSpPr>
        <p:spPr bwMode="auto">
          <a:xfrm rot="5400000">
            <a:off x="2321704" y="1605744"/>
            <a:ext cx="178595" cy="25003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 bwMode="auto">
          <a:xfrm>
            <a:off x="2571736" y="166560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1357290" y="128427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Rectangle 67"/>
          <p:cNvSpPr/>
          <p:nvPr/>
        </p:nvSpPr>
        <p:spPr bwMode="auto">
          <a:xfrm>
            <a:off x="1571604" y="128427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9" name="Forme 69"/>
          <p:cNvCxnSpPr>
            <a:cxnSpLocks/>
            <a:stCxn id="67" idx="0"/>
          </p:cNvCxnSpPr>
          <p:nvPr/>
        </p:nvCxnSpPr>
        <p:spPr bwMode="auto">
          <a:xfrm rot="5400000" flipH="1" flipV="1">
            <a:off x="929456" y="785000"/>
            <a:ext cx="998544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/>
          <p:cNvSpPr txBox="1"/>
          <p:nvPr/>
        </p:nvSpPr>
        <p:spPr bwMode="auto">
          <a:xfrm>
            <a:off x="-32" y="571480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issnprop:hasCancelledISSN</a:t>
            </a:r>
            <a:endParaRPr lang="en-US" sz="1100">
              <a:latin typeface="Century Gothic"/>
            </a:endParaRPr>
          </a:p>
        </p:txBody>
      </p:sp>
      <p:sp>
        <p:nvSpPr>
          <p:cNvPr id="73" name="ZoneTexte 72"/>
          <p:cNvSpPr txBox="1"/>
          <p:nvPr/>
        </p:nvSpPr>
        <p:spPr bwMode="auto">
          <a:xfrm>
            <a:off x="1643042" y="142852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issnprop:cancelledInFavorOf</a:t>
            </a:r>
            <a:endParaRPr lang="en-US" sz="1100">
              <a:latin typeface="Century Gothic"/>
            </a:endParaRPr>
          </a:p>
        </p:txBody>
      </p:sp>
      <p:cxnSp>
        <p:nvCxnSpPr>
          <p:cNvPr id="74" name="Forme 69"/>
          <p:cNvCxnSpPr>
            <a:cxnSpLocks/>
            <a:endCxn id="68" idx="0"/>
          </p:cNvCxnSpPr>
          <p:nvPr/>
        </p:nvCxnSpPr>
        <p:spPr bwMode="auto">
          <a:xfrm rot="5400000">
            <a:off x="1143770" y="785000"/>
            <a:ext cx="998544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orme 69"/>
          <p:cNvCxnSpPr>
            <a:cxnSpLocks/>
            <a:stCxn id="2" idx="3"/>
            <a:endCxn id="125" idx="1"/>
          </p:cNvCxnSpPr>
          <p:nvPr/>
        </p:nvCxnSpPr>
        <p:spPr bwMode="auto">
          <a:xfrm flipV="1">
            <a:off x="7429520" y="2261850"/>
            <a:ext cx="928694" cy="39290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/>
          <p:cNvSpPr txBox="1"/>
          <p:nvPr/>
        </p:nvSpPr>
        <p:spPr bwMode="auto">
          <a:xfrm>
            <a:off x="7429520" y="2333288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schema:url</a:t>
            </a:r>
            <a:endParaRPr lang="en-US" sz="1100">
              <a:latin typeface="Century Gothic"/>
            </a:endParaRPr>
          </a:p>
        </p:txBody>
      </p:sp>
      <p:cxnSp>
        <p:nvCxnSpPr>
          <p:cNvPr id="85" name="Forme 69"/>
          <p:cNvCxnSpPr>
            <a:cxnSpLocks/>
            <a:stCxn id="97" idx="2"/>
            <a:endCxn id="86" idx="3"/>
          </p:cNvCxnSpPr>
          <p:nvPr/>
        </p:nvCxnSpPr>
        <p:spPr bwMode="auto">
          <a:xfrm rot="5400000">
            <a:off x="4261716" y="3279452"/>
            <a:ext cx="1606608" cy="114304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à coins arrondis 85"/>
          <p:cNvSpPr/>
          <p:nvPr/>
        </p:nvSpPr>
        <p:spPr bwMode="auto">
          <a:xfrm>
            <a:off x="3421962" y="4511400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proper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cxnSp>
        <p:nvCxnSpPr>
          <p:cNvPr id="87" name="Forme 69"/>
          <p:cNvCxnSpPr>
            <a:cxnSpLocks/>
            <a:stCxn id="97" idx="2"/>
            <a:endCxn id="88" idx="3"/>
          </p:cNvCxnSpPr>
          <p:nvPr/>
        </p:nvCxnSpPr>
        <p:spPr bwMode="auto">
          <a:xfrm rot="5400000">
            <a:off x="4081712" y="3459488"/>
            <a:ext cx="1966647" cy="114300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à coins arrondis 87"/>
          <p:cNvSpPr/>
          <p:nvPr/>
        </p:nvSpPr>
        <p:spPr bwMode="auto">
          <a:xfrm>
            <a:off x="3421994" y="4871440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Key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89" name="Rectangle 88"/>
          <p:cNvSpPr/>
          <p:nvPr/>
        </p:nvSpPr>
        <p:spPr bwMode="auto">
          <a:xfrm>
            <a:off x="4786314" y="22618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" name="ZoneTexte 93"/>
          <p:cNvSpPr txBox="1"/>
          <p:nvPr/>
        </p:nvSpPr>
        <p:spPr bwMode="auto">
          <a:xfrm>
            <a:off x="4564970" y="439266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95" name="ZoneTexte 94"/>
          <p:cNvSpPr txBox="1"/>
          <p:nvPr/>
        </p:nvSpPr>
        <p:spPr bwMode="auto">
          <a:xfrm>
            <a:off x="4582830" y="4731902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5565102" y="29047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" name="Rectangle à coins arrondis 99"/>
          <p:cNvSpPr/>
          <p:nvPr/>
        </p:nvSpPr>
        <p:spPr bwMode="auto">
          <a:xfrm>
            <a:off x="4143372" y="5404768"/>
            <a:ext cx="228601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#Record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schema:CreativeWork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01" name="Forme 69"/>
          <p:cNvCxnSpPr>
            <a:cxnSpLocks/>
            <a:stCxn id="103" idx="0"/>
            <a:endCxn id="2" idx="2"/>
          </p:cNvCxnSpPr>
          <p:nvPr/>
        </p:nvCxnSpPr>
        <p:spPr bwMode="auto">
          <a:xfrm flipH="1" flipV="1">
            <a:off x="6036479" y="3047668"/>
            <a:ext cx="35719" cy="23681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ZoneTexte 101"/>
          <p:cNvSpPr txBox="1"/>
          <p:nvPr/>
        </p:nvSpPr>
        <p:spPr bwMode="auto">
          <a:xfrm>
            <a:off x="6131662" y="4928844"/>
            <a:ext cx="1500165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schema:mainEntity</a:t>
            </a:r>
            <a:endParaRPr lang="en-US" sz="1100">
              <a:latin typeface="Century Gothic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6000760" y="541580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5" name="Forme 69"/>
          <p:cNvCxnSpPr>
            <a:cxnSpLocks/>
            <a:stCxn id="100" idx="3"/>
            <a:endCxn id="108" idx="1"/>
          </p:cNvCxnSpPr>
          <p:nvPr/>
        </p:nvCxnSpPr>
        <p:spPr bwMode="auto">
          <a:xfrm>
            <a:off x="6429388" y="5690520"/>
            <a:ext cx="1214446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à coins arrondis 107"/>
          <p:cNvSpPr/>
          <p:nvPr/>
        </p:nvSpPr>
        <p:spPr bwMode="auto">
          <a:xfrm>
            <a:off x="7643834" y="561908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110" name="ZoneTexte 109"/>
          <p:cNvSpPr txBox="1"/>
          <p:nvPr/>
        </p:nvSpPr>
        <p:spPr bwMode="auto">
          <a:xfrm>
            <a:off x="6429388" y="54289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dc:modified</a:t>
            </a:r>
            <a:endParaRPr lang="en-US" sz="1100">
              <a:latin typeface="Century Gothic"/>
            </a:endParaRPr>
          </a:p>
        </p:txBody>
      </p:sp>
      <p:cxnSp>
        <p:nvCxnSpPr>
          <p:cNvPr id="111" name="Forme 69"/>
          <p:cNvCxnSpPr>
            <a:cxnSpLocks/>
            <a:stCxn id="100" idx="2"/>
          </p:cNvCxnSpPr>
          <p:nvPr/>
        </p:nvCxnSpPr>
        <p:spPr bwMode="auto">
          <a:xfrm rot="5400000">
            <a:off x="4959121" y="5874903"/>
            <a:ext cx="225891" cy="42862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 bwMode="auto">
          <a:xfrm>
            <a:off x="5357818" y="6047710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bf:status</a:t>
            </a:r>
            <a:endParaRPr lang="en-US" sz="1100">
              <a:latin typeface="Century Gothic"/>
            </a:endParaRPr>
          </a:p>
        </p:txBody>
      </p:sp>
      <p:sp>
        <p:nvSpPr>
          <p:cNvPr id="115" name="Rectangle à coins arrondis 114"/>
          <p:cNvSpPr/>
          <p:nvPr/>
        </p:nvSpPr>
        <p:spPr bwMode="auto">
          <a:xfrm>
            <a:off x="214282" y="5292015"/>
            <a:ext cx="2143140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http://issn.org/organization/ISSNCenter#</a:t>
            </a:r>
            <a:r>
              <a:rPr lang="fr-FR" sz="1400" b="1">
                <a:solidFill>
                  <a:schemeClr val="tx1"/>
                </a:solidFill>
                <a:latin typeface="Century Gothic"/>
              </a:rPr>
              <a:t>{CCID}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16" name="Forme 69"/>
          <p:cNvCxnSpPr>
            <a:cxnSpLocks/>
            <a:stCxn id="100" idx="1"/>
            <a:endCxn id="115" idx="3"/>
          </p:cNvCxnSpPr>
          <p:nvPr/>
        </p:nvCxnSpPr>
        <p:spPr bwMode="auto">
          <a:xfrm rot="10800000">
            <a:off x="2357422" y="5684924"/>
            <a:ext cx="1785950" cy="55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ZoneTexte 116"/>
          <p:cNvSpPr txBox="1"/>
          <p:nvPr/>
        </p:nvSpPr>
        <p:spPr bwMode="auto">
          <a:xfrm>
            <a:off x="2428860" y="5333330"/>
            <a:ext cx="171451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prov:wasAttributedTo</a:t>
            </a:r>
            <a:endParaRPr lang="en-US" sz="1100">
              <a:latin typeface="Century Gothic"/>
            </a:endParaRPr>
          </a:p>
        </p:txBody>
      </p:sp>
      <p:sp>
        <p:nvSpPr>
          <p:cNvPr id="125" name="Rectangle à coins arrondis 124"/>
          <p:cNvSpPr/>
          <p:nvPr/>
        </p:nvSpPr>
        <p:spPr bwMode="auto">
          <a:xfrm>
            <a:off x="8358214" y="219041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200" b="1">
                <a:solidFill>
                  <a:prstClr val="black"/>
                </a:solidFill>
                <a:latin typeface="Century Gothic"/>
              </a:rPr>
              <a:t>"…"</a:t>
            </a:r>
            <a:endParaRPr/>
          </a:p>
        </p:txBody>
      </p:sp>
      <p:sp>
        <p:nvSpPr>
          <p:cNvPr id="128" name="ZoneTexte 127"/>
          <p:cNvSpPr txBox="1"/>
          <p:nvPr/>
        </p:nvSpPr>
        <p:spPr bwMode="auto">
          <a:xfrm>
            <a:off x="10830" y="655402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/>
              <a:t>Relative </a:t>
            </a:r>
            <a:r>
              <a:rPr lang="fr-FR" sz="1200" i="1"/>
              <a:t>URIs</a:t>
            </a:r>
            <a:r>
              <a:rPr lang="fr-FR" sz="1200" i="1"/>
              <a:t> (</a:t>
            </a:r>
            <a:r>
              <a:rPr lang="fr-FR" sz="1200" i="1"/>
              <a:t>beginning</a:t>
            </a:r>
            <a:r>
              <a:rPr lang="fr-FR" sz="1200" i="1"/>
              <a:t> </a:t>
            </a:r>
            <a:r>
              <a:rPr lang="fr-FR" sz="1200" i="1"/>
              <a:t>with</a:t>
            </a:r>
            <a:r>
              <a:rPr lang="fr-FR" sz="1200" i="1"/>
              <a:t> #) are relative to the ISSN </a:t>
            </a:r>
            <a:r>
              <a:rPr lang="fr-FR" sz="1200" i="1"/>
              <a:t>resource</a:t>
            </a:r>
            <a:r>
              <a:rPr lang="fr-FR" sz="1200" i="1"/>
              <a:t> URI : http://issn.org/resource/ISSN/{ISSN}</a:t>
            </a:r>
            <a:endParaRPr lang="en-US" sz="1200" i="1"/>
          </a:p>
        </p:txBody>
      </p:sp>
      <p:sp>
        <p:nvSpPr>
          <p:cNvPr id="81" name="Rectangle 80"/>
          <p:cNvSpPr/>
          <p:nvPr/>
        </p:nvSpPr>
        <p:spPr bwMode="auto">
          <a:xfrm>
            <a:off x="5143504" y="22859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2" name="Forme 69"/>
          <p:cNvCxnSpPr>
            <a:cxnSpLocks/>
            <a:stCxn id="81" idx="0"/>
            <a:endCxn id="90" idx="2"/>
          </p:cNvCxnSpPr>
          <p:nvPr/>
        </p:nvCxnSpPr>
        <p:spPr bwMode="auto">
          <a:xfrm rot="5400000" flipH="1" flipV="1">
            <a:off x="4589859" y="1053687"/>
            <a:ext cx="1857388" cy="607223"/>
          </a:xfrm>
          <a:prstGeom prst="bentConnector3">
            <a:avLst>
              <a:gd name="adj1" fmla="val 8025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Forme 69"/>
          <p:cNvCxnSpPr>
            <a:cxnSpLocks/>
            <a:stCxn id="81" idx="0"/>
            <a:endCxn id="91" idx="2"/>
          </p:cNvCxnSpPr>
          <p:nvPr/>
        </p:nvCxnSpPr>
        <p:spPr bwMode="auto">
          <a:xfrm rot="16199999" flipV="1">
            <a:off x="4000496" y="1071546"/>
            <a:ext cx="1857388" cy="571504"/>
          </a:xfrm>
          <a:prstGeom prst="bentConnector3">
            <a:avLst>
              <a:gd name="adj1" fmla="val 8025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à coins arrondis 89"/>
          <p:cNvSpPr/>
          <p:nvPr/>
        </p:nvSpPr>
        <p:spPr bwMode="auto">
          <a:xfrm>
            <a:off x="5143504" y="142852"/>
            <a:ext cx="1357322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cancelled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ISSN-L"</a:t>
            </a:r>
            <a:endParaRPr/>
          </a:p>
        </p:txBody>
      </p:sp>
      <p:sp>
        <p:nvSpPr>
          <p:cNvPr id="91" name="Rectangle à coins arrondis 90"/>
          <p:cNvSpPr/>
          <p:nvPr/>
        </p:nvSpPr>
        <p:spPr bwMode="auto">
          <a:xfrm>
            <a:off x="4000496" y="142852"/>
            <a:ext cx="1285884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"incorrect ISSN"</a:t>
            </a:r>
            <a:endParaRPr/>
          </a:p>
        </p:txBody>
      </p:sp>
      <p:sp>
        <p:nvSpPr>
          <p:cNvPr id="92" name="ZoneTexte 91"/>
          <p:cNvSpPr txBox="1"/>
          <p:nvPr/>
        </p:nvSpPr>
        <p:spPr bwMode="auto">
          <a:xfrm>
            <a:off x="2643174" y="500042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issnprop:hasIncorrectISSN</a:t>
            </a:r>
            <a:endParaRPr lang="en-US" sz="1100">
              <a:latin typeface="Century Gothic"/>
            </a:endParaRPr>
          </a:p>
        </p:txBody>
      </p:sp>
      <p:sp>
        <p:nvSpPr>
          <p:cNvPr id="93" name="ZoneTexte 92"/>
          <p:cNvSpPr txBox="1"/>
          <p:nvPr/>
        </p:nvSpPr>
        <p:spPr bwMode="auto">
          <a:xfrm>
            <a:off x="5857884" y="500042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issnprop:hasCancelledISSN-L</a:t>
            </a:r>
            <a:endParaRPr lang="en-US" sz="1100">
              <a:latin typeface="Century Gothic"/>
            </a:endParaRPr>
          </a:p>
        </p:txBody>
      </p:sp>
      <p:sp>
        <p:nvSpPr>
          <p:cNvPr id="96" name="Rectangle à coins arrondis 99"/>
          <p:cNvSpPr/>
          <p:nvPr/>
        </p:nvSpPr>
        <p:spPr bwMode="auto">
          <a:xfrm>
            <a:off x="714348" y="4008400"/>
            <a:ext cx="2500330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schema:ArchiveComponent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5168320" y="289011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9" name="Forme 69"/>
          <p:cNvCxnSpPr>
            <a:cxnSpLocks/>
            <a:stCxn id="98" idx="2"/>
            <a:endCxn id="96" idx="3"/>
          </p:cNvCxnSpPr>
          <p:nvPr/>
        </p:nvCxnSpPr>
        <p:spPr bwMode="auto">
          <a:xfrm rot="5400000">
            <a:off x="3596637" y="2651032"/>
            <a:ext cx="1261160" cy="202508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ZoneTexte 103"/>
          <p:cNvSpPr txBox="1"/>
          <p:nvPr/>
        </p:nvSpPr>
        <p:spPr bwMode="auto">
          <a:xfrm>
            <a:off x="3323640" y="3989489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schema:subjectOf</a:t>
            </a:r>
            <a:endParaRPr lang="en-US" sz="11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" name="Rectangle à coins arrondis 114"/>
          <p:cNvSpPr/>
          <p:nvPr/>
        </p:nvSpPr>
        <p:spPr bwMode="auto">
          <a:xfrm>
            <a:off x="899592" y="1484784"/>
            <a:ext cx="2143140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http://issn.org/organization/ISSNCenter#</a:t>
            </a:r>
            <a:r>
              <a:rPr lang="fr-FR" sz="1400" b="1">
                <a:solidFill>
                  <a:schemeClr val="tx1"/>
                </a:solidFill>
                <a:latin typeface="Century Gothic"/>
              </a:rPr>
              <a:t>{CCID}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6" name="Rectangle à coins arrondis 13"/>
          <p:cNvSpPr/>
          <p:nvPr/>
        </p:nvSpPr>
        <p:spPr bwMode="auto">
          <a:xfrm>
            <a:off x="5076056" y="548679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"Name of the ISSN Centre"</a:t>
            </a:r>
            <a:endParaRPr/>
          </a:p>
        </p:txBody>
      </p:sp>
      <p:sp>
        <p:nvSpPr>
          <p:cNvPr id="7" name="Rectangle à coins arrondis 13"/>
          <p:cNvSpPr/>
          <p:nvPr/>
        </p:nvSpPr>
        <p:spPr bwMode="auto">
          <a:xfrm>
            <a:off x="5076056" y="908719"/>
            <a:ext cx="136815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&lt;http://logo.png&gt;</a:t>
            </a:r>
            <a:endParaRPr/>
          </a:p>
        </p:txBody>
      </p:sp>
      <p:sp>
        <p:nvSpPr>
          <p:cNvPr id="8" name="Rectangle à coins arrondis 13"/>
          <p:cNvSpPr/>
          <p:nvPr/>
        </p:nvSpPr>
        <p:spPr bwMode="auto">
          <a:xfrm>
            <a:off x="5076056" y="1268759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"ISSN Centre code"</a:t>
            </a:r>
            <a:endParaRPr/>
          </a:p>
        </p:txBody>
      </p:sp>
      <p:sp>
        <p:nvSpPr>
          <p:cNvPr id="9" name="Rectangle à coins arrondis 13"/>
          <p:cNvSpPr/>
          <p:nvPr/>
        </p:nvSpPr>
        <p:spPr bwMode="auto">
          <a:xfrm>
            <a:off x="5071445" y="2365397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telephone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10" name="Rectangle à coins arrondis 13"/>
          <p:cNvSpPr/>
          <p:nvPr/>
        </p:nvSpPr>
        <p:spPr bwMode="auto">
          <a:xfrm>
            <a:off x="5076056" y="1621768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website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11" name="Rectangle à coins arrondis 13"/>
          <p:cNvSpPr/>
          <p:nvPr/>
        </p:nvSpPr>
        <p:spPr bwMode="auto">
          <a:xfrm>
            <a:off x="5066835" y="1986096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"e-mail"</a:t>
            </a:r>
            <a:endParaRPr/>
          </a:p>
        </p:txBody>
      </p:sp>
      <p:sp>
        <p:nvSpPr>
          <p:cNvPr id="12" name="Rectangle à coins arrondis 13"/>
          <p:cNvSpPr/>
          <p:nvPr/>
        </p:nvSpPr>
        <p:spPr bwMode="auto">
          <a:xfrm>
            <a:off x="5079564" y="2734730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"fax"</a:t>
            </a:r>
            <a:endParaRPr/>
          </a:p>
        </p:txBody>
      </p:sp>
      <p:sp>
        <p:nvSpPr>
          <p:cNvPr id="13" name="Rectangle à coins arrondis 45"/>
          <p:cNvSpPr/>
          <p:nvPr/>
        </p:nvSpPr>
        <p:spPr bwMode="auto">
          <a:xfrm>
            <a:off x="5076056" y="3107147"/>
            <a:ext cx="1728192" cy="554745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schema:PostalAddress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4" name="Rectangle à coins arrondis 31"/>
          <p:cNvSpPr/>
          <p:nvPr/>
        </p:nvSpPr>
        <p:spPr bwMode="auto">
          <a:xfrm>
            <a:off x="5076056" y="3824378"/>
            <a:ext cx="172819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ISO Country URI</a:t>
            </a:r>
            <a:endParaRPr lang="fr-FR" sz="10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5" name="Rectangle à coins arrondis 13"/>
          <p:cNvSpPr/>
          <p:nvPr/>
        </p:nvSpPr>
        <p:spPr bwMode="auto">
          <a:xfrm>
            <a:off x="8135888" y="2627017"/>
            <a:ext cx="100811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street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address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16" name="Rectangle à coins arrondis 13"/>
          <p:cNvSpPr/>
          <p:nvPr/>
        </p:nvSpPr>
        <p:spPr bwMode="auto">
          <a:xfrm>
            <a:off x="8122495" y="3250245"/>
            <a:ext cx="100811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"city 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name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17" name="Rectangle à coins arrondis 13"/>
          <p:cNvSpPr/>
          <p:nvPr/>
        </p:nvSpPr>
        <p:spPr bwMode="auto">
          <a:xfrm>
            <a:off x="8135888" y="3964725"/>
            <a:ext cx="100811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"country code"</a:t>
            </a:r>
            <a:endParaRPr/>
          </a:p>
        </p:txBody>
      </p:sp>
      <p:sp>
        <p:nvSpPr>
          <p:cNvPr id="18" name="Rectangle à coins arrondis 45"/>
          <p:cNvSpPr/>
          <p:nvPr/>
        </p:nvSpPr>
        <p:spPr bwMode="auto">
          <a:xfrm>
            <a:off x="899592" y="5102845"/>
            <a:ext cx="2143140" cy="554745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schema:ContactPoint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9" name="Forme 69"/>
          <p:cNvCxnSpPr>
            <a:cxnSpLocks/>
            <a:stCxn id="115" idx="3"/>
            <a:endCxn id="6" idx="1"/>
          </p:cNvCxnSpPr>
          <p:nvPr/>
        </p:nvCxnSpPr>
        <p:spPr bwMode="auto">
          <a:xfrm flipV="1">
            <a:off x="3042732" y="687179"/>
            <a:ext cx="2033324" cy="11905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Forme 69"/>
          <p:cNvCxnSpPr>
            <a:cxnSpLocks/>
            <a:stCxn id="115" idx="3"/>
            <a:endCxn id="7" idx="1"/>
          </p:cNvCxnSpPr>
          <p:nvPr/>
        </p:nvCxnSpPr>
        <p:spPr bwMode="auto">
          <a:xfrm flipV="1">
            <a:off x="3042732" y="1047218"/>
            <a:ext cx="2033324" cy="8304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Forme 69"/>
          <p:cNvCxnSpPr>
            <a:cxnSpLocks/>
            <a:stCxn id="115" idx="3"/>
            <a:endCxn id="8" idx="1"/>
          </p:cNvCxnSpPr>
          <p:nvPr/>
        </p:nvCxnSpPr>
        <p:spPr bwMode="auto">
          <a:xfrm flipV="1">
            <a:off x="3042732" y="1407259"/>
            <a:ext cx="2033324" cy="4704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Forme 69"/>
          <p:cNvCxnSpPr>
            <a:cxnSpLocks/>
            <a:stCxn id="115" idx="3"/>
            <a:endCxn id="9" idx="1"/>
          </p:cNvCxnSpPr>
          <p:nvPr/>
        </p:nvCxnSpPr>
        <p:spPr bwMode="auto">
          <a:xfrm>
            <a:off x="3042732" y="1877693"/>
            <a:ext cx="2028712" cy="6262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e 69"/>
          <p:cNvCxnSpPr>
            <a:cxnSpLocks/>
            <a:stCxn id="115" idx="3"/>
            <a:endCxn id="10" idx="1"/>
          </p:cNvCxnSpPr>
          <p:nvPr/>
        </p:nvCxnSpPr>
        <p:spPr bwMode="auto">
          <a:xfrm flipV="1">
            <a:off x="3042732" y="1760268"/>
            <a:ext cx="2033324" cy="1174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orme 69"/>
          <p:cNvCxnSpPr>
            <a:cxnSpLocks/>
            <a:stCxn id="115" idx="3"/>
            <a:endCxn id="11" idx="1"/>
          </p:cNvCxnSpPr>
          <p:nvPr/>
        </p:nvCxnSpPr>
        <p:spPr bwMode="auto">
          <a:xfrm>
            <a:off x="3042732" y="1877693"/>
            <a:ext cx="2024103" cy="2469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Forme 69"/>
          <p:cNvCxnSpPr>
            <a:cxnSpLocks/>
            <a:stCxn id="115" idx="3"/>
            <a:endCxn id="12" idx="1"/>
          </p:cNvCxnSpPr>
          <p:nvPr/>
        </p:nvCxnSpPr>
        <p:spPr bwMode="auto">
          <a:xfrm>
            <a:off x="3042732" y="1877693"/>
            <a:ext cx="2036831" cy="995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Forme 69"/>
          <p:cNvCxnSpPr>
            <a:cxnSpLocks/>
            <a:stCxn id="115" idx="3"/>
            <a:endCxn id="13" idx="1"/>
          </p:cNvCxnSpPr>
          <p:nvPr/>
        </p:nvCxnSpPr>
        <p:spPr bwMode="auto">
          <a:xfrm>
            <a:off x="3042732" y="1877693"/>
            <a:ext cx="2033324" cy="15068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Forme 69"/>
          <p:cNvCxnSpPr>
            <a:cxnSpLocks/>
            <a:stCxn id="115" idx="3"/>
            <a:endCxn id="14" idx="1"/>
          </p:cNvCxnSpPr>
          <p:nvPr/>
        </p:nvCxnSpPr>
        <p:spPr bwMode="auto">
          <a:xfrm>
            <a:off x="3042732" y="1877693"/>
            <a:ext cx="2033324" cy="20895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Forme 69"/>
          <p:cNvCxnSpPr>
            <a:cxnSpLocks/>
            <a:stCxn id="13" idx="3"/>
            <a:endCxn id="15" idx="1"/>
          </p:cNvCxnSpPr>
          <p:nvPr/>
        </p:nvCxnSpPr>
        <p:spPr bwMode="auto">
          <a:xfrm flipV="1">
            <a:off x="6804248" y="2765517"/>
            <a:ext cx="1331640" cy="6190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Forme 69"/>
          <p:cNvCxnSpPr>
            <a:cxnSpLocks/>
            <a:stCxn id="13" idx="3"/>
            <a:endCxn id="16" idx="1"/>
          </p:cNvCxnSpPr>
          <p:nvPr/>
        </p:nvCxnSpPr>
        <p:spPr bwMode="auto">
          <a:xfrm>
            <a:off x="6804248" y="3384520"/>
            <a:ext cx="1318248" cy="42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Forme 69"/>
          <p:cNvCxnSpPr>
            <a:cxnSpLocks/>
            <a:stCxn id="13" idx="3"/>
            <a:endCxn id="17" idx="1"/>
          </p:cNvCxnSpPr>
          <p:nvPr/>
        </p:nvCxnSpPr>
        <p:spPr bwMode="auto">
          <a:xfrm>
            <a:off x="6804248" y="3384520"/>
            <a:ext cx="1331640" cy="7187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Forme 69"/>
          <p:cNvCxnSpPr>
            <a:cxnSpLocks/>
            <a:stCxn id="115" idx="2"/>
            <a:endCxn id="18" idx="0"/>
          </p:cNvCxnSpPr>
          <p:nvPr/>
        </p:nvCxnSpPr>
        <p:spPr bwMode="auto">
          <a:xfrm rot="5400000">
            <a:off x="555041" y="3686723"/>
            <a:ext cx="2832243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à coins arrondis 13"/>
          <p:cNvSpPr/>
          <p:nvPr/>
        </p:nvSpPr>
        <p:spPr bwMode="auto">
          <a:xfrm>
            <a:off x="5076056" y="4605386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"Mr John Doe, 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Librarian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66" name="Rectangle à coins arrondis 13"/>
          <p:cNvSpPr/>
          <p:nvPr/>
        </p:nvSpPr>
        <p:spPr bwMode="auto">
          <a:xfrm>
            <a:off x="5066835" y="4952202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"Main contact point" (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only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for the first contact point)</a:t>
            </a:r>
            <a:endParaRPr/>
          </a:p>
        </p:txBody>
      </p:sp>
      <p:sp>
        <p:nvSpPr>
          <p:cNvPr id="74" name="Rectangle à coins arrondis 13"/>
          <p:cNvSpPr/>
          <p:nvPr/>
        </p:nvSpPr>
        <p:spPr bwMode="auto">
          <a:xfrm>
            <a:off x="5064918" y="5691543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telephone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75" name="Rectangle à coins arrondis 13"/>
          <p:cNvSpPr/>
          <p:nvPr/>
        </p:nvSpPr>
        <p:spPr bwMode="auto">
          <a:xfrm>
            <a:off x="5060308" y="5312242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"e-mail"</a:t>
            </a:r>
            <a:endParaRPr/>
          </a:p>
        </p:txBody>
      </p:sp>
      <p:sp>
        <p:nvSpPr>
          <p:cNvPr id="76" name="Rectangle à coins arrondis 13"/>
          <p:cNvSpPr/>
          <p:nvPr/>
        </p:nvSpPr>
        <p:spPr bwMode="auto">
          <a:xfrm>
            <a:off x="5073037" y="6060876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"fax"</a:t>
            </a:r>
            <a:endParaRPr/>
          </a:p>
        </p:txBody>
      </p:sp>
      <p:cxnSp>
        <p:nvCxnSpPr>
          <p:cNvPr id="82" name="Forme 69"/>
          <p:cNvCxnSpPr>
            <a:cxnSpLocks/>
            <a:stCxn id="18" idx="3"/>
            <a:endCxn id="65" idx="1"/>
          </p:cNvCxnSpPr>
          <p:nvPr/>
        </p:nvCxnSpPr>
        <p:spPr bwMode="auto">
          <a:xfrm flipV="1">
            <a:off x="3042732" y="4743886"/>
            <a:ext cx="2033324" cy="6363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Forme 69"/>
          <p:cNvCxnSpPr>
            <a:cxnSpLocks/>
            <a:stCxn id="18" idx="3"/>
            <a:endCxn id="66" idx="1"/>
          </p:cNvCxnSpPr>
          <p:nvPr/>
        </p:nvCxnSpPr>
        <p:spPr bwMode="auto">
          <a:xfrm flipV="1">
            <a:off x="3042732" y="5090702"/>
            <a:ext cx="2024103" cy="2895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Forme 69"/>
          <p:cNvCxnSpPr>
            <a:cxnSpLocks/>
            <a:stCxn id="18" idx="3"/>
            <a:endCxn id="75" idx="1"/>
          </p:cNvCxnSpPr>
          <p:nvPr/>
        </p:nvCxnSpPr>
        <p:spPr bwMode="auto">
          <a:xfrm>
            <a:off x="3042732" y="5380218"/>
            <a:ext cx="2017576" cy="705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Forme 69"/>
          <p:cNvCxnSpPr>
            <a:cxnSpLocks/>
            <a:stCxn id="18" idx="3"/>
            <a:endCxn id="74" idx="1"/>
          </p:cNvCxnSpPr>
          <p:nvPr/>
        </p:nvCxnSpPr>
        <p:spPr bwMode="auto">
          <a:xfrm>
            <a:off x="3042732" y="5380218"/>
            <a:ext cx="2022186" cy="4498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Forme 69"/>
          <p:cNvCxnSpPr>
            <a:cxnSpLocks/>
            <a:stCxn id="18" idx="3"/>
            <a:endCxn id="76" idx="1"/>
          </p:cNvCxnSpPr>
          <p:nvPr/>
        </p:nvCxnSpPr>
        <p:spPr bwMode="auto">
          <a:xfrm>
            <a:off x="3042732" y="5380218"/>
            <a:ext cx="2030305" cy="819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ZoneTexte 96"/>
          <p:cNvSpPr txBox="1"/>
          <p:nvPr/>
        </p:nvSpPr>
        <p:spPr bwMode="auto">
          <a:xfrm>
            <a:off x="3491880" y="36914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98" name="ZoneTexte 97"/>
          <p:cNvSpPr txBox="1"/>
          <p:nvPr/>
        </p:nvSpPr>
        <p:spPr bwMode="auto">
          <a:xfrm>
            <a:off x="3491880" y="74838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schema:logo</a:t>
            </a:r>
            <a:endParaRPr lang="en-US" sz="1100">
              <a:latin typeface="Century Gothic"/>
            </a:endParaRPr>
          </a:p>
        </p:txBody>
      </p:sp>
      <p:sp>
        <p:nvSpPr>
          <p:cNvPr id="99" name="ZoneTexte 98"/>
          <p:cNvSpPr txBox="1"/>
          <p:nvPr/>
        </p:nvSpPr>
        <p:spPr bwMode="auto">
          <a:xfrm>
            <a:off x="3491880" y="3671750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dct:spatial</a:t>
            </a:r>
            <a:endParaRPr lang="en-US" sz="1100">
              <a:latin typeface="Century Gothic"/>
            </a:endParaRPr>
          </a:p>
        </p:txBody>
      </p:sp>
      <p:sp>
        <p:nvSpPr>
          <p:cNvPr id="100" name="ZoneTexte 99"/>
          <p:cNvSpPr txBox="1"/>
          <p:nvPr/>
        </p:nvSpPr>
        <p:spPr bwMode="auto">
          <a:xfrm>
            <a:off x="3492737" y="112588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schema:identifier</a:t>
            </a:r>
            <a:endParaRPr lang="en-US" sz="1100">
              <a:latin typeface="Century Gothic"/>
            </a:endParaRPr>
          </a:p>
        </p:txBody>
      </p:sp>
      <p:sp>
        <p:nvSpPr>
          <p:cNvPr id="101" name="ZoneTexte 100"/>
          <p:cNvSpPr txBox="1"/>
          <p:nvPr/>
        </p:nvSpPr>
        <p:spPr bwMode="auto">
          <a:xfrm>
            <a:off x="3502855" y="147738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schema:url</a:t>
            </a:r>
            <a:endParaRPr lang="en-US" sz="1100">
              <a:latin typeface="Century Gothic"/>
            </a:endParaRPr>
          </a:p>
        </p:txBody>
      </p:sp>
      <p:sp>
        <p:nvSpPr>
          <p:cNvPr id="102" name="ZoneTexte 101"/>
          <p:cNvSpPr txBox="1"/>
          <p:nvPr/>
        </p:nvSpPr>
        <p:spPr bwMode="auto">
          <a:xfrm>
            <a:off x="3496822" y="187560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schema:email</a:t>
            </a:r>
            <a:endParaRPr lang="en-US" sz="1100">
              <a:latin typeface="Century Gothic"/>
            </a:endParaRPr>
          </a:p>
        </p:txBody>
      </p:sp>
      <p:sp>
        <p:nvSpPr>
          <p:cNvPr id="103" name="ZoneTexte 102"/>
          <p:cNvSpPr txBox="1"/>
          <p:nvPr/>
        </p:nvSpPr>
        <p:spPr bwMode="auto">
          <a:xfrm>
            <a:off x="3491880" y="2235234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schema:telephone</a:t>
            </a:r>
            <a:endParaRPr lang="en-US" sz="1100">
              <a:latin typeface="Century Gothic"/>
            </a:endParaRPr>
          </a:p>
        </p:txBody>
      </p:sp>
      <p:sp>
        <p:nvSpPr>
          <p:cNvPr id="104" name="ZoneTexte 103"/>
          <p:cNvSpPr txBox="1"/>
          <p:nvPr/>
        </p:nvSpPr>
        <p:spPr bwMode="auto">
          <a:xfrm>
            <a:off x="3495001" y="2572728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schema:faxNumber</a:t>
            </a:r>
            <a:endParaRPr lang="en-US" sz="1100">
              <a:latin typeface="Century Gothic"/>
            </a:endParaRPr>
          </a:p>
        </p:txBody>
      </p:sp>
      <p:sp>
        <p:nvSpPr>
          <p:cNvPr id="105" name="ZoneTexte 104"/>
          <p:cNvSpPr txBox="1"/>
          <p:nvPr/>
        </p:nvSpPr>
        <p:spPr bwMode="auto">
          <a:xfrm>
            <a:off x="3491880" y="3061355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schema:address</a:t>
            </a:r>
            <a:endParaRPr lang="en-US" sz="1100">
              <a:latin typeface="Century Gothic"/>
            </a:endParaRPr>
          </a:p>
        </p:txBody>
      </p:sp>
      <p:sp>
        <p:nvSpPr>
          <p:cNvPr id="106" name="ZoneTexte 105"/>
          <p:cNvSpPr txBox="1"/>
          <p:nvPr/>
        </p:nvSpPr>
        <p:spPr bwMode="auto">
          <a:xfrm>
            <a:off x="6782556" y="2290130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schema:streetAddress</a:t>
            </a:r>
            <a:endParaRPr lang="en-US" sz="1100">
              <a:latin typeface="Century Gothic"/>
            </a:endParaRPr>
          </a:p>
        </p:txBody>
      </p:sp>
      <p:sp>
        <p:nvSpPr>
          <p:cNvPr id="107" name="ZoneTexte 106"/>
          <p:cNvSpPr txBox="1"/>
          <p:nvPr/>
        </p:nvSpPr>
        <p:spPr bwMode="auto">
          <a:xfrm>
            <a:off x="6787817" y="2992077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schema:addressLocality</a:t>
            </a:r>
            <a:endParaRPr lang="en-US" sz="1100">
              <a:latin typeface="Century Gothic"/>
            </a:endParaRPr>
          </a:p>
        </p:txBody>
      </p:sp>
      <p:sp>
        <p:nvSpPr>
          <p:cNvPr id="108" name="ZoneTexte 107"/>
          <p:cNvSpPr txBox="1"/>
          <p:nvPr/>
        </p:nvSpPr>
        <p:spPr bwMode="auto">
          <a:xfrm>
            <a:off x="6804248" y="3685314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schema:addressCountry</a:t>
            </a:r>
            <a:endParaRPr lang="en-US" sz="1100">
              <a:latin typeface="Century Gothic"/>
            </a:endParaRPr>
          </a:p>
        </p:txBody>
      </p:sp>
      <p:sp>
        <p:nvSpPr>
          <p:cNvPr id="109" name="ZoneTexte 108"/>
          <p:cNvSpPr txBox="1"/>
          <p:nvPr/>
        </p:nvSpPr>
        <p:spPr bwMode="auto">
          <a:xfrm>
            <a:off x="3491880" y="519687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schema:email</a:t>
            </a:r>
            <a:endParaRPr lang="en-US" sz="1100">
              <a:latin typeface="Century Gothic"/>
            </a:endParaRPr>
          </a:p>
        </p:txBody>
      </p:sp>
      <p:sp>
        <p:nvSpPr>
          <p:cNvPr id="110" name="ZoneTexte 109"/>
          <p:cNvSpPr txBox="1"/>
          <p:nvPr/>
        </p:nvSpPr>
        <p:spPr bwMode="auto">
          <a:xfrm>
            <a:off x="3486938" y="5556498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schema:telephone</a:t>
            </a:r>
            <a:endParaRPr lang="en-US" sz="1100">
              <a:latin typeface="Century Gothic"/>
            </a:endParaRPr>
          </a:p>
        </p:txBody>
      </p:sp>
      <p:sp>
        <p:nvSpPr>
          <p:cNvPr id="111" name="ZoneTexte 110"/>
          <p:cNvSpPr txBox="1"/>
          <p:nvPr/>
        </p:nvSpPr>
        <p:spPr bwMode="auto">
          <a:xfrm>
            <a:off x="3490059" y="589399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schema:faxNumber</a:t>
            </a:r>
            <a:endParaRPr lang="en-US" sz="1100">
              <a:latin typeface="Century Gothic"/>
            </a:endParaRPr>
          </a:p>
        </p:txBody>
      </p:sp>
      <p:sp>
        <p:nvSpPr>
          <p:cNvPr id="112" name="ZoneTexte 111"/>
          <p:cNvSpPr txBox="1"/>
          <p:nvPr/>
        </p:nvSpPr>
        <p:spPr bwMode="auto">
          <a:xfrm>
            <a:off x="3486938" y="4404995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113" name="ZoneTexte 112"/>
          <p:cNvSpPr txBox="1"/>
          <p:nvPr/>
        </p:nvSpPr>
        <p:spPr bwMode="auto">
          <a:xfrm>
            <a:off x="3502855" y="4784027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schema:contactType</a:t>
            </a:r>
            <a:endParaRPr lang="en-US" sz="1100">
              <a:latin typeface="Century Gothic"/>
            </a:endParaRPr>
          </a:p>
        </p:txBody>
      </p:sp>
      <p:sp>
        <p:nvSpPr>
          <p:cNvPr id="114" name="ZoneTexte 113"/>
          <p:cNvSpPr txBox="1"/>
          <p:nvPr/>
        </p:nvSpPr>
        <p:spPr bwMode="auto">
          <a:xfrm>
            <a:off x="302851" y="3437221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schema:contactPoint</a:t>
            </a:r>
            <a:endParaRPr lang="en-US" sz="11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 bwMode="auto">
          <a:xfrm>
            <a:off x="1043608" y="5877272"/>
            <a:ext cx="6246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>
                <a:latin typeface="Consolas"/>
              </a:rPr>
              <a:t>https://www.issn.org/centre/romania-roumanie/</a:t>
            </a:r>
            <a:endParaRPr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3608" y="404664"/>
            <a:ext cx="5748684" cy="532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8"/>
          <p:cNvSpPr/>
          <p:nvPr/>
        </p:nvSpPr>
        <p:spPr bwMode="auto">
          <a:xfrm>
            <a:off x="158493" y="2207168"/>
            <a:ext cx="6518639" cy="44621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5000"/>
            </a:schemeClr>
          </a:solidFill>
          <a:ln w="2222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defRPr/>
            </a:pPr>
            <a:r>
              <a:rPr lang="fr-FR" sz="1050" i="1">
                <a:solidFill>
                  <a:prstClr val="black"/>
                </a:solidFill>
                <a:latin typeface="Century Gothic"/>
              </a:rPr>
              <a:t>Repeated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for 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each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archive of the 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same</a:t>
            </a:r>
            <a:r>
              <a:rPr lang="fr-FR" sz="1050" i="1">
                <a:solidFill>
                  <a:prstClr val="black"/>
                </a:solidFill>
                <a:latin typeface="Century Gothic"/>
              </a:rPr>
              <a:t> serial</a:t>
            </a:r>
            <a:endParaRPr/>
          </a:p>
        </p:txBody>
      </p:sp>
      <p:sp>
        <p:nvSpPr>
          <p:cNvPr id="8" name="Rectangle à coins arrondis 99"/>
          <p:cNvSpPr/>
          <p:nvPr/>
        </p:nvSpPr>
        <p:spPr bwMode="auto">
          <a:xfrm>
            <a:off x="1669574" y="2494625"/>
            <a:ext cx="2786082" cy="571504"/>
          </a:xfrm>
          <a:prstGeom prst="roundRect">
            <a:avLst>
              <a:gd name="adj" fmla="val 2144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200" b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schema:ArchiveComponent</a:t>
            </a:r>
            <a:endParaRPr lang="fr-FR" sz="1050">
              <a:solidFill>
                <a:prstClr val="black"/>
              </a:solidFill>
              <a:latin typeface="Century Gothic"/>
            </a:endParaRPr>
          </a:p>
        </p:txBody>
      </p:sp>
      <p:cxnSp>
        <p:nvCxnSpPr>
          <p:cNvPr id="9" name="Forme 69"/>
          <p:cNvCxnSpPr>
            <a:cxnSpLocks/>
            <a:endCxn id="8" idx="0"/>
          </p:cNvCxnSpPr>
          <p:nvPr/>
        </p:nvCxnSpPr>
        <p:spPr bwMode="auto">
          <a:xfrm rot="16199999" flipH="1">
            <a:off x="2458896" y="1890906"/>
            <a:ext cx="1199872" cy="75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 bwMode="auto">
          <a:xfrm>
            <a:off x="3079374" y="1651690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schema:subjectOf</a:t>
            </a:r>
            <a:endParaRPr lang="en-US" sz="1100">
              <a:latin typeface="Century Gothic"/>
            </a:endParaRPr>
          </a:p>
        </p:txBody>
      </p:sp>
      <p:sp>
        <p:nvSpPr>
          <p:cNvPr id="16" name="Rectangle à coins arrondis 114"/>
          <p:cNvSpPr/>
          <p:nvPr/>
        </p:nvSpPr>
        <p:spPr bwMode="auto">
          <a:xfrm>
            <a:off x="5667806" y="891106"/>
            <a:ext cx="2407177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http://issn.org/organization</a:t>
            </a:r>
            <a:endParaRPr/>
          </a:p>
          <a:p>
            <a:pPr algn="ctr">
              <a:defRPr/>
            </a:pPr>
            <a:r>
              <a:rPr lang="fr-FR" sz="1100" b="1">
                <a:solidFill>
                  <a:schemeClr val="tx1"/>
                </a:solidFill>
                <a:latin typeface="Century Gothic"/>
              </a:rPr>
              <a:t>/keepers#</a:t>
            </a:r>
            <a:r>
              <a:rPr lang="fr-FR" sz="1400" b="1">
                <a:solidFill>
                  <a:schemeClr val="tx1"/>
                </a:solidFill>
                <a:latin typeface="Century Gothic"/>
              </a:rPr>
              <a:t>{keeperCode}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schema:ArchiveOrganization</a:t>
            </a:r>
            <a:endParaRPr lang="fr-FR" sz="105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7" name="Rectangle à coins arrondis 126"/>
          <p:cNvSpPr/>
          <p:nvPr/>
        </p:nvSpPr>
        <p:spPr bwMode="auto">
          <a:xfrm>
            <a:off x="5961484" y="75109"/>
            <a:ext cx="1813310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Organization’s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name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18" name="Rectangle à coins arrondis 126"/>
          <p:cNvSpPr/>
          <p:nvPr/>
        </p:nvSpPr>
        <p:spPr bwMode="auto">
          <a:xfrm>
            <a:off x="7045196" y="2412917"/>
            <a:ext cx="1813310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Keeper’s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code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cxnSp>
        <p:nvCxnSpPr>
          <p:cNvPr id="19" name="Forme 69"/>
          <p:cNvCxnSpPr>
            <a:cxnSpLocks/>
            <a:stCxn id="58" idx="3"/>
            <a:endCxn id="16" idx="1"/>
          </p:cNvCxnSpPr>
          <p:nvPr/>
        </p:nvCxnSpPr>
        <p:spPr bwMode="auto">
          <a:xfrm flipV="1">
            <a:off x="4455657" y="1284015"/>
            <a:ext cx="1212149" cy="13485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Forme 69"/>
          <p:cNvCxnSpPr>
            <a:cxnSpLocks/>
            <a:stCxn id="16" idx="0"/>
            <a:endCxn id="17" idx="2"/>
          </p:cNvCxnSpPr>
          <p:nvPr/>
        </p:nvCxnSpPr>
        <p:spPr bwMode="auto">
          <a:xfrm rot="16199999" flipV="1">
            <a:off x="6604645" y="624356"/>
            <a:ext cx="530245" cy="32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e 69"/>
          <p:cNvCxnSpPr>
            <a:cxnSpLocks/>
            <a:stCxn id="16" idx="2"/>
            <a:endCxn id="18" idx="0"/>
          </p:cNvCxnSpPr>
          <p:nvPr/>
        </p:nvCxnSpPr>
        <p:spPr bwMode="auto">
          <a:xfrm rot="16199999" flipH="1">
            <a:off x="7043627" y="1504692"/>
            <a:ext cx="735993" cy="10804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 bwMode="auto">
          <a:xfrm>
            <a:off x="6878961" y="517635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36" name="ZoneTexte 35"/>
          <p:cNvSpPr txBox="1"/>
          <p:nvPr/>
        </p:nvSpPr>
        <p:spPr bwMode="auto">
          <a:xfrm>
            <a:off x="6868139" y="174619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schema:identifier</a:t>
            </a:r>
            <a:endParaRPr lang="en-US" sz="1100">
              <a:latin typeface="Century Gothic"/>
            </a:endParaRPr>
          </a:p>
        </p:txBody>
      </p:sp>
      <p:sp>
        <p:nvSpPr>
          <p:cNvPr id="37" name="ZoneTexte 36"/>
          <p:cNvSpPr txBox="1"/>
          <p:nvPr/>
        </p:nvSpPr>
        <p:spPr bwMode="auto">
          <a:xfrm>
            <a:off x="5030477" y="227337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schema:holdingArchive</a:t>
            </a:r>
            <a:endParaRPr lang="en-US" sz="1100">
              <a:latin typeface="Century Gothic"/>
            </a:endParaRPr>
          </a:p>
        </p:txBody>
      </p:sp>
      <p:cxnSp>
        <p:nvCxnSpPr>
          <p:cNvPr id="44" name="Forme 69"/>
          <p:cNvCxnSpPr>
            <a:cxnSpLocks/>
            <a:stCxn id="5" idx="2"/>
            <a:endCxn id="43" idx="1"/>
          </p:cNvCxnSpPr>
          <p:nvPr/>
        </p:nvCxnSpPr>
        <p:spPr bwMode="auto">
          <a:xfrm rot="16199999" flipH="1">
            <a:off x="3679077" y="2895914"/>
            <a:ext cx="657982" cy="103047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3421394" y="293928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Rectangle à coins arrondis 128"/>
          <p:cNvSpPr/>
          <p:nvPr/>
        </p:nvSpPr>
        <p:spPr bwMode="auto">
          <a:xfrm>
            <a:off x="4523303" y="3561545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Archived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" or "In Progress" or 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Triggered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50" name="ZoneTexte 49"/>
          <p:cNvSpPr txBox="1"/>
          <p:nvPr/>
        </p:nvSpPr>
        <p:spPr bwMode="auto">
          <a:xfrm>
            <a:off x="3472101" y="3303298"/>
            <a:ext cx="2179228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schema:creative</a:t>
            </a:r>
            <a:endParaRPr lang="fr-FR" sz="1100">
              <a:latin typeface="Century Gothic"/>
            </a:endParaRPr>
          </a:p>
          <a:p>
            <a:pPr>
              <a:defRPr/>
            </a:pPr>
            <a:r>
              <a:rPr lang="fr-FR" sz="1100">
                <a:latin typeface="Century Gothic"/>
              </a:rPr>
              <a:t>WorkStatus</a:t>
            </a:r>
            <a:endParaRPr lang="en-US" sz="1100">
              <a:latin typeface="Century Gothic"/>
            </a:endParaRPr>
          </a:p>
        </p:txBody>
      </p:sp>
      <p:sp>
        <p:nvSpPr>
          <p:cNvPr id="52" name="Rectangle à coins arrondis 45"/>
          <p:cNvSpPr/>
          <p:nvPr/>
        </p:nvSpPr>
        <p:spPr bwMode="auto">
          <a:xfrm>
            <a:off x="1669574" y="5013176"/>
            <a:ext cx="2786082" cy="357190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100" b="1" i="1">
                <a:solidFill>
                  <a:schemeClr val="tx1"/>
                </a:solidFill>
                <a:latin typeface="Century Gothic"/>
              </a:rPr>
              <a:t>_: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blank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node</a:t>
            </a:r>
            <a:r>
              <a:rPr lang="fr-FR" sz="1100" b="1" i="1">
                <a:solidFill>
                  <a:schemeClr val="tx1"/>
                </a:solidFill>
                <a:latin typeface="Century Gothic"/>
              </a:rPr>
              <a:t>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no class</a:t>
            </a:r>
            <a:endParaRPr/>
          </a:p>
          <a:p>
            <a:pPr algn="ctr">
              <a:defRPr/>
            </a:pP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3" name="Rectangle à coins arrondis 128"/>
          <p:cNvSpPr/>
          <p:nvPr/>
        </p:nvSpPr>
        <p:spPr bwMode="auto">
          <a:xfrm>
            <a:off x="4451617" y="5559096"/>
            <a:ext cx="1839876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Title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, as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provided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by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keeper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agency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54" name="Rectangle à coins arrondis 128"/>
          <p:cNvSpPr/>
          <p:nvPr/>
        </p:nvSpPr>
        <p:spPr bwMode="auto">
          <a:xfrm>
            <a:off x="4523303" y="6071558"/>
            <a:ext cx="217922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"Publisher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name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, as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provided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by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keeper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agency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sp>
        <p:nvSpPr>
          <p:cNvPr id="55" name="Rectangle à coins arrondis 128"/>
          <p:cNvSpPr/>
          <p:nvPr/>
        </p:nvSpPr>
        <p:spPr bwMode="auto">
          <a:xfrm>
            <a:off x="43672" y="6056913"/>
            <a:ext cx="1839876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"ISSN, as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provided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by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keeper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agency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cxnSp>
        <p:nvCxnSpPr>
          <p:cNvPr id="56" name="Forme 69"/>
          <p:cNvCxnSpPr>
            <a:cxnSpLocks/>
            <a:stCxn id="52" idx="2"/>
            <a:endCxn id="55" idx="3"/>
          </p:cNvCxnSpPr>
          <p:nvPr/>
        </p:nvCxnSpPr>
        <p:spPr bwMode="auto">
          <a:xfrm rot="5400000">
            <a:off x="2040511" y="5213404"/>
            <a:ext cx="865142" cy="117906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Forme 69"/>
          <p:cNvCxnSpPr>
            <a:cxnSpLocks/>
            <a:stCxn id="52" idx="2"/>
            <a:endCxn id="53" idx="1"/>
          </p:cNvCxnSpPr>
          <p:nvPr/>
        </p:nvCxnSpPr>
        <p:spPr bwMode="auto">
          <a:xfrm rot="16199999" flipH="1">
            <a:off x="3573454" y="4859527"/>
            <a:ext cx="367325" cy="138900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Forme 69"/>
          <p:cNvCxnSpPr>
            <a:cxnSpLocks/>
            <a:stCxn id="52" idx="2"/>
            <a:endCxn id="54" idx="1"/>
          </p:cNvCxnSpPr>
          <p:nvPr/>
        </p:nvCxnSpPr>
        <p:spPr bwMode="auto">
          <a:xfrm rot="16199999" flipH="1">
            <a:off x="3353066" y="5079914"/>
            <a:ext cx="879787" cy="146068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 bwMode="auto">
          <a:xfrm>
            <a:off x="2798065" y="5227489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Rectangle à coins arrondis 128"/>
          <p:cNvSpPr/>
          <p:nvPr/>
        </p:nvSpPr>
        <p:spPr bwMode="auto">
          <a:xfrm>
            <a:off x="648976" y="3373237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begin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year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/end 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year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endParaRPr/>
          </a:p>
        </p:txBody>
      </p:sp>
      <p:cxnSp>
        <p:nvCxnSpPr>
          <p:cNvPr id="68" name="Forme 69"/>
          <p:cNvCxnSpPr>
            <a:cxnSpLocks/>
            <a:stCxn id="8" idx="1"/>
            <a:endCxn id="67" idx="0"/>
          </p:cNvCxnSpPr>
          <p:nvPr/>
        </p:nvCxnSpPr>
        <p:spPr bwMode="auto">
          <a:xfrm rot="10800000" flipV="1">
            <a:off x="1532720" y="2780377"/>
            <a:ext cx="136854" cy="59286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 bwMode="auto">
          <a:xfrm>
            <a:off x="2589032" y="2931267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7" name="Rectangle à coins arrondis 128"/>
          <p:cNvSpPr/>
          <p:nvPr/>
        </p:nvSpPr>
        <p:spPr bwMode="auto">
          <a:xfrm>
            <a:off x="33828" y="4109866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"last update date"</a:t>
            </a:r>
            <a:endParaRPr/>
          </a:p>
        </p:txBody>
      </p:sp>
      <p:cxnSp>
        <p:nvCxnSpPr>
          <p:cNvPr id="78" name="Forme 69"/>
          <p:cNvCxnSpPr>
            <a:cxnSpLocks/>
            <a:stCxn id="73" idx="2"/>
            <a:endCxn id="77" idx="3"/>
          </p:cNvCxnSpPr>
          <p:nvPr/>
        </p:nvCxnSpPr>
        <p:spPr bwMode="auto">
          <a:xfrm rot="5400000">
            <a:off x="1623734" y="3251725"/>
            <a:ext cx="1214318" cy="859153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à coins arrondis 128"/>
          <p:cNvSpPr/>
          <p:nvPr/>
        </p:nvSpPr>
        <p:spPr bwMode="auto">
          <a:xfrm>
            <a:off x="4523303" y="3989718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"Extent of archive (full)"</a:t>
            </a:r>
            <a:endParaRPr lang="fr-FR" sz="1100" i="1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82" name="Rectangle à coins arrondis 128"/>
          <p:cNvSpPr/>
          <p:nvPr/>
        </p:nvSpPr>
        <p:spPr bwMode="auto">
          <a:xfrm>
            <a:off x="4572000" y="4384987"/>
            <a:ext cx="2031884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Extent</a:t>
            </a:r>
            <a:r>
              <a:rPr lang="fr-FR" sz="1100" i="1">
                <a:solidFill>
                  <a:prstClr val="black"/>
                </a:solidFill>
                <a:latin typeface="Century Gothic"/>
              </a:rPr>
              <a:t> of archive (short)"</a:t>
            </a:r>
            <a:endParaRPr/>
          </a:p>
        </p:txBody>
      </p:sp>
      <p:sp>
        <p:nvSpPr>
          <p:cNvPr id="84" name="ZoneTexte 83"/>
          <p:cNvSpPr txBox="1"/>
          <p:nvPr/>
        </p:nvSpPr>
        <p:spPr bwMode="auto">
          <a:xfrm>
            <a:off x="883387" y="5887924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schema:issn</a:t>
            </a:r>
            <a:endParaRPr lang="en-US" sz="1100">
              <a:latin typeface="Century Gothic"/>
            </a:endParaRPr>
          </a:p>
        </p:txBody>
      </p:sp>
      <p:sp>
        <p:nvSpPr>
          <p:cNvPr id="86" name="ZoneTexte 85"/>
          <p:cNvSpPr txBox="1"/>
          <p:nvPr/>
        </p:nvSpPr>
        <p:spPr bwMode="auto">
          <a:xfrm>
            <a:off x="3086252" y="5423571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schema:name</a:t>
            </a:r>
            <a:endParaRPr lang="en-US" sz="1100">
              <a:latin typeface="Century Gothic"/>
            </a:endParaRPr>
          </a:p>
        </p:txBody>
      </p:sp>
      <p:sp>
        <p:nvSpPr>
          <p:cNvPr id="89" name="ZoneTexte 88"/>
          <p:cNvSpPr txBox="1"/>
          <p:nvPr/>
        </p:nvSpPr>
        <p:spPr bwMode="auto">
          <a:xfrm>
            <a:off x="3086252" y="5927627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schema:publisher</a:t>
            </a:r>
            <a:endParaRPr lang="en-US" sz="1100">
              <a:latin typeface="Century Gothic"/>
            </a:endParaRPr>
          </a:p>
        </p:txBody>
      </p:sp>
      <p:cxnSp>
        <p:nvCxnSpPr>
          <p:cNvPr id="91" name="Forme 69"/>
          <p:cNvCxnSpPr>
            <a:cxnSpLocks/>
            <a:stCxn id="5" idx="2"/>
            <a:endCxn id="81" idx="1"/>
          </p:cNvCxnSpPr>
          <p:nvPr/>
        </p:nvCxnSpPr>
        <p:spPr bwMode="auto">
          <a:xfrm rot="16199999" flipH="1">
            <a:off x="3464991" y="3110000"/>
            <a:ext cx="1086155" cy="103047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Forme 69"/>
          <p:cNvCxnSpPr>
            <a:cxnSpLocks/>
            <a:stCxn id="5" idx="2"/>
            <a:endCxn id="82" idx="1"/>
          </p:cNvCxnSpPr>
          <p:nvPr/>
        </p:nvCxnSpPr>
        <p:spPr bwMode="auto">
          <a:xfrm rot="16199999" flipH="1">
            <a:off x="3291704" y="3283286"/>
            <a:ext cx="1481424" cy="107916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ZoneTexte 96"/>
          <p:cNvSpPr txBox="1"/>
          <p:nvPr/>
        </p:nvSpPr>
        <p:spPr bwMode="auto">
          <a:xfrm>
            <a:off x="405690" y="3038651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schema:temporalCoverage</a:t>
            </a:r>
            <a:endParaRPr lang="en-US" sz="1100">
              <a:latin typeface="Century Gothic"/>
            </a:endParaRPr>
          </a:p>
        </p:txBody>
      </p:sp>
      <p:sp>
        <p:nvSpPr>
          <p:cNvPr id="98" name="ZoneTexte 97"/>
          <p:cNvSpPr txBox="1"/>
          <p:nvPr/>
        </p:nvSpPr>
        <p:spPr bwMode="auto">
          <a:xfrm>
            <a:off x="501426" y="3856270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schema:dateModified</a:t>
            </a:r>
            <a:endParaRPr lang="en-US" sz="1100">
              <a:latin typeface="Century Gothic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1662907" y="26934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5" name="Forme 69"/>
          <p:cNvCxnSpPr>
            <a:cxnSpLocks/>
            <a:stCxn id="8" idx="2"/>
            <a:endCxn id="52" idx="0"/>
          </p:cNvCxnSpPr>
          <p:nvPr/>
        </p:nvCxnSpPr>
        <p:spPr bwMode="auto">
          <a:xfrm rot="5400000">
            <a:off x="2089092" y="4039652"/>
            <a:ext cx="19470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 bwMode="auto">
          <a:xfrm rot="16199999">
            <a:off x="2127444" y="4120748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100">
                <a:latin typeface="Century Gothic"/>
              </a:rPr>
              <a:t>schema:mainEntity</a:t>
            </a:r>
            <a:endParaRPr lang="en-US" sz="1100">
              <a:latin typeface="Century Gothic"/>
            </a:endParaRPr>
          </a:p>
        </p:txBody>
      </p:sp>
      <p:sp>
        <p:nvSpPr>
          <p:cNvPr id="122" name="ZoneTexte 121"/>
          <p:cNvSpPr txBox="1"/>
          <p:nvPr/>
        </p:nvSpPr>
        <p:spPr bwMode="auto">
          <a:xfrm>
            <a:off x="3506734" y="3839485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schema:description</a:t>
            </a:r>
            <a:endParaRPr lang="en-US" sz="1100">
              <a:latin typeface="Century Gothic"/>
            </a:endParaRPr>
          </a:p>
        </p:txBody>
      </p:sp>
      <p:sp>
        <p:nvSpPr>
          <p:cNvPr id="123" name="ZoneTexte 122"/>
          <p:cNvSpPr txBox="1"/>
          <p:nvPr/>
        </p:nvSpPr>
        <p:spPr bwMode="auto">
          <a:xfrm>
            <a:off x="3514735" y="4238252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schema:abstract</a:t>
            </a:r>
            <a:endParaRPr lang="en-US" sz="1100">
              <a:latin typeface="Century Gothic"/>
            </a:endParaRPr>
          </a:p>
        </p:txBody>
      </p:sp>
      <p:sp>
        <p:nvSpPr>
          <p:cNvPr id="132" name="Rectangle à coins arrondis 1"/>
          <p:cNvSpPr/>
          <p:nvPr/>
        </p:nvSpPr>
        <p:spPr bwMode="auto">
          <a:xfrm>
            <a:off x="1662907" y="581662"/>
            <a:ext cx="2772156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050" b="1">
                <a:solidFill>
                  <a:schemeClr val="tx1"/>
                </a:solidFill>
                <a:latin typeface="Century Gothic"/>
              </a:rPr>
              <a:t>http://issn.org/resource/ISSN/</a:t>
            </a:r>
            <a:r>
              <a:rPr lang="fr-FR" sz="1200" b="1">
                <a:solidFill>
                  <a:schemeClr val="tx1"/>
                </a:solidFill>
                <a:latin typeface="Century Gothic"/>
              </a:rPr>
              <a:t>{ISSN} :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bf:Work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bf:Instance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,  </a:t>
            </a:r>
            <a:r>
              <a:rPr lang="fr-FR" sz="1050">
                <a:solidFill>
                  <a:prstClr val="black"/>
                </a:solidFill>
                <a:latin typeface="Century Gothic"/>
              </a:rPr>
              <a:t>schema:Periodical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34" name="ZoneTexte 133"/>
          <p:cNvSpPr txBox="1"/>
          <p:nvPr/>
        </p:nvSpPr>
        <p:spPr bwMode="auto">
          <a:xfrm>
            <a:off x="540201" y="648439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>
                <a:latin typeface="Century Gothic"/>
              </a:rPr>
              <a:t>dc:format</a:t>
            </a:r>
            <a:endParaRPr lang="en-US" sz="1100">
              <a:latin typeface="Century Gothic"/>
            </a:endParaRPr>
          </a:p>
        </p:txBody>
      </p:sp>
      <p:sp>
        <p:nvSpPr>
          <p:cNvPr id="139" name="ZoneTexte 138"/>
          <p:cNvSpPr txBox="1"/>
          <p:nvPr/>
        </p:nvSpPr>
        <p:spPr bwMode="auto">
          <a:xfrm>
            <a:off x="17330" y="1635165"/>
            <a:ext cx="2691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050" b="0" i="0" u="none" strike="noStrike">
                <a:solidFill>
                  <a:srgbClr val="000000"/>
                </a:solidFill>
                <a:latin typeface="Calibri"/>
              </a:rPr>
              <a:t>http://issn.org/vocabularies/Medium#Online (</a:t>
            </a:r>
            <a:r>
              <a:rPr lang="fr-FR" sz="1050" b="0" i="0" u="none" strike="noStrike">
                <a:solidFill>
                  <a:srgbClr val="000000"/>
                </a:solidFill>
                <a:latin typeface="Calibri"/>
              </a:rPr>
              <a:t>most</a:t>
            </a:r>
            <a:r>
              <a:rPr lang="fr-FR" sz="1050" b="0" i="0" u="none" strike="noStrike">
                <a:solidFill>
                  <a:srgbClr val="000000"/>
                </a:solidFill>
                <a:latin typeface="Calibri"/>
              </a:rPr>
              <a:t> of the time)</a:t>
            </a:r>
            <a:r>
              <a:rPr lang="fr-FR" sz="1050"/>
              <a:t> </a:t>
            </a:r>
            <a:endParaRPr/>
          </a:p>
        </p:txBody>
      </p:sp>
      <p:cxnSp>
        <p:nvCxnSpPr>
          <p:cNvPr id="140" name="Forme 69"/>
          <p:cNvCxnSpPr>
            <a:cxnSpLocks/>
            <a:stCxn id="132" idx="1"/>
            <a:endCxn id="139" idx="0"/>
          </p:cNvCxnSpPr>
          <p:nvPr/>
        </p:nvCxnSpPr>
        <p:spPr bwMode="auto">
          <a:xfrm rot="10800000" flipV="1">
            <a:off x="1363271" y="974571"/>
            <a:ext cx="299637" cy="66059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ccolade fermante 2"/>
          <p:cNvSpPr/>
          <p:nvPr/>
        </p:nvSpPr>
        <p:spPr bwMode="auto">
          <a:xfrm>
            <a:off x="6586053" y="4890118"/>
            <a:ext cx="486874" cy="1607021"/>
          </a:xfrm>
          <a:prstGeom prst="rightBrace">
            <a:avLst>
              <a:gd name="adj1" fmla="val 3862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7" name="ZoneTexte 56"/>
          <p:cNvSpPr txBox="1"/>
          <p:nvPr/>
        </p:nvSpPr>
        <p:spPr bwMode="auto">
          <a:xfrm>
            <a:off x="7072927" y="5385099"/>
            <a:ext cx="2179228" cy="600164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Original </a:t>
            </a:r>
            <a:r>
              <a:rPr lang="fr-FR" sz="1100">
                <a:latin typeface="Century Gothic"/>
              </a:rPr>
              <a:t>title</a:t>
            </a:r>
            <a:r>
              <a:rPr lang="fr-FR" sz="1100">
                <a:latin typeface="Century Gothic"/>
              </a:rPr>
              <a:t>, </a:t>
            </a:r>
            <a:r>
              <a:rPr lang="fr-FR" sz="1100">
                <a:latin typeface="Century Gothic"/>
              </a:rPr>
              <a:t>publisher</a:t>
            </a:r>
            <a:r>
              <a:rPr lang="fr-FR" sz="1100">
                <a:latin typeface="Century Gothic"/>
              </a:rPr>
              <a:t> and ISSN as </a:t>
            </a:r>
            <a:r>
              <a:rPr lang="fr-FR" sz="1100">
                <a:latin typeface="Century Gothic"/>
              </a:rPr>
              <a:t>they</a:t>
            </a:r>
            <a:r>
              <a:rPr lang="fr-FR" sz="1100">
                <a:latin typeface="Century Gothic"/>
              </a:rPr>
              <a:t> are </a:t>
            </a:r>
            <a:r>
              <a:rPr lang="fr-FR" sz="1100">
                <a:latin typeface="Century Gothic"/>
              </a:rPr>
              <a:t>provided</a:t>
            </a:r>
            <a:r>
              <a:rPr lang="fr-FR" sz="1100">
                <a:latin typeface="Century Gothic"/>
              </a:rPr>
              <a:t> by the </a:t>
            </a:r>
            <a:r>
              <a:rPr lang="fr-FR" sz="1100">
                <a:latin typeface="Century Gothic"/>
              </a:rPr>
              <a:t>Keeper</a:t>
            </a:r>
            <a:r>
              <a:rPr lang="fr-FR" sz="1100">
                <a:latin typeface="Century Gothic"/>
              </a:rPr>
              <a:t> Agency.</a:t>
            </a:r>
            <a:endParaRPr lang="en-US" sz="1100">
              <a:latin typeface="Century Gothic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4312781" y="256112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" name="Rectangle 63"/>
          <p:cNvSpPr/>
          <p:nvPr/>
        </p:nvSpPr>
        <p:spPr bwMode="auto">
          <a:xfrm>
            <a:off x="4325480" y="283212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6" name="Forme 69"/>
          <p:cNvCxnSpPr>
            <a:cxnSpLocks/>
            <a:stCxn id="64" idx="3"/>
            <a:endCxn id="69" idx="1"/>
          </p:cNvCxnSpPr>
          <p:nvPr/>
        </p:nvCxnSpPr>
        <p:spPr bwMode="auto">
          <a:xfrm>
            <a:off x="4468356" y="2903562"/>
            <a:ext cx="1146202" cy="138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à coins arrondis 128"/>
          <p:cNvSpPr/>
          <p:nvPr/>
        </p:nvSpPr>
        <p:spPr bwMode="auto">
          <a:xfrm>
            <a:off x="5614558" y="2738861"/>
            <a:ext cx="910399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defRPr/>
            </a:pPr>
            <a:r>
              <a:rPr lang="fr-FR" sz="1100" i="1">
                <a:solidFill>
                  <a:prstClr val="black"/>
                </a:solidFill>
                <a:latin typeface="Century Gothic"/>
              </a:rPr>
              <a:t>"http://..."</a:t>
            </a:r>
            <a:endParaRPr/>
          </a:p>
        </p:txBody>
      </p:sp>
      <p:sp>
        <p:nvSpPr>
          <p:cNvPr id="70" name="ZoneTexte 69"/>
          <p:cNvSpPr txBox="1"/>
          <p:nvPr/>
        </p:nvSpPr>
        <p:spPr bwMode="auto">
          <a:xfrm>
            <a:off x="4542904" y="293655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100">
                <a:latin typeface="Century Gothic"/>
              </a:rPr>
              <a:t>schema:url</a:t>
            </a:r>
            <a:endParaRPr lang="en-US" sz="11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ONLYOFFICE/8.0.1.31</Application>
  <DocSecurity>0</DocSecurity>
  <PresentationFormat>Affichage à l'écran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>Sparna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Legend</dc:title>
  <dc:subject/>
  <dc:creator>Thomas Francart</dc:creator>
  <cp:keywords/>
  <dc:description/>
  <dc:identifier/>
  <dc:language/>
  <cp:lastModifiedBy/>
  <cp:revision>414</cp:revision>
  <dcterms:created xsi:type="dcterms:W3CDTF">2017-03-16T11:13:35Z</dcterms:created>
  <dcterms:modified xsi:type="dcterms:W3CDTF">2024-06-04T10:10:04Z</dcterms:modified>
  <cp:category/>
  <cp:contentStatus/>
  <cp:version/>
</cp:coreProperties>
</file>